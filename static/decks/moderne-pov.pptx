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331" r:id="rId60"/>
    <p:sldId id="291" r:id="rId4"/>
    <p:sldId id="332" r:id="rId61"/>
    <p:sldId id="333" r:id="rId62"/>
    <p:sldId id="334" r:id="rId63"/>
    <p:sldId id="335" r:id="rId64"/>
    <p:sldId id="336" r:id="rId65"/>
    <p:sldId id="337" r:id="rId66"/>
    <p:sldId id="338" r:id="rId67"/>
    <p:sldId id="339" r:id="rId68"/>
    <p:sldId id="340" r:id="rId69"/>
    <p:sldId id="341" r:id="rId70"/>
    <p:sldId id="290" r:id="rId33"/>
  </p:sldIdLst>
  <p:sldSz cx="12192000" cy="6858000"/>
  <p:notesSz cx="6858000" cy="9144000"/>
  <p:embeddedFontLst>
    <p:embeddedFont>
      <p:font typeface="GeistMono NF" panose="02000009000000000000" pitchFamily="49" charset="77"/>
      <p:regular r:id="rId35"/>
      <p:bold r:id="rId36"/>
    </p:embeddedFont>
    <p:embeddedFont>
      <p:font typeface="Poppins" pitchFamily="2" charset="77"/>
      <p:regular r:id="rId37"/>
      <p:bold r:id="rId38"/>
      <p:italic r:id="rId39"/>
      <p:boldItalic r:id="rId40"/>
    </p:embeddedFont>
    <p:embeddedFont>
      <p:font typeface="Poppins Light" pitchFamily="2" charset="77"/>
      <p:regular r:id="rId41"/>
      <p:italic r:id="rId42"/>
    </p:embeddedFont>
    <p:embeddedFont>
      <p:font typeface="Poppins SemiBold" pitchFamily="2" charset="77"/>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iHaWeIs9kDtpsUKo9q8YlmhkOgH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77"/>
    <p:restoredTop sz="94803"/>
  </p:normalViewPr>
  <p:slideViewPr>
    <p:cSldViewPr snapToGrid="0">
      <p:cViewPr varScale="1">
        <p:scale>
          <a:sx n="149" d="100"/>
          <a:sy n="149" d="100"/>
        </p:scale>
        <p:origin x="200"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3.xml"/><Relationship Id="rId33" Type="http://schemas.openxmlformats.org/officeDocument/2006/relationships/slide" Target="slides/slide14.xml"/><Relationship Id="rId34" Type="http://schemas.openxmlformats.org/officeDocument/2006/relationships/notesMaster" Target="notesMasters/notesMaster1.xml"/><Relationship Id="rId35" Type="http://schemas.openxmlformats.org/officeDocument/2006/relationships/font" Target="fonts/font1.fntdata"/><Relationship Id="rId36" Type="http://schemas.openxmlformats.org/officeDocument/2006/relationships/font" Target="fonts/font2.fntdata"/><Relationship Id="rId37" Type="http://schemas.openxmlformats.org/officeDocument/2006/relationships/font" Target="fonts/font3.fntdata"/><Relationship Id="rId38" Type="http://schemas.openxmlformats.org/officeDocument/2006/relationships/font" Target="fonts/font4.fntdata"/><Relationship Id="rId39" Type="http://schemas.openxmlformats.org/officeDocument/2006/relationships/font" Target="fonts/font5.fntdata"/><Relationship Id="rId40" Type="http://schemas.openxmlformats.org/officeDocument/2006/relationships/font" Target="fonts/font6.fntdata"/><Relationship Id="rId41" Type="http://schemas.openxmlformats.org/officeDocument/2006/relationships/font" Target="fonts/font7.fntdata"/><Relationship Id="rId42" Type="http://schemas.openxmlformats.org/officeDocument/2006/relationships/font" Target="fonts/font8.fntdata"/><Relationship Id="rId43" Type="http://schemas.openxmlformats.org/officeDocument/2006/relationships/font" Target="fonts/font9.fntdata"/><Relationship Id="rId44" Type="http://schemas.openxmlformats.org/officeDocument/2006/relationships/font" Target="fonts/font10.fntdata"/><Relationship Id="rId45" Type="http://schemas.openxmlformats.org/officeDocument/2006/relationships/font" Target="fonts/font11.fntdata"/><Relationship Id="rId46" Type="http://schemas.openxmlformats.org/officeDocument/2006/relationships/font" Target="fonts/font12.fntdata"/><Relationship Id="rId55" Type="http://customschemas.google.com/relationships/presentationmetadata" Target="metadata"/><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openxmlformats.org/officeDocument/2006/relationships/slide" Target="slides/slide2.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6.xml"/><Relationship Id="rId64" Type="http://schemas.openxmlformats.org/officeDocument/2006/relationships/slide" Target="slides/slide7.xml"/><Relationship Id="rId65" Type="http://schemas.openxmlformats.org/officeDocument/2006/relationships/slide" Target="slides/slide8.xml"/><Relationship Id="rId66" Type="http://schemas.openxmlformats.org/officeDocument/2006/relationships/slide" Target="slides/slide9.xml"/><Relationship Id="rId67" Type="http://schemas.openxmlformats.org/officeDocument/2006/relationships/slide" Target="slides/slide10.xml"/><Relationship Id="rId68" Type="http://schemas.openxmlformats.org/officeDocument/2006/relationships/slide" Target="slides/slide11.xml"/><Relationship Id="rId69" Type="http://schemas.openxmlformats.org/officeDocument/2006/relationships/slide" Target="slides/slide12.xml"/><Relationship Id="rId7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HOW TO FILL IN THIS DECK. Read this before anything else.</a:t>
            </a:r>
          </a:p>
          <a:p/>
          <a:p>
            <a:r>
              <a:t>This deck reports a Moderne proof of value to the customer's leadership. Each slide is one headline sentence and one visual. The deck fixes the form of every slide and the content of none of the result slides: what a result slide says comes from what its step did. Where a slide shows a command, that command is a step of the proof of value: you run it, and you fill the slide from what it did.</a:t>
            </a:r>
          </a:p>
          <a:p/>
          <a:p>
            <a:r>
              <a:t>Before the first step</a:t>
            </a:r>
          </a:p>
          <a:p>
            <a:r>
              <a:t>- This directory must not be inside a git repository. A step that runs git in a directory that is not a repository climbs to the enclosing one.</a:t>
            </a:r>
          </a:p>
          <a:p>
            <a:r>
              <a:t>- On macOS, run screencapture -x &lt;file&gt;.png once now. The first capture asks for the terminal's screen recording permission, and the people watching are here to approve it. Never scroll or type into a step's window through System Events: that needs another permission, and nothing below requires it.</a:t>
            </a:r>
          </a:p>
          <a:p>
            <a:r>
              <a:t>- Record how many recipes are available now: the total that mod config recipes list prints, which the loop slide needs.</a:t>
            </a:r>
          </a:p>
          <a:p>
            <a:r>
              <a:t>- The objectives for slides 7 to 9 are the customer's, in the customer's words, listed in the prompt that started this session after "The objectives are:". One per slide, in the order given, at most three; with more, take the three that matter most and name the rest in the notes of slide 12. When the prompt lists none, choose up to three the code calls for, from the proof of value guide's scenarios (the latest Spring Boot, newly disclosed vulnerabilities, where data flows) or from what the code slide shows, and say in the notes that you chose them. Delete an objective slide you do not use.</a:t>
            </a:r>
          </a:p>
          <a:p/>
          <a:p>
            <a:r>
              <a:t>How to run a step</a:t>
            </a:r>
          </a:p>
          <a:p>
            <a:r>
              <a:t>- Each step is a session of its own, started with the command on the slide. Put the agent you are in place of {{agent}} (claude, codex, copilot, ...) and the organization in place of {{org}}. An objective step runs in a directory named for the objective (./spring-boot, ./objective-2, ...) with the objective sentence as its prompt.</a:t>
            </a:r>
          </a:p>
          <a:p>
            <a:r>
              <a:t>- Start it in a window of its own in the terminal the people watching use, so they can follow its transcript. Write the step's prompt to board/&lt;step&gt;.prompt first, so the quoting stays simple. On macOS with Ghostty: open -na Ghostty.app --args --working-directory=&lt;this directory&gt; -e mod &lt;agent&gt; chat ./quality --org &lt;org&gt; --prompt "$(cat board/quality.prompt)"; with Terminal: osascript -e 'tell application "Terminal" to do script "cd &lt;this directory&gt; &amp;&amp; mod &lt;agent&gt; chat ./quality --org &lt;org&gt; --prompt \"$(cat board/quality.prompt)\""'. On Linux, x-terminal-emulator -e or gnome-terminal -- with the same command; on Windows, wt -d &lt;this directory&gt;. The window to capture is the terminal's newest window in the system's window list. Where no window can be opened, start the step with --unattended in the background instead.</a:t>
            </a:r>
          </a:p>
          <a:p>
            <a:r>
              <a:t>- Every step's prompt ends with the same instruction: "Reach for the recipes that exist first. Write a recipe only where no recipe makes a change the objective needs, and say in one sentence what the gap was. When you leave out part of what a recipe did, say in one sentence why. Verify with each repository's own build. Open pull requests; if they cannot be opened, say why and go on; do not use forks. When you are done, write a summary to &lt;this directory&gt;/board/&lt;step&gt;.md: the changeset ids, the repositories and files changed, builds passed and failed, pull requests opened, the recipes you wrote or fixed and the gap each filled, the mod commands you ran, and the usage your harness reports for this session. Then stop working."</a:t>
            </a:r>
          </a:p>
          <a:p>
            <a:r>
              <a:t>- From the moment a step starts, capture its window every 45 seconds: on macOS, screencapture -x -l &lt;window id&gt; &lt;dir&gt;/&lt;time&gt;.png takes that window alone. Keep the captures until the slide is filled, then pick the frame the slide asks for. A step's first turn scrolls away within minutes, and only a capture taken at the time shows it.</a:t>
            </a:r>
          </a:p>
          <a:p>
            <a:r>
              <a:t>- Wait for board/&lt;step&gt;.md, checking every minute. When the window shows a question, answer it from these notes: no forks, no hand edits, and leave out what cannot be measured. When it shows no new output for fifteen minutes, read it; a step that is stuck is stopped, and its slide is filled from what it wrote. Then read the summary and end the step's session with mod agent stop &lt;id&gt;; mod agent sessions lists the id beside the directory the session runs in. The transcript stays in its window.</a:t>
            </a:r>
          </a:p>
          <a:p>
            <a:r>
              <a:t>- Run the steps one at a time, in slide order. A step takes as long as its builds take, which can be hours.</a:t>
            </a:r>
          </a:p>
          <a:p>
            <a:r>
              <a:t>- With a Moderne tenant, run each step with --org in a subdirectory of this one (./quality, ./quality-factory, ...), and it clones only what it changes. Without a tenant, this directory already holds the repositories: run each step in this directory, without --org, and show the command as you ran it.</a:t>
            </a:r>
          </a:p>
          <a:p/>
          <a:p>
            <a:r>
              <a:t>How to fill a result slide (slides 4, 6, 7, 8 and 9 share one template)</a:t>
            </a:r>
          </a:p>
          <a:p>
            <a:r>
              <a:t>- Headline: write it yourself from what the step did. One sentence, at most 20 words, one number the slide's own evidence carries, plain words, no id, and no claim the panels below do not show. Say "compile" where tests could not run, "changed nothing" where a pass changed nothing.</a:t>
            </a:r>
          </a:p>
          <a:p>
            <a:r>
              <a:t>- Before and After: the two dark panels, named "Before" and "After", with the small labels above them named "Before file" and "After file". Put one hunk of one file from the step's changeset there: the context and removed lines on the left, the context and added lines on the right, at most 12 lines a side, Courier New 9 pt, and "&lt;repository&gt;: &lt;path&gt;" in the labels. Take the hunk from mod study moderne://changeset/&lt;id&gt; --patches, or from the synced checkout's git diff. Pick the hunk a developer would recognise as a real fix, never an import change. When the step changed nothing, both panels hold the window's own line saying so.</a:t>
            </a:r>
          </a:p>
          <a:p>
            <a:r>
              <a:t>- Reach: the caption named "Reach": "&lt;n&gt; of &lt;N&gt; repositories changed, &lt;files&gt; files. &lt;k&gt; built and passed their own tests. &lt;p&gt; pull requests opened." or why none could be.</a:t>
            </a:r>
          </a:p>
          <a:p>
            <a:r>
              <a:t>- Why: the caption named "Why": one sentence in plain words, only when the step left part of a recipe's result out or wrote a recipe of its own, saying what the gap was. Delete the caption otherwise.</a:t>
            </a:r>
          </a:p>
          <a:p>
            <a:r>
              <a:t>- Plain words on the slide: a recipe is named by what it does ("the standard static analysis fixes", "the Spring Boot upgrade"). Recipe ids, changeset ids, session ids and data table names go only under "Source:" in the notes.</a:t>
            </a:r>
          </a:p>
          <a:p/>
          <a:p>
            <a:r>
              <a:t>How to fill the other slides</a:t>
            </a:r>
          </a:p>
          <a:p>
            <a:r>
              <a:t>- Replace every {{placeholder}} with what you measured. Keep each headline one sentence.</a:t>
            </a:r>
          </a:p>
          <a:p>
            <a:r>
              <a:t>- A shape named "Screenshot placeholder" is where a capture of the step's window goes, at the moment the slide names. Crop the capture to the lines that show that moment, about fifteen, so they stay readable at the panel's size, and keep the panel's position and size. Without a capture of the moment, fill the panel with the transcript's own lines, the mod commands and their one-line results, in Courier New.</a:t>
            </a:r>
          </a:p>
          <a:p>
            <a:r>
              <a:t>- A table keeps its header row. Replace the placeholder rows and delete rows you do not need.</a:t>
            </a:r>
          </a:p>
          <a:p>
            <a:r>
              <a:t>- Leave a slide out rather than guess: delete it when you cannot measure what it needs, except where a slide's notes say to keep its placeholders.</a:t>
            </a:r>
          </a:p>
          <a:p>
            <a:r>
              <a:t>- Every number traces to a changeset id in Moderne or a run id under .moderne/run on this machine, to a data table, or to a session. Write the trace under "Source:" in the slide's notes as you fill it in.</a:t>
            </a:r>
          </a:p>
          <a:p>
            <a:r>
              <a:t>- Edit the deck with python-pptx or the like, and keep the look: no new slides, fonts or moved headlines.</a:t>
            </a:r>
          </a:p>
          <a:p>
            <a:r>
              <a:t>- Do not stop to ask. These notes answer every choice; where they do not, take the measurement that traces to a source and say in the slide's notes what you chose.</a:t>
            </a:r>
          </a:p>
          <a:p/>
          <a:p>
            <a:r>
              <a:t>Title slide: {{Customer}} is the customer's name and {{Month Year}} the month the proof of value ran.</a:t>
            </a:r>
          </a:p>
          <a:p/>
          <a:p>
            <a:r>
              <a:t>Source:</a:t>
            </a:r>
          </a:p>
        </p:txBody>
      </p:sp>
      <p:sp>
        <p:nvSpPr>
          <p:cNvPr id="127" name="Google Shape;12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objective 1 of the customer's, run as a step of its own, shown on one file, with its reach. The title slide's notes say where the objectives come from; the template rules there say how to fill each part.</a:t>
            </a:r>
          </a:p>
          <a:p/>
          <a:p>
            <a:r>
              <a:t>How to run it: the command across the top, in a window of its own, with the objective sentence as the prompt and the standard ending after it. The step finds where each repository stands, runs the recipes that exist over everything that needs the change, verifies with each repository's own build, opens pull requests, and writes a recipe only where none makes a change the objective needs. When the proof of value has no time for more, the step stops after its first verified changeset and the notes say so.</a:t>
            </a:r>
          </a:p>
          <a:p/>
          <a:p>
            <a:r>
              <a:t>How to fill it: the command as you ran it, with the objective in the customer's words. The hunk from the step's changeset patch, at most 10 lines a side on this slide. Reach from the changeset and board/&lt;step&gt;.md. Why only where the step left part of a recipe's result out or wrote a recipe. The headline is yours, from the evidence on the slide. Delete this slide when there is no objective 1.</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how much code the proof of value ran on, by language. Every later number is "out of {{N}}".</a:t>
            </a:r>
          </a:p>
          <a:p/>
          <a:p>
            <a:r>
              <a:t>How to measure it:</a:t>
            </a:r>
          </a:p>
          <a:p>
            <a:r>
              <a:t>- With a tenant: mod run moderne://&lt;org&gt; --recipe org.openrewrite.LanguageComposition, then mod study moderne://changeset/&lt;id&gt; --data-table LanguageCompositionPerRepository. Without one: mod run . --recipe org.openrewrite.LanguageComposition, then mod study . --last-recipe-run --data-table LanguageCompositionPerRepository. The recipe changes nothing.</a:t>
            </a:r>
          </a:p>
          <a:p>
            <a:r>
              <a:t>- Sum lines of code by language. One row per language that holds more than a few percent of the code; fold the rest into one row. {{N}} is the repository count: the organization's, or the rows of .moderne/repos-lock.csv.</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first step, run as a session of its own, and a capture of its window.</a:t>
            </a:r>
          </a:p>
          <a:p/>
          <a:p>
            <a:r>
              <a:t>How to run it: the command on the left, as the title slide's notes say, in a window of its own. The step's prompt is "Fix code quality issues" followed by the standard ending (write board/quality.md when done). Do not add hints about which recipe to use: the point of the slide is that an ordinary request is enough. The agent is expected to find a recipe for the job on its own, run it over everything, verify with each repository's own build, and open pull requests.</a:t>
            </a:r>
          </a:p>
          <a:p/>
          <a:p>
            <a:r>
              <a:t>How to fill it: put your agent and the organization into the command and show it as you ran it. The panel on the right is the capture of the step's first turn: the prompt, then mod config recipes search and the first mod run, from the captures taken every 45 seconds since the step started, cropped to those lines.</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ordinary prompt did, shown on one file, with its reach across all {{N}} repositories. The template rules on the title slide say how to fill each part.</a:t>
            </a:r>
          </a:p>
          <a:p/>
          <a:p>
            <a:r>
              <a:t>How to measure it:</a:t>
            </a:r>
          </a:p>
          <a:p>
            <a:r>
              <a:t>- The hunk: from the step's changeset patch (mod study moderne://changeset/&lt;id&gt; --patches) or the synced checkout. Without a tenant: the patch under .moderne/run.</a:t>
            </a:r>
          </a:p>
          <a:p>
            <a:r>
              <a:t>- Reach: with a tenant, mod study moderne://changeset/&lt;id&gt; --repositories for the repositories changed, and the SourcesFileResults data table for files. Without one: mod study . --last-recipe-run --data-table SourcesFileResults. Builds and pull requests from board/quality.md.</a:t>
            </a:r>
          </a:p>
          <a:p>
            <a:r>
              <a:t>- Why: the step's summary says what it left out of a recipe's result, or which recipe it wrote and for what gap. Put that in one plain sentence, or delete the caption.</a:t>
            </a:r>
          </a:p>
          <a:p>
            <a:r>
              <a:t>- The headline is yours: one sentence from the evidence on the slide. "A recipe made every change" may be part of it only when the step made no hand edits; if it did, say how many in the notes.</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same objective as a standing one, run twice, so the next slide can show what a pass leaves behind. The factory keeps going on its own; how to start it from a scheduler when nobody is watching is in the proof of value guide, not in this deck.</a:t>
            </a:r>
          </a:p>
          <a:p/>
          <a:p>
            <a:r>
              <a:t>How to run it: start the step with the command, in a window of its own. Its prompt is "Be on guard for code quality issues perpetually, fixing them as you find them", the standard ending, and one more sentence: "A pass is done when every repository has been checked, the fixes are verified and the pull requests are open; write the summary, then look again." When the first summary arrives, let the session go on into its second pass, which starts from what the first pushed; a session that stopped instead is started again the same way. With Codex, mod agent send &lt;session&gt; "Look again" is the second pass without a second window.</a:t>
            </a:r>
          </a:p>
          <a:p/>
          <a:p>
            <a:r>
              <a:t>How to fill it: show the command as you ran it. The panel is a capture of the second pass's window, cropped to the lines where it finds what the first pass left, or says that nothing is left.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factory's second pass found that the first left, on one file, and the recipe it left behind where none existed. The template rules on the title slide say how to fill each part.</a:t>
            </a:r>
          </a:p>
          <a:p/>
          <a:p>
            <a:r>
              <a:t>How to measure it:</a:t>
            </a:r>
          </a:p>
          <a:p>
            <a:r>
              <a:t>- The hunk: one change the second pass made that the first did not, from the second pass's changeset patch. A second pass that changed nothing is the point as much as one that did: then both panels hold the window's own line saying so, and the headline says it.</a:t>
            </a:r>
          </a:p>
          <a:p>
            <a:r>
              <a:t>- Reach: the second pass's changeset and board/quality-factory.md (its second summary). Add one sentence to the Reach line comparing the passes: minutes, files changed, repositories changed.</a:t>
            </a:r>
          </a:p>
          <a:p>
            <a:r>
              <a:t>- Why: the recipe the pass wrote, named by what it does, and the gap no existing recipe covered, in one sentence. A hand edit the pass did not turn into a recipe is a hand edit; the notes say how many there were.</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t>Nothing to fill in.</a:t>
            </a:r>
          </a:p>
        </p:txBody>
      </p:sp>
      <p:sp>
        <p:nvSpPr>
          <p:cNvPr id="451" name="Google Shape;45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objective 2 of the customer's, run as a step of its own, shown on one file, with its reach. The title slide's notes say where the objectives come from; the template rules there say how to fill each part.</a:t>
            </a:r>
          </a:p>
          <a:p/>
          <a:p>
            <a:r>
              <a:t>How to run it: the command across the top, in a window of its own, with the objective sentence as the prompt and the standard ending after it. The step finds where each repository stands, runs the recipes that exist over everything that needs the change, verifies with each repository's own build, opens pull requests, and writes a recipe only where none makes a change the objective needs. When the proof of value has no time for more, the step stops after its first verified changeset and the notes say so.</a:t>
            </a:r>
          </a:p>
          <a:p/>
          <a:p>
            <a:r>
              <a:t>How to fill it: the command as you ran it, with the objective in the customer's words. The hunk from the step's changeset patch, at most 10 lines a side on this slide. Reach from the changeset and board/&lt;step&gt;.md. Why only where the step left part of a recipe's result out or wrote a recipe. The headline is yours, from the evidence on the slide. Delete this slide when there is no objective 2.</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objective 3 of the customer's, run as a step of its own, shown on one file, with its reach. The title slide's notes say where the objectives come from; the template rules there say how to fill each part.</a:t>
            </a:r>
          </a:p>
          <a:p/>
          <a:p>
            <a:r>
              <a:t>How to run it: the command across the top, in a window of its own, with the objective sentence as the prompt and the standard ending after it. The step finds where each repository stands, runs the recipes that exist over everything that needs the change, verifies with each repository's own build, opens pull requests, and writes a recipe only where none makes a change the objective needs. When the proof of value has no time for more, the step stops after its first verified changeset and the notes say so.</a:t>
            </a:r>
          </a:p>
          <a:p/>
          <a:p>
            <a:r>
              <a:t>How to fill it: the command as you ran it, with the objective in the customer's words. The hunk from the step's changeset patch, at most 10 lines a side on this slide. Reach from the changeset and board/&lt;step&gt;.md. Why only where the step left part of a recipe's result out or wrote a recipe. The headline is yours, from the evidence on the slide. Delete this slide when there is no objective 3.</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sentence the deck is for, with the two counts that make it concrete. The diagram stays as it is.</a:t>
            </a:r>
          </a:p>
          <a:p/>
          <a:p>
            <a:r>
              <a:t>How to measure it: {{marketplace}} is how many recipes were available when the proof of value started: what mod config recipes list reports as installed on this machine, or the total Moderne's marketplace page shows for the tenant. {{marketplace + w}} adds the recipes written during the proof of value, from the steps' summaries. {{w}} counts only recipes written where no recipe existed, which is the only kind the steps are asked to write; when none were written, the caption says the count did not change and why that is fine: every change came from a recipe that already existed.</a:t>
            </a:r>
          </a:p>
          <a:p/>
          <a:p>
            <a:r>
              <a:t>What to say when presenting: the agent did not change its model during the proof of value. What it learned about this code it kept as recipes, which are deterministic, reviewed in pull requests like any other code, shared with everyone through the marketplace, and run again across every repository without the model in the loop. That is the recursive self-improvement people hope for from agents, in a form the organization owns and can inspect.</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what the proof of value cost, and what it costs to keep getting the result.</a:t>
            </a:r>
          </a:p>
          <a:p/>
          <a:p>
            <a:r>
              <a:t>How to measure it:</a:t>
            </a:r>
          </a:p>
          <a:p>
            <a:r>
              <a:t>- Agent usage is what each step's summary reports for its session, plus what your harness reports for this one; say which agent and models ran in the notes. Wall-clock time runs from this session's start to the filled deck. A person's time is what the people watching spent steering and reviewing: ask them, and leave the row out when nobody answers.</a:t>
            </a:r>
          </a:p>
          <a:p>
            <a:r>
              <a:t>- Every mod run prints a line "saved by using recipes"; add them up across the runs the steps made, from their summaries.</a:t>
            </a:r>
          </a:p>
          <a:p>
            <a:r>
              <a:t>- The last row is the point of the slide: a recipe run needs no model, so what the agent wrote keeps running for the cost of compute. When no recipe was written, the row reads "Running the recipes it used again". Leave a row out when you cannot measure it, and say why in the notes.</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this slide needs: the factories the customer keeps after the proof of value, each with an owner and the machine it runs on. The scheduler setup is the proof of value guide's "Running a factory continuously" section; point people there.</a:t>
            </a:r>
          </a:p>
          <a:p/>
          <a:p>
            <a:r>
              <a:t>Fill in the owner and machine where the customer named them during the proof of value, and leave the cells as placeholders for them otherwise. Keep this slide even when every cell stays a placeholder: it is the conversation to have with the customer. The objective rows are the objectives the proof of value ran, in the customer's words; delete the rows of objectives that did not run, and add a row for one the customer asked for and the proof of value had no time for.</a:t>
            </a:r>
          </a:p>
          <a:p/>
          <a:p>
            <a:r>
              <a:t>Source: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Nothing to measure. The logos are the customers shown on moderne.ai/about, the same set in the same order, in one colour. Keep the slide as it is.</a:t>
            </a:r>
          </a:p>
          <a:p/>
          <a:p>
            <a:r>
              <a:t>Source: moderne.ai/about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bg>
      <p:bgPr>
        <a:solidFill>
          <a:schemeClr val="lt1"/>
        </a:solidFill>
        <a:effectLst/>
      </p:bgPr>
    </p:bg>
    <p:spTree>
      <p:nvGrpSpPr>
        <p:cNvPr id="1" name="Shape 15"/>
        <p:cNvGrpSpPr/>
        <p:nvPr/>
      </p:nvGrpSpPr>
      <p:grpSpPr>
        <a:xfrm>
          <a:off x="0" y="0"/>
          <a:ext cx="0" cy="0"/>
          <a:chOff x="0" y="0"/>
          <a:chExt cx="0" cy="0"/>
        </a:xfrm>
      </p:grpSpPr>
      <p:sp>
        <p:nvSpPr>
          <p:cNvPr id="16" name="Google Shape;16;p53"/>
          <p:cNvSpPr/>
          <p:nvPr/>
        </p:nvSpPr>
        <p:spPr>
          <a:xfrm>
            <a:off x="0" y="0"/>
            <a:ext cx="12192000" cy="6858000"/>
          </a:xfrm>
          <a:prstGeom prst="rect">
            <a:avLst/>
          </a:prstGeom>
          <a:solidFill>
            <a:schemeClr val="accent3"/>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7" name="Google Shape;17;p53"/>
          <p:cNvSpPr txBox="1">
            <a:spLocks noGrp="1"/>
          </p:cNvSpPr>
          <p:nvPr>
            <p:ph type="body" idx="1"/>
          </p:nvPr>
        </p:nvSpPr>
        <p:spPr>
          <a:xfrm>
            <a:off x="523876" y="3075921"/>
            <a:ext cx="4388700" cy="706200"/>
          </a:xfrm>
          <a:prstGeom prst="rect">
            <a:avLst/>
          </a:prstGeom>
          <a:noFill/>
          <a:ln>
            <a:noFill/>
          </a:ln>
        </p:spPr>
        <p:txBody>
          <a:bodyPr spcFirstLastPara="1" wrap="square" lIns="0" tIns="0" rIns="0" bIns="0" anchor="t" anchorCtr="0">
            <a:noAutofit/>
          </a:bodyPr>
          <a:lstStyle>
            <a:lvl1pPr marL="457200" lvl="0" indent="-228600" algn="l">
              <a:lnSpc>
                <a:spcPct val="100000"/>
              </a:lnSpc>
              <a:spcBef>
                <a:spcPts val="1000"/>
              </a:spcBef>
              <a:spcAft>
                <a:spcPts val="0"/>
              </a:spcAft>
              <a:buClr>
                <a:schemeClr val="lt1"/>
              </a:buClr>
              <a:buSzPts val="3000"/>
              <a:buNone/>
              <a:defRPr sz="3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8" name="Google Shape;18;p53"/>
          <p:cNvSpPr txBox="1">
            <a:spLocks noGrp="1"/>
          </p:cNvSpPr>
          <p:nvPr>
            <p:ph type="body" idx="2"/>
          </p:nvPr>
        </p:nvSpPr>
        <p:spPr>
          <a:xfrm>
            <a:off x="523876" y="2552555"/>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9" name="Google Shape;19;p53"/>
          <p:cNvSpPr txBox="1">
            <a:spLocks noGrp="1"/>
          </p:cNvSpPr>
          <p:nvPr>
            <p:ph type="body" idx="3"/>
          </p:nvPr>
        </p:nvSpPr>
        <p:spPr>
          <a:xfrm>
            <a:off x="523876" y="6360476"/>
            <a:ext cx="4388700" cy="1800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1000"/>
              </a:spcBef>
              <a:spcAft>
                <a:spcPts val="0"/>
              </a:spcAft>
              <a:buClr>
                <a:schemeClr val="lt1"/>
              </a:buClr>
              <a:buSzPts val="1200"/>
              <a:buNone/>
              <a:defRPr sz="1200">
                <a:solidFill>
                  <a:schemeClr val="lt1"/>
                </a:solidFill>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0" name="Google Shape;20;p53" descr="A white letter on a black background&#10;&#10;Description automatically generated"/>
          <p:cNvPicPr preferRelativeResize="0"/>
          <p:nvPr/>
        </p:nvPicPr>
        <p:blipFill rotWithShape="1">
          <a:blip r:embed="rId2">
            <a:alphaModFix/>
          </a:blip>
          <a:srcRect/>
          <a:stretch/>
        </p:blipFill>
        <p:spPr>
          <a:xfrm>
            <a:off x="523876" y="497536"/>
            <a:ext cx="2893101" cy="510547"/>
          </a:xfrm>
          <a:prstGeom prst="rect">
            <a:avLst/>
          </a:prstGeom>
          <a:noFill/>
          <a:ln>
            <a:noFill/>
          </a:ln>
        </p:spPr>
      </p:pic>
      <p:pic>
        <p:nvPicPr>
          <p:cNvPr id="21" name="Google Shape;21;p53"/>
          <p:cNvPicPr preferRelativeResize="0"/>
          <p:nvPr/>
        </p:nvPicPr>
        <p:blipFill rotWithShape="1">
          <a:blip r:embed="rId3">
            <a:alphaModFix/>
          </a:blip>
          <a:srcRect l="1237" t="6952" r="1" b="12572"/>
          <a:stretch/>
        </p:blipFill>
        <p:spPr>
          <a:xfrm>
            <a:off x="5087007" y="-1"/>
            <a:ext cx="6711203" cy="6858001"/>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3_Title Only">
  <p:cSld name="13_Title Only">
    <p:bg>
      <p:bgPr>
        <a:solidFill>
          <a:schemeClr val="lt1"/>
        </a:solidFill>
        <a:effectLst/>
      </p:bgPr>
    </p:bg>
    <p:spTree>
      <p:nvGrpSpPr>
        <p:cNvPr id="1" name="Shape 22"/>
        <p:cNvGrpSpPr/>
        <p:nvPr/>
      </p:nvGrpSpPr>
      <p:grpSpPr>
        <a:xfrm>
          <a:off x="0" y="0"/>
          <a:ext cx="0" cy="0"/>
          <a:chOff x="0" y="0"/>
          <a:chExt cx="0" cy="0"/>
        </a:xfrm>
      </p:grpSpPr>
      <p:sp>
        <p:nvSpPr>
          <p:cNvPr id="23" name="Google Shape;23;p55"/>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24" name="Google Shape;24;p55"/>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25" name="Google Shape;25;p55"/>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26" name="Google Shape;26;p55"/>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27" name="Google Shape;27;p55"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28" name="Google Shape;28;p55"/>
          <p:cNvSpPr txBox="1">
            <a:spLocks noGrp="1"/>
          </p:cNvSpPr>
          <p:nvPr>
            <p:ph type="body" idx="1"/>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29" name="Google Shape;29;p55"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3_Title Slide">
  <p:cSld name="3_Title Slide">
    <p:bg>
      <p:bgPr>
        <a:solidFill>
          <a:schemeClr val="lt1"/>
        </a:solidFill>
        <a:effectLst/>
      </p:bgPr>
    </p:bg>
    <p:spTree>
      <p:nvGrpSpPr>
        <p:cNvPr id="1" name="Shape 38"/>
        <p:cNvGrpSpPr/>
        <p:nvPr/>
      </p:nvGrpSpPr>
      <p:grpSpPr>
        <a:xfrm>
          <a:off x="0" y="0"/>
          <a:ext cx="0" cy="0"/>
          <a:chOff x="0" y="0"/>
          <a:chExt cx="0" cy="0"/>
        </a:xfrm>
      </p:grpSpPr>
      <p:pic>
        <p:nvPicPr>
          <p:cNvPr id="39" name="Google Shape;39;p37" descr="Background pattern&#10;&#10;Description automatically generated with medium confidence"/>
          <p:cNvPicPr preferRelativeResize="0"/>
          <p:nvPr/>
        </p:nvPicPr>
        <p:blipFill rotWithShape="1">
          <a:blip r:embed="rId2">
            <a:alphaModFix/>
          </a:blip>
          <a:srcRect/>
          <a:stretch/>
        </p:blipFill>
        <p:spPr>
          <a:xfrm>
            <a:off x="0" y="0"/>
            <a:ext cx="12192000" cy="6858001"/>
          </a:xfrm>
          <a:prstGeom prst="rect">
            <a:avLst/>
          </a:prstGeom>
          <a:noFill/>
          <a:ln>
            <a:noFill/>
          </a:ln>
        </p:spPr>
      </p:pic>
      <p:sp>
        <p:nvSpPr>
          <p:cNvPr id="40" name="Google Shape;40;p3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1" name="Google Shape;41;p3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2" name="Google Shape;42;p3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43" name="Google Shape;43;p37" descr="A picture containing text, clipart&#10;&#10;Description automatically generated"/>
          <p:cNvPicPr preferRelativeResize="0"/>
          <p:nvPr/>
        </p:nvPicPr>
        <p:blipFill rotWithShape="1">
          <a:blip r:embed="rId3">
            <a:alphaModFix/>
          </a:blip>
          <a:srcRect l="3701" r="78215" b="-2615"/>
          <a:stretch/>
        </p:blipFill>
        <p:spPr>
          <a:xfrm>
            <a:off x="5806880" y="2197592"/>
            <a:ext cx="505797" cy="471650"/>
          </a:xfrm>
          <a:prstGeom prst="rect">
            <a:avLst/>
          </a:prstGeom>
          <a:noFill/>
          <a:ln>
            <a:noFill/>
          </a:ln>
        </p:spPr>
      </p:pic>
      <p:sp>
        <p:nvSpPr>
          <p:cNvPr id="44" name="Google Shape;44;p37"/>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Clr>
                <a:schemeClr val="lt1"/>
              </a:buClr>
              <a:buSzPts val="1400"/>
              <a:buNone/>
              <a:defRPr sz="1400">
                <a:solidFill>
                  <a:schemeClr val="lt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45" name="Google Shape;45;p37" descr="A white letter on a black background&#10;&#10;AI-generated content may be incorrect."/>
          <p:cNvPicPr preferRelativeResize="0"/>
          <p:nvPr/>
        </p:nvPicPr>
        <p:blipFill rotWithShape="1">
          <a:blip r:embed="rId4">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1_TOC">
  <p:cSld name="1_TOC">
    <p:bg>
      <p:bgPr>
        <a:solidFill>
          <a:schemeClr val="dk1"/>
        </a:solidFill>
        <a:effectLst/>
      </p:bgPr>
    </p:bg>
    <p:spTree>
      <p:nvGrpSpPr>
        <p:cNvPr id="1" name="Shape 46"/>
        <p:cNvGrpSpPr/>
        <p:nvPr/>
      </p:nvGrpSpPr>
      <p:grpSpPr>
        <a:xfrm>
          <a:off x="0" y="0"/>
          <a:ext cx="0" cy="0"/>
          <a:chOff x="0" y="0"/>
          <a:chExt cx="0" cy="0"/>
        </a:xfrm>
      </p:grpSpPr>
      <p:sp>
        <p:nvSpPr>
          <p:cNvPr id="47" name="Google Shape;47;p54"/>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48" name="Google Shape;48;p54"/>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49" name="Google Shape;49;p54"/>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Light"/>
                <a:ea typeface="Poppins Light"/>
                <a:cs typeface="Poppins Light"/>
                <a:sym typeface="Poppins Light"/>
              </a:rPr>
              <a:t>©2026 Moderne, Inc.</a:t>
            </a:r>
            <a:endParaRPr sz="900" b="0" i="0" u="none" strike="noStrike" cap="none">
              <a:solidFill>
                <a:srgbClr val="EFEEFE"/>
              </a:solidFill>
              <a:latin typeface="Arial"/>
              <a:ea typeface="Arial"/>
              <a:cs typeface="Arial"/>
              <a:sym typeface="Arial"/>
            </a:endParaRPr>
          </a:p>
        </p:txBody>
      </p:sp>
      <p:pic>
        <p:nvPicPr>
          <p:cNvPr id="50" name="Google Shape;50;p54" descr="A picture containing text, clipart&#10;&#10;Description automatically generated"/>
          <p:cNvPicPr preferRelativeResize="0"/>
          <p:nvPr/>
        </p:nvPicPr>
        <p:blipFill rotWithShape="1">
          <a:blip r:embed="rId2">
            <a:alphaModFix/>
          </a:blip>
          <a:srcRect r="78216" b="-14320"/>
          <a:stretch/>
        </p:blipFill>
        <p:spPr>
          <a:xfrm>
            <a:off x="11185262" y="388962"/>
            <a:ext cx="609342" cy="525438"/>
          </a:xfrm>
          <a:prstGeom prst="rect">
            <a:avLst/>
          </a:prstGeom>
          <a:noFill/>
          <a:ln>
            <a:noFill/>
          </a:ln>
        </p:spPr>
      </p:pic>
      <p:sp>
        <p:nvSpPr>
          <p:cNvPr id="51" name="Google Shape;51;p54"/>
          <p:cNvSpPr txBox="1">
            <a:spLocks noGrp="1"/>
          </p:cNvSpPr>
          <p:nvPr>
            <p:ph type="body" idx="1"/>
          </p:nvPr>
        </p:nvSpPr>
        <p:spPr>
          <a:xfrm>
            <a:off x="6339727" y="1180044"/>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54"/>
          <p:cNvSpPr txBox="1">
            <a:spLocks noGrp="1"/>
          </p:cNvSpPr>
          <p:nvPr>
            <p:ph type="body" idx="2"/>
          </p:nvPr>
        </p:nvSpPr>
        <p:spPr>
          <a:xfrm>
            <a:off x="6958291" y="1180044"/>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54"/>
          <p:cNvSpPr txBox="1">
            <a:spLocks noGrp="1"/>
          </p:cNvSpPr>
          <p:nvPr>
            <p:ph type="body" idx="3"/>
          </p:nvPr>
        </p:nvSpPr>
        <p:spPr>
          <a:xfrm>
            <a:off x="6339727" y="210116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4" name="Google Shape;54;p54"/>
          <p:cNvSpPr txBox="1">
            <a:spLocks noGrp="1"/>
          </p:cNvSpPr>
          <p:nvPr>
            <p:ph type="body" idx="4"/>
          </p:nvPr>
        </p:nvSpPr>
        <p:spPr>
          <a:xfrm>
            <a:off x="6958291" y="210116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54"/>
          <p:cNvSpPr txBox="1">
            <a:spLocks noGrp="1"/>
          </p:cNvSpPr>
          <p:nvPr>
            <p:ph type="body" idx="5"/>
          </p:nvPr>
        </p:nvSpPr>
        <p:spPr>
          <a:xfrm>
            <a:off x="6333564" y="303258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6" name="Google Shape;56;p54"/>
          <p:cNvSpPr txBox="1">
            <a:spLocks noGrp="1"/>
          </p:cNvSpPr>
          <p:nvPr>
            <p:ph type="body" idx="6"/>
          </p:nvPr>
        </p:nvSpPr>
        <p:spPr>
          <a:xfrm>
            <a:off x="6952128" y="303258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54"/>
          <p:cNvSpPr txBox="1">
            <a:spLocks noGrp="1"/>
          </p:cNvSpPr>
          <p:nvPr>
            <p:ph type="body" idx="7"/>
          </p:nvPr>
        </p:nvSpPr>
        <p:spPr>
          <a:xfrm>
            <a:off x="6327401" y="396400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8" name="Google Shape;58;p54"/>
          <p:cNvSpPr txBox="1">
            <a:spLocks noGrp="1"/>
          </p:cNvSpPr>
          <p:nvPr>
            <p:ph type="body" idx="8"/>
          </p:nvPr>
        </p:nvSpPr>
        <p:spPr>
          <a:xfrm>
            <a:off x="6945965" y="396400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9" name="Google Shape;59;p54"/>
          <p:cNvSpPr txBox="1">
            <a:spLocks noGrp="1"/>
          </p:cNvSpPr>
          <p:nvPr>
            <p:ph type="body" idx="9"/>
          </p:nvPr>
        </p:nvSpPr>
        <p:spPr>
          <a:xfrm>
            <a:off x="6321238" y="4895427"/>
            <a:ext cx="612300" cy="773400"/>
          </a:xfrm>
          <a:prstGeom prst="rect">
            <a:avLst/>
          </a:prstGeom>
          <a:noFill/>
          <a:ln>
            <a:noFill/>
          </a:ln>
        </p:spPr>
        <p:txBody>
          <a:bodyPr spcFirstLastPara="1" wrap="square" lIns="0" tIns="0" rIns="0" bIns="0" anchor="ctr" anchorCtr="0">
            <a:noAutofit/>
          </a:bodyPr>
          <a:lstStyle>
            <a:lvl1pPr marL="457200" lvl="0" indent="-228600" algn="l">
              <a:lnSpc>
                <a:spcPct val="125000"/>
              </a:lnSpc>
              <a:spcBef>
                <a:spcPts val="1000"/>
              </a:spcBef>
              <a:spcAft>
                <a:spcPts val="0"/>
              </a:spcAft>
              <a:buClr>
                <a:srgbClr val="2E42FF"/>
              </a:buClr>
              <a:buSzPts val="2400"/>
              <a:buNone/>
              <a:defRPr sz="2400">
                <a:solidFill>
                  <a:srgbClr val="2E42FF"/>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grpSp>
        <p:nvGrpSpPr>
          <p:cNvPr id="60" name="Google Shape;60;p54"/>
          <p:cNvGrpSpPr/>
          <p:nvPr/>
        </p:nvGrpSpPr>
        <p:grpSpPr>
          <a:xfrm>
            <a:off x="6036505" y="1180045"/>
            <a:ext cx="4720135" cy="4488783"/>
            <a:chOff x="6036720" y="1302458"/>
            <a:chExt cx="5148489" cy="4488783"/>
          </a:xfrm>
        </p:grpSpPr>
        <p:sp>
          <p:nvSpPr>
            <p:cNvPr id="61" name="Google Shape;61;p54"/>
            <p:cNvSpPr/>
            <p:nvPr/>
          </p:nvSpPr>
          <p:spPr>
            <a:xfrm>
              <a:off x="6055209" y="1302458"/>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54"/>
            <p:cNvSpPr/>
            <p:nvPr/>
          </p:nvSpPr>
          <p:spPr>
            <a:xfrm>
              <a:off x="6055209" y="222358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3" name="Google Shape;63;p54"/>
            <p:cNvSpPr/>
            <p:nvPr/>
          </p:nvSpPr>
          <p:spPr>
            <a:xfrm>
              <a:off x="6049046" y="315500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4" name="Google Shape;64;p54"/>
            <p:cNvSpPr/>
            <p:nvPr/>
          </p:nvSpPr>
          <p:spPr>
            <a:xfrm>
              <a:off x="6042883" y="408642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5" name="Google Shape;65;p54"/>
            <p:cNvSpPr/>
            <p:nvPr/>
          </p:nvSpPr>
          <p:spPr>
            <a:xfrm>
              <a:off x="6036720" y="5017841"/>
              <a:ext cx="5130000" cy="773400"/>
            </a:xfrm>
            <a:prstGeom prst="roundRect">
              <a:avLst>
                <a:gd name="adj" fmla="val 50000"/>
              </a:avLst>
            </a:prstGeom>
            <a:noFill/>
            <a:ln w="12700" cap="flat" cmpd="sng">
              <a:solidFill>
                <a:srgbClr val="2E42F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66" name="Google Shape;66;p54"/>
          <p:cNvSpPr txBox="1">
            <a:spLocks noGrp="1"/>
          </p:cNvSpPr>
          <p:nvPr>
            <p:ph type="body" idx="13"/>
          </p:nvPr>
        </p:nvSpPr>
        <p:spPr>
          <a:xfrm>
            <a:off x="6939802" y="4895427"/>
            <a:ext cx="3792600" cy="773400"/>
          </a:xfrm>
          <a:prstGeom prst="rect">
            <a:avLst/>
          </a:prstGeom>
          <a:noFill/>
          <a:ln>
            <a:noFill/>
          </a:ln>
        </p:spPr>
        <p:txBody>
          <a:bodyPr spcFirstLastPara="1" wrap="square" lIns="0" tIns="0" rIns="0" bIns="0" anchor="ctr" anchorCtr="0">
            <a:noAutofit/>
          </a:bodyPr>
          <a:lstStyle>
            <a:lvl1pPr marL="457200" lvl="0" indent="-228600" algn="l">
              <a:lnSpc>
                <a:spcPct val="150000"/>
              </a:lnSpc>
              <a:spcBef>
                <a:spcPts val="1000"/>
              </a:spcBef>
              <a:spcAft>
                <a:spcPts val="0"/>
              </a:spcAft>
              <a:buClr>
                <a:schemeClr val="lt1"/>
              </a:buClr>
              <a:buSzPts val="2000"/>
              <a:buNone/>
              <a:defRPr sz="2000">
                <a:solidFill>
                  <a:schemeClr val="lt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54"/>
          <p:cNvSpPr txBox="1"/>
          <p:nvPr/>
        </p:nvSpPr>
        <p:spPr>
          <a:xfrm>
            <a:off x="417646" y="1180044"/>
            <a:ext cx="2115600" cy="5541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3000" b="0" i="0" u="none" strike="noStrike" cap="none">
                <a:solidFill>
                  <a:schemeClr val="lt1"/>
                </a:solidFill>
                <a:latin typeface="Poppins"/>
                <a:ea typeface="Poppins"/>
                <a:cs typeface="Poppins"/>
                <a:sym typeface="Poppins"/>
              </a:rPr>
              <a:t>Contents</a:t>
            </a:r>
            <a:endParaRPr sz="1400" b="0" i="0" u="none" strike="noStrike" cap="none">
              <a:solidFill>
                <a:srgbClr val="000000"/>
              </a:solidFill>
              <a:latin typeface="Arial"/>
              <a:ea typeface="Arial"/>
              <a:cs typeface="Arial"/>
              <a:sym typeface="Arial"/>
            </a:endParaRPr>
          </a:p>
        </p:txBody>
      </p:sp>
      <p:pic>
        <p:nvPicPr>
          <p:cNvPr id="68" name="Google Shape;68;p54"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5_Title Only">
  <p:cSld name="15_Title Only">
    <p:bg>
      <p:bgPr>
        <a:solidFill>
          <a:schemeClr val="lt1"/>
        </a:solidFill>
        <a:effectLst/>
      </p:bgPr>
    </p:bg>
    <p:spTree>
      <p:nvGrpSpPr>
        <p:cNvPr id="1" name="Shape 69"/>
        <p:cNvGrpSpPr/>
        <p:nvPr/>
      </p:nvGrpSpPr>
      <p:grpSpPr>
        <a:xfrm>
          <a:off x="0" y="0"/>
          <a:ext cx="0" cy="0"/>
          <a:chOff x="0" y="0"/>
          <a:chExt cx="0" cy="0"/>
        </a:xfrm>
      </p:grpSpPr>
      <p:sp>
        <p:nvSpPr>
          <p:cNvPr id="70" name="Google Shape;70;p72"/>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sp>
        <p:nvSpPr>
          <p:cNvPr id="71" name="Google Shape;71;p72"/>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72" name="Google Shape;72;p72"/>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73" name="Google Shape;73;p72"/>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74" name="Google Shape;74;p72" descr="Shape&#10;&#10;Description automatically generated with medium confidence"/>
          <p:cNvPicPr preferRelativeResize="0"/>
          <p:nvPr/>
        </p:nvPicPr>
        <p:blipFill rotWithShape="1">
          <a:blip r:embed="rId2">
            <a:alphaModFix/>
          </a:blip>
          <a:srcRect t="1" r="81307" b="-14127"/>
          <a:stretch/>
        </p:blipFill>
        <p:spPr>
          <a:xfrm>
            <a:off x="11592089" y="272005"/>
            <a:ext cx="431022" cy="393513"/>
          </a:xfrm>
          <a:prstGeom prst="rect">
            <a:avLst/>
          </a:prstGeom>
          <a:noFill/>
          <a:ln>
            <a:noFill/>
          </a:ln>
        </p:spPr>
      </p:pic>
      <p:sp>
        <p:nvSpPr>
          <p:cNvPr id="75" name="Google Shape;75;p72"/>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pic>
        <p:nvPicPr>
          <p:cNvPr id="76" name="Google Shape;76;p72"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16_Title Only">
  <p:cSld name="16_Title Only">
    <p:bg>
      <p:bgPr>
        <a:solidFill>
          <a:schemeClr val="lt1"/>
        </a:solidFill>
        <a:effectLst/>
      </p:bgPr>
    </p:bg>
    <p:spTree>
      <p:nvGrpSpPr>
        <p:cNvPr id="1" name="Shape 77"/>
        <p:cNvGrpSpPr/>
        <p:nvPr/>
      </p:nvGrpSpPr>
      <p:grpSpPr>
        <a:xfrm>
          <a:off x="0" y="0"/>
          <a:ext cx="0" cy="0"/>
          <a:chOff x="0" y="0"/>
          <a:chExt cx="0" cy="0"/>
        </a:xfrm>
      </p:grpSpPr>
      <p:sp>
        <p:nvSpPr>
          <p:cNvPr id="78" name="Google Shape;78;p38"/>
          <p:cNvSpPr/>
          <p:nvPr/>
        </p:nvSpPr>
        <p:spPr>
          <a:xfrm>
            <a:off x="0" y="6421271"/>
            <a:ext cx="12192000" cy="436729"/>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Poppins"/>
              <a:ea typeface="Poppins"/>
              <a:cs typeface="Poppins"/>
              <a:sym typeface="Poppins"/>
            </a:endParaRPr>
          </a:p>
        </p:txBody>
      </p:sp>
      <p:pic>
        <p:nvPicPr>
          <p:cNvPr id="79" name="Google Shape;79;p38" descr="A white letter on a black background&#10;&#10;Description automatically generated with low confidence"/>
          <p:cNvPicPr preferRelativeResize="0"/>
          <p:nvPr/>
        </p:nvPicPr>
        <p:blipFill rotWithShape="1">
          <a:blip r:embed="rId2">
            <a:alphaModFix/>
          </a:blip>
          <a:srcRect/>
          <a:stretch/>
        </p:blipFill>
        <p:spPr>
          <a:xfrm>
            <a:off x="439904" y="6538639"/>
            <a:ext cx="1031736" cy="182070"/>
          </a:xfrm>
          <a:prstGeom prst="rect">
            <a:avLst/>
          </a:prstGeom>
          <a:noFill/>
          <a:ln>
            <a:noFill/>
          </a:ln>
        </p:spPr>
      </p:pic>
      <p:sp>
        <p:nvSpPr>
          <p:cNvPr id="80" name="Google Shape;80;p38"/>
          <p:cNvSpPr txBox="1">
            <a:spLocks noGrp="1"/>
          </p:cNvSpPr>
          <p:nvPr>
            <p:ph type="sldNum" idx="12"/>
          </p:nvPr>
        </p:nvSpPr>
        <p:spPr>
          <a:xfrm>
            <a:off x="11073652" y="6459668"/>
            <a:ext cx="730623"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12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81" name="Google Shape;81;p38"/>
          <p:cNvCxnSpPr/>
          <p:nvPr/>
        </p:nvCxnSpPr>
        <p:spPr>
          <a:xfrm rot="10800000">
            <a:off x="-72439" y="6421271"/>
            <a:ext cx="12264439" cy="0"/>
          </a:xfrm>
          <a:prstGeom prst="straightConnector1">
            <a:avLst/>
          </a:prstGeom>
          <a:noFill/>
          <a:ln w="9525" cap="flat" cmpd="sng">
            <a:solidFill>
              <a:srgbClr val="A5A5A5">
                <a:alpha val="40000"/>
              </a:srgbClr>
            </a:solidFill>
            <a:prstDash val="solid"/>
            <a:round/>
            <a:headEnd type="none" w="sm" len="sm"/>
            <a:tailEnd type="none" w="sm" len="sm"/>
          </a:ln>
        </p:spPr>
      </p:cxnSp>
      <p:sp>
        <p:nvSpPr>
          <p:cNvPr id="82" name="Google Shape;82;p38"/>
          <p:cNvSpPr txBox="1"/>
          <p:nvPr/>
        </p:nvSpPr>
        <p:spPr>
          <a:xfrm>
            <a:off x="5141259" y="6526835"/>
            <a:ext cx="1909482" cy="23079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83" name="Google Shape;83;p38" descr="Shape&#10;&#10;Description automatically generated with medium confidence"/>
          <p:cNvPicPr preferRelativeResize="0"/>
          <p:nvPr/>
        </p:nvPicPr>
        <p:blipFill rotWithShape="1">
          <a:blip r:embed="rId3">
            <a:alphaModFix/>
          </a:blip>
          <a:srcRect t="1" r="81307" b="-14127"/>
          <a:stretch/>
        </p:blipFill>
        <p:spPr>
          <a:xfrm>
            <a:off x="11592089" y="272005"/>
            <a:ext cx="431022" cy="393513"/>
          </a:xfrm>
          <a:prstGeom prst="rect">
            <a:avLst/>
          </a:prstGeom>
          <a:noFill/>
          <a:ln>
            <a:noFill/>
          </a:ln>
        </p:spPr>
      </p:pic>
      <p:sp>
        <p:nvSpPr>
          <p:cNvPr id="84" name="Google Shape;84;p38"/>
          <p:cNvSpPr txBox="1">
            <a:spLocks noGrp="1"/>
          </p:cNvSpPr>
          <p:nvPr>
            <p:ph type="body" idx="1"/>
          </p:nvPr>
        </p:nvSpPr>
        <p:spPr>
          <a:xfrm>
            <a:off x="523876" y="457384"/>
            <a:ext cx="7495862" cy="706158"/>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SzPts val="28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SzPts val="2400"/>
              <a:buChar char="•"/>
              <a:defRPr/>
            </a:lvl2pPr>
            <a:lvl3pPr marL="1371600" lvl="2" indent="-355600" algn="l">
              <a:lnSpc>
                <a:spcPct val="100000"/>
              </a:lnSpc>
              <a:spcBef>
                <a:spcPts val="500"/>
              </a:spcBef>
              <a:spcAft>
                <a:spcPts val="0"/>
              </a:spcAft>
              <a:buSzPts val="2000"/>
              <a:buChar char="•"/>
              <a:defRPr/>
            </a:lvl3pPr>
            <a:lvl4pPr marL="1828800" lvl="3" indent="-342900" algn="l">
              <a:lnSpc>
                <a:spcPct val="100000"/>
              </a:lnSpc>
              <a:spcBef>
                <a:spcPts val="500"/>
              </a:spcBef>
              <a:spcAft>
                <a:spcPts val="0"/>
              </a:spcAft>
              <a:buSzPts val="1800"/>
              <a:buChar char="•"/>
              <a:defRPr/>
            </a:lvl4pPr>
            <a:lvl5pPr marL="2286000" lvl="4" indent="-342900" algn="l">
              <a:lnSpc>
                <a:spcPct val="100000"/>
              </a:lnSpc>
              <a:spcBef>
                <a:spcPts val="500"/>
              </a:spcBef>
              <a:spcAft>
                <a:spcPts val="0"/>
              </a:spcAft>
              <a:buSzPts val="1800"/>
              <a:buChar char="•"/>
              <a:defRPr/>
            </a:lvl5pPr>
            <a:lvl6pPr marL="2743200" lvl="5" indent="-342900" algn="l">
              <a:lnSpc>
                <a:spcPct val="90000"/>
              </a:lnSpc>
              <a:spcBef>
                <a:spcPts val="500"/>
              </a:spcBef>
              <a:spcAft>
                <a:spcPts val="0"/>
              </a:spcAft>
              <a:buSzPts val="1800"/>
              <a:buChar char="•"/>
              <a:defRPr/>
            </a:lvl6pPr>
            <a:lvl7pPr marL="3200400" lvl="6" indent="-342900" algn="l">
              <a:lnSpc>
                <a:spcPct val="90000"/>
              </a:lnSpc>
              <a:spcBef>
                <a:spcPts val="500"/>
              </a:spcBef>
              <a:spcAft>
                <a:spcPts val="0"/>
              </a:spcAft>
              <a:buSzPts val="1800"/>
              <a:buChar char="•"/>
              <a:defRPr/>
            </a:lvl7pPr>
            <a:lvl8pPr marL="3657600" lvl="7" indent="-342900" algn="l">
              <a:lnSpc>
                <a:spcPct val="90000"/>
              </a:lnSpc>
              <a:spcBef>
                <a:spcPts val="500"/>
              </a:spcBef>
              <a:spcAft>
                <a:spcPts val="0"/>
              </a:spcAft>
              <a:buSzPts val="1800"/>
              <a:buChar char="•"/>
              <a:defRPr/>
            </a:lvl8pPr>
            <a:lvl9pPr marL="4114800" lvl="8" indent="-342900" algn="l">
              <a:lnSpc>
                <a:spcPct val="90000"/>
              </a:lnSpc>
              <a:spcBef>
                <a:spcPts val="500"/>
              </a:spcBef>
              <a:spcAft>
                <a:spcPts val="0"/>
              </a:spcAft>
              <a:buSzPts val="1800"/>
              <a:buChar char="•"/>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Three Column">
  <p:cSld name="5_Three Column">
    <p:bg>
      <p:bgPr>
        <a:solidFill>
          <a:schemeClr val="lt1"/>
        </a:solidFill>
        <a:effectLst/>
      </p:bgPr>
    </p:bg>
    <p:spTree>
      <p:nvGrpSpPr>
        <p:cNvPr id="1" name="Shape 85"/>
        <p:cNvGrpSpPr/>
        <p:nvPr/>
      </p:nvGrpSpPr>
      <p:grpSpPr>
        <a:xfrm>
          <a:off x="0" y="0"/>
          <a:ext cx="0" cy="0"/>
          <a:chOff x="0" y="0"/>
          <a:chExt cx="0" cy="0"/>
        </a:xfrm>
      </p:grpSpPr>
      <p:sp>
        <p:nvSpPr>
          <p:cNvPr id="86" name="Google Shape;86;p59"/>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grpSp>
        <p:nvGrpSpPr>
          <p:cNvPr id="87" name="Google Shape;87;p59"/>
          <p:cNvGrpSpPr/>
          <p:nvPr/>
        </p:nvGrpSpPr>
        <p:grpSpPr>
          <a:xfrm>
            <a:off x="4064087" y="1445960"/>
            <a:ext cx="4085857" cy="4975357"/>
            <a:chOff x="4064087" y="1445943"/>
            <a:chExt cx="4085857" cy="5435173"/>
          </a:xfrm>
        </p:grpSpPr>
        <p:cxnSp>
          <p:nvCxnSpPr>
            <p:cNvPr id="88" name="Google Shape;88;p59"/>
            <p:cNvCxnSpPr/>
            <p:nvPr/>
          </p:nvCxnSpPr>
          <p:spPr>
            <a:xfrm>
              <a:off x="4064087" y="1447216"/>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89" name="Google Shape;89;p59"/>
            <p:cNvCxnSpPr/>
            <p:nvPr/>
          </p:nvCxnSpPr>
          <p:spPr>
            <a:xfrm>
              <a:off x="8149944" y="1445943"/>
              <a:ext cx="0" cy="5433900"/>
            </a:xfrm>
            <a:prstGeom prst="straightConnector1">
              <a:avLst/>
            </a:prstGeom>
            <a:noFill/>
            <a:ln w="9525" cap="flat" cmpd="sng">
              <a:solidFill>
                <a:srgbClr val="A5A5A5">
                  <a:alpha val="40000"/>
                </a:srgbClr>
              </a:solidFill>
              <a:prstDash val="solid"/>
              <a:miter lim="800000"/>
              <a:headEnd type="none" w="sm" len="sm"/>
              <a:tailEnd type="none" w="sm" len="sm"/>
            </a:ln>
          </p:spPr>
        </p:cxnSp>
      </p:grpSp>
      <p:sp>
        <p:nvSpPr>
          <p:cNvPr id="90" name="Google Shape;90;p59"/>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91" name="Google Shape;91;p59"/>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92" name="Google Shape;92;p59"/>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93" name="Google Shape;93;p59"/>
          <p:cNvCxnSpPr/>
          <p:nvPr/>
        </p:nvCxnSpPr>
        <p:spPr>
          <a:xfrm rot="10800000">
            <a:off x="-72300" y="2963640"/>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cxnSp>
        <p:nvCxnSpPr>
          <p:cNvPr id="94" name="Google Shape;94;p59"/>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95" name="Google Shape;95;p59"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96" name="Google Shape;96;p59"/>
          <p:cNvSpPr txBox="1">
            <a:spLocks noGrp="1"/>
          </p:cNvSpPr>
          <p:nvPr>
            <p:ph type="body" idx="1"/>
          </p:nvPr>
        </p:nvSpPr>
        <p:spPr>
          <a:xfrm>
            <a:off x="419944"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7" name="Google Shape;97;p59"/>
          <p:cNvSpPr txBox="1">
            <a:spLocks noGrp="1"/>
          </p:cNvSpPr>
          <p:nvPr>
            <p:ph type="body" idx="2"/>
          </p:nvPr>
        </p:nvSpPr>
        <p:spPr>
          <a:xfrm>
            <a:off x="419944"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59"/>
          <p:cNvSpPr txBox="1">
            <a:spLocks noGrp="1"/>
          </p:cNvSpPr>
          <p:nvPr>
            <p:ph type="body" idx="3"/>
          </p:nvPr>
        </p:nvSpPr>
        <p:spPr>
          <a:xfrm>
            <a:off x="4657492" y="2150921"/>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9" name="Google Shape;99;p59"/>
          <p:cNvSpPr txBox="1">
            <a:spLocks noGrp="1"/>
          </p:cNvSpPr>
          <p:nvPr>
            <p:ph type="body" idx="4"/>
          </p:nvPr>
        </p:nvSpPr>
        <p:spPr>
          <a:xfrm>
            <a:off x="4657492" y="191763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59"/>
          <p:cNvSpPr txBox="1">
            <a:spLocks noGrp="1"/>
          </p:cNvSpPr>
          <p:nvPr>
            <p:ph type="body" idx="5"/>
          </p:nvPr>
        </p:nvSpPr>
        <p:spPr>
          <a:xfrm>
            <a:off x="8736843" y="2148774"/>
            <a:ext cx="2855100" cy="3408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2000"/>
              <a:buNone/>
              <a:defRPr sz="20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1" name="Google Shape;101;p59"/>
          <p:cNvSpPr txBox="1">
            <a:spLocks noGrp="1"/>
          </p:cNvSpPr>
          <p:nvPr>
            <p:ph type="body" idx="6"/>
          </p:nvPr>
        </p:nvSpPr>
        <p:spPr>
          <a:xfrm>
            <a:off x="8736843" y="1915490"/>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000"/>
              <a:buNone/>
              <a:defRPr sz="1000">
                <a:solidFill>
                  <a:schemeClr val="dk1"/>
                </a:solidFill>
                <a:latin typeface="Poppins"/>
                <a:ea typeface="Poppins"/>
                <a:cs typeface="Poppins"/>
                <a:sym typeface="Poppins"/>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2" name="Google Shape;102;p59"/>
          <p:cNvSpPr txBox="1">
            <a:spLocks noGrp="1"/>
          </p:cNvSpPr>
          <p:nvPr>
            <p:ph type="body" idx="7"/>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03" name="Google Shape;103;p59"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2_Blank-Lavender">
  <p:cSld name="12_Blank-Lavender">
    <p:bg>
      <p:bgPr>
        <a:solidFill>
          <a:srgbClr val="F1EEFF"/>
        </a:solidFill>
        <a:effectLst/>
      </p:bgPr>
    </p:bg>
    <p:spTree>
      <p:nvGrpSpPr>
        <p:cNvPr id="1" name="Shape 104"/>
        <p:cNvGrpSpPr/>
        <p:nvPr/>
      </p:nvGrpSpPr>
      <p:grpSpPr>
        <a:xfrm>
          <a:off x="0" y="0"/>
          <a:ext cx="0" cy="0"/>
          <a:chOff x="0" y="0"/>
          <a:chExt cx="0" cy="0"/>
        </a:xfrm>
      </p:grpSpPr>
      <p:sp>
        <p:nvSpPr>
          <p:cNvPr id="105" name="Google Shape;105;p56"/>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sp>
        <p:nvSpPr>
          <p:cNvPr id="106" name="Google Shape;106;p56"/>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07" name="Google Shape;107;p56"/>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08" name="Google Shape;108;p56"/>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pic>
        <p:nvPicPr>
          <p:cNvPr id="109" name="Google Shape;109;p56"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10" name="Google Shape;110;p56"/>
          <p:cNvSpPr txBox="1">
            <a:spLocks noGrp="1"/>
          </p:cNvSpPr>
          <p:nvPr>
            <p:ph type="body" idx="1"/>
          </p:nvPr>
        </p:nvSpPr>
        <p:spPr>
          <a:xfrm>
            <a:off x="523876" y="45611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11" name="Google Shape;111;p56"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6_Text-Bullets">
  <p:cSld name="6_Text-Bullets">
    <p:bg>
      <p:bgPr>
        <a:solidFill>
          <a:schemeClr val="lt1"/>
        </a:solidFill>
        <a:effectLst/>
      </p:bgPr>
    </p:bg>
    <p:spTree>
      <p:nvGrpSpPr>
        <p:cNvPr id="1" name="Shape 112"/>
        <p:cNvGrpSpPr/>
        <p:nvPr/>
      </p:nvGrpSpPr>
      <p:grpSpPr>
        <a:xfrm>
          <a:off x="0" y="0"/>
          <a:ext cx="0" cy="0"/>
          <a:chOff x="0" y="0"/>
          <a:chExt cx="0" cy="0"/>
        </a:xfrm>
      </p:grpSpPr>
      <p:sp>
        <p:nvSpPr>
          <p:cNvPr id="113" name="Google Shape;113;p57"/>
          <p:cNvSpPr/>
          <p:nvPr/>
        </p:nvSpPr>
        <p:spPr>
          <a:xfrm>
            <a:off x="0" y="6421271"/>
            <a:ext cx="12192000" cy="4368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oppins"/>
              <a:ea typeface="Poppins"/>
              <a:cs typeface="Poppins"/>
              <a:sym typeface="Poppins"/>
            </a:endParaRPr>
          </a:p>
        </p:txBody>
      </p:sp>
      <p:cxnSp>
        <p:nvCxnSpPr>
          <p:cNvPr id="114" name="Google Shape;114;p57"/>
          <p:cNvCxnSpPr>
            <a:endCxn id="113" idx="0"/>
          </p:cNvCxnSpPr>
          <p:nvPr/>
        </p:nvCxnSpPr>
        <p:spPr>
          <a:xfrm>
            <a:off x="6096000" y="1447271"/>
            <a:ext cx="0" cy="497400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5" name="Google Shape;115;p57"/>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chemeClr val="lt1"/>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cxnSp>
        <p:nvCxnSpPr>
          <p:cNvPr id="116" name="Google Shape;116;p57"/>
          <p:cNvCxnSpPr/>
          <p:nvPr/>
        </p:nvCxnSpPr>
        <p:spPr>
          <a:xfrm rot="10800000">
            <a:off x="-72300" y="6421271"/>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sp>
        <p:nvSpPr>
          <p:cNvPr id="117" name="Google Shape;117;p57"/>
          <p:cNvSpPr txBox="1"/>
          <p:nvPr/>
        </p:nvSpPr>
        <p:spPr>
          <a:xfrm>
            <a:off x="5141259" y="6526835"/>
            <a:ext cx="1909500" cy="2307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00"/>
              <a:buFont typeface="Arial"/>
              <a:buNone/>
            </a:pPr>
            <a:r>
              <a:rPr lang="en-US" sz="900" b="0" i="0" u="none" strike="noStrike" cap="none">
                <a:solidFill>
                  <a:srgbClr val="EFEEFE"/>
                </a:solidFill>
                <a:latin typeface="Poppins"/>
                <a:ea typeface="Poppins"/>
                <a:cs typeface="Poppins"/>
                <a:sym typeface="Poppins"/>
              </a:rPr>
              <a:t>©2026 Moderne, Inc.</a:t>
            </a:r>
            <a:endParaRPr sz="900" b="0" i="0" u="none" strike="noStrike" cap="none">
              <a:solidFill>
                <a:srgbClr val="EFEEFE"/>
              </a:solidFill>
              <a:latin typeface="Poppins"/>
              <a:ea typeface="Poppins"/>
              <a:cs typeface="Poppins"/>
              <a:sym typeface="Poppins"/>
            </a:endParaRPr>
          </a:p>
        </p:txBody>
      </p:sp>
      <p:cxnSp>
        <p:nvCxnSpPr>
          <p:cNvPr id="118" name="Google Shape;118;p57"/>
          <p:cNvCxnSpPr/>
          <p:nvPr/>
        </p:nvCxnSpPr>
        <p:spPr>
          <a:xfrm rot="10800000">
            <a:off x="-72300" y="1445824"/>
            <a:ext cx="12264300" cy="0"/>
          </a:xfrm>
          <a:prstGeom prst="straightConnector1">
            <a:avLst/>
          </a:prstGeom>
          <a:noFill/>
          <a:ln w="9525" cap="flat" cmpd="sng">
            <a:solidFill>
              <a:srgbClr val="A5A5A5">
                <a:alpha val="40000"/>
              </a:srgbClr>
            </a:solidFill>
            <a:prstDash val="solid"/>
            <a:miter lim="800000"/>
            <a:headEnd type="none" w="sm" len="sm"/>
            <a:tailEnd type="none" w="sm" len="sm"/>
          </a:ln>
        </p:spPr>
      </p:cxnSp>
      <p:pic>
        <p:nvPicPr>
          <p:cNvPr id="119" name="Google Shape;119;p57" descr="Shape&#10;&#10;Description automatically generated with medium confidence"/>
          <p:cNvPicPr preferRelativeResize="0"/>
          <p:nvPr/>
        </p:nvPicPr>
        <p:blipFill rotWithShape="1">
          <a:blip r:embed="rId2">
            <a:alphaModFix/>
          </a:blip>
          <a:srcRect r="81307" b="-14127"/>
          <a:stretch/>
        </p:blipFill>
        <p:spPr>
          <a:xfrm>
            <a:off x="11592089" y="272005"/>
            <a:ext cx="431021" cy="393513"/>
          </a:xfrm>
          <a:prstGeom prst="rect">
            <a:avLst/>
          </a:prstGeom>
          <a:noFill/>
          <a:ln>
            <a:noFill/>
          </a:ln>
        </p:spPr>
      </p:pic>
      <p:sp>
        <p:nvSpPr>
          <p:cNvPr id="120" name="Google Shape;120;p57"/>
          <p:cNvSpPr txBox="1">
            <a:spLocks noGrp="1"/>
          </p:cNvSpPr>
          <p:nvPr>
            <p:ph type="body" idx="1"/>
          </p:nvPr>
        </p:nvSpPr>
        <p:spPr>
          <a:xfrm>
            <a:off x="419944" y="2242490"/>
            <a:ext cx="4983900" cy="36153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chemeClr val="dk1"/>
              </a:buClr>
              <a:buSzPts val="1800"/>
              <a:buNone/>
              <a:defRPr sz="18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1" name="Google Shape;121;p57"/>
          <p:cNvSpPr txBox="1">
            <a:spLocks noGrp="1"/>
          </p:cNvSpPr>
          <p:nvPr>
            <p:ph type="body" idx="2"/>
          </p:nvPr>
        </p:nvSpPr>
        <p:spPr>
          <a:xfrm>
            <a:off x="419944" y="2009207"/>
            <a:ext cx="2855100" cy="1830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Clr>
                <a:srgbClr val="2E42FF"/>
              </a:buClr>
              <a:buSzPts val="1000"/>
              <a:buNone/>
              <a:defRPr sz="1000">
                <a:solidFill>
                  <a:srgbClr val="2E42FF"/>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2" name="Google Shape;122;p57"/>
          <p:cNvSpPr txBox="1">
            <a:spLocks noGrp="1"/>
          </p:cNvSpPr>
          <p:nvPr>
            <p:ph type="body" idx="3"/>
          </p:nvPr>
        </p:nvSpPr>
        <p:spPr>
          <a:xfrm>
            <a:off x="6760782" y="2242490"/>
            <a:ext cx="5011200" cy="3615300"/>
          </a:xfrm>
          <a:prstGeom prst="rect">
            <a:avLst/>
          </a:prstGeom>
          <a:noFill/>
          <a:ln>
            <a:noFill/>
          </a:ln>
        </p:spPr>
        <p:txBody>
          <a:bodyPr spcFirstLastPara="1" wrap="square" lIns="91425" tIns="45700" rIns="91425" bIns="45700" anchor="t" anchorCtr="0">
            <a:normAutofit/>
          </a:bodyPr>
          <a:lstStyle>
            <a:lvl1pPr marL="457200" lvl="0" indent="-317500" algn="l">
              <a:lnSpc>
                <a:spcPct val="100000"/>
              </a:lnSpc>
              <a:spcBef>
                <a:spcPts val="1000"/>
              </a:spcBef>
              <a:spcAft>
                <a:spcPts val="0"/>
              </a:spcAft>
              <a:buClr>
                <a:srgbClr val="2E42FF"/>
              </a:buClr>
              <a:buSzPts val="1400"/>
              <a:buFont typeface="Arial"/>
              <a:buChar char="•"/>
              <a:defRPr sz="1400">
                <a:solidFill>
                  <a:schemeClr val="dk1"/>
                </a:solidFill>
              </a:defRPr>
            </a:lvl1pPr>
            <a:lvl2pPr marL="914400" lvl="1" indent="-304800" algn="ctr">
              <a:lnSpc>
                <a:spcPct val="100000"/>
              </a:lnSpc>
              <a:spcBef>
                <a:spcPts val="500"/>
              </a:spcBef>
              <a:spcAft>
                <a:spcPts val="0"/>
              </a:spcAft>
              <a:buClr>
                <a:schemeClr val="lt1"/>
              </a:buClr>
              <a:buSzPts val="1200"/>
              <a:buChar char="•"/>
              <a:defRPr sz="1200">
                <a:solidFill>
                  <a:schemeClr val="lt1"/>
                </a:solidFill>
              </a:defRPr>
            </a:lvl2pPr>
            <a:lvl3pPr marL="1371600" lvl="2" indent="-304800" algn="ctr">
              <a:lnSpc>
                <a:spcPct val="100000"/>
              </a:lnSpc>
              <a:spcBef>
                <a:spcPts val="500"/>
              </a:spcBef>
              <a:spcAft>
                <a:spcPts val="0"/>
              </a:spcAft>
              <a:buClr>
                <a:schemeClr val="lt1"/>
              </a:buClr>
              <a:buSzPts val="1200"/>
              <a:buChar char="•"/>
              <a:defRPr sz="1200">
                <a:solidFill>
                  <a:schemeClr val="lt1"/>
                </a:solidFill>
              </a:defRPr>
            </a:lvl3pPr>
            <a:lvl4pPr marL="1828800" lvl="3" indent="-304800" algn="ctr">
              <a:lnSpc>
                <a:spcPct val="100000"/>
              </a:lnSpc>
              <a:spcBef>
                <a:spcPts val="500"/>
              </a:spcBef>
              <a:spcAft>
                <a:spcPts val="0"/>
              </a:spcAft>
              <a:buClr>
                <a:schemeClr val="lt1"/>
              </a:buClr>
              <a:buSzPts val="1200"/>
              <a:buChar char="•"/>
              <a:defRPr sz="1200">
                <a:solidFill>
                  <a:schemeClr val="lt1"/>
                </a:solidFill>
              </a:defRPr>
            </a:lvl4pPr>
            <a:lvl5pPr marL="2286000" lvl="4" indent="-304800" algn="ctr">
              <a:lnSpc>
                <a:spcPct val="100000"/>
              </a:lnSpc>
              <a:spcBef>
                <a:spcPts val="500"/>
              </a:spcBef>
              <a:spcAft>
                <a:spcPts val="0"/>
              </a:spcAft>
              <a:buClr>
                <a:schemeClr val="lt1"/>
              </a:buClr>
              <a:buSzPts val="1200"/>
              <a:buChar char="•"/>
              <a:defRPr sz="1200">
                <a:solidFill>
                  <a:schemeClr val="lt1"/>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3" name="Google Shape;123;p57"/>
          <p:cNvSpPr txBox="1">
            <a:spLocks noGrp="1"/>
          </p:cNvSpPr>
          <p:nvPr>
            <p:ph type="body" idx="4"/>
          </p:nvPr>
        </p:nvSpPr>
        <p:spPr>
          <a:xfrm>
            <a:off x="523876" y="457384"/>
            <a:ext cx="7495800" cy="706200"/>
          </a:xfrm>
          <a:prstGeom prst="rect">
            <a:avLst/>
          </a:prstGeom>
          <a:noFill/>
          <a:ln>
            <a:noFill/>
          </a:ln>
        </p:spPr>
        <p:txBody>
          <a:bodyPr spcFirstLastPara="1" wrap="square" lIns="0" tIns="0" rIns="0" bIns="0" anchor="ctr" anchorCtr="0">
            <a:normAutofit/>
          </a:bodyPr>
          <a:lstStyle>
            <a:lvl1pPr marL="457200" lvl="0" indent="-228600" algn="l">
              <a:lnSpc>
                <a:spcPct val="100000"/>
              </a:lnSpc>
              <a:spcBef>
                <a:spcPts val="1000"/>
              </a:spcBef>
              <a:spcAft>
                <a:spcPts val="0"/>
              </a:spcAft>
              <a:buClr>
                <a:schemeClr val="dk1"/>
              </a:buClr>
              <a:buSzPts val="3000"/>
              <a:buNone/>
              <a:defRPr sz="3000">
                <a:solidFill>
                  <a:schemeClr val="dk1"/>
                </a:solidFill>
                <a:latin typeface="Poppins"/>
                <a:ea typeface="Poppins"/>
                <a:cs typeface="Poppins"/>
                <a:sym typeface="Poppins"/>
              </a:defRPr>
            </a:lvl1pPr>
            <a:lvl2pPr marL="914400" lvl="1" indent="-381000" algn="l">
              <a:lnSpc>
                <a:spcPct val="100000"/>
              </a:lnSpc>
              <a:spcBef>
                <a:spcPts val="500"/>
              </a:spcBef>
              <a:spcAft>
                <a:spcPts val="0"/>
              </a:spcAft>
              <a:buClr>
                <a:schemeClr val="dk1"/>
              </a:buClr>
              <a:buSzPts val="2400"/>
              <a:buChar char="•"/>
              <a:defRPr/>
            </a:lvl2pPr>
            <a:lvl3pPr marL="1371600" lvl="2" indent="-355600" algn="l">
              <a:lnSpc>
                <a:spcPct val="100000"/>
              </a:lnSpc>
              <a:spcBef>
                <a:spcPts val="500"/>
              </a:spcBef>
              <a:spcAft>
                <a:spcPts val="0"/>
              </a:spcAft>
              <a:buClr>
                <a:schemeClr val="dk1"/>
              </a:buClr>
              <a:buSzPts val="20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pic>
        <p:nvPicPr>
          <p:cNvPr id="124" name="Google Shape;124;p57" descr="A white letter on a black background&#10;&#10;AI-generated content may be incorrect."/>
          <p:cNvPicPr preferRelativeResize="0"/>
          <p:nvPr/>
        </p:nvPicPr>
        <p:blipFill rotWithShape="1">
          <a:blip r:embed="rId3">
            <a:alphaModFix/>
          </a:blip>
          <a:srcRect/>
          <a:stretch/>
        </p:blipFill>
        <p:spPr>
          <a:xfrm>
            <a:off x="387849" y="6522297"/>
            <a:ext cx="1300872" cy="229566"/>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6"/>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4400"/>
              <a:buFont typeface="Poppins"/>
              <a:buNone/>
              <a:defRPr sz="4400" b="0" i="0" u="none" strike="noStrike" cap="none">
                <a:solidFill>
                  <a:schemeClr val="dk1"/>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36"/>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chemeClr val="dk1"/>
                </a:solidFill>
                <a:latin typeface="Poppins"/>
                <a:ea typeface="Poppins"/>
                <a:cs typeface="Poppins"/>
                <a:sym typeface="Poppins"/>
              </a:defRPr>
            </a:lvl1pPr>
            <a:lvl2pPr marL="914400" marR="0" lvl="1" indent="-381000" algn="l" rtl="0">
              <a:lnSpc>
                <a:spcPct val="100000"/>
              </a:lnSpc>
              <a:spcBef>
                <a:spcPts val="500"/>
              </a:spcBef>
              <a:spcAft>
                <a:spcPts val="0"/>
              </a:spcAft>
              <a:buClr>
                <a:schemeClr val="dk1"/>
              </a:buClr>
              <a:buSzPts val="2400"/>
              <a:buFont typeface="Arial"/>
              <a:buChar char="•"/>
              <a:defRPr sz="2400" b="0" i="0" u="none" strike="noStrike" cap="none">
                <a:solidFill>
                  <a:schemeClr val="dk1"/>
                </a:solidFill>
                <a:latin typeface="Poppins"/>
                <a:ea typeface="Poppins"/>
                <a:cs typeface="Poppins"/>
                <a:sym typeface="Poppins"/>
              </a:defRPr>
            </a:lvl2pPr>
            <a:lvl3pPr marL="1371600" marR="0" lvl="2" indent="-355600" algn="l" rtl="0">
              <a:lnSpc>
                <a:spcPct val="100000"/>
              </a:lnSpc>
              <a:spcBef>
                <a:spcPts val="500"/>
              </a:spcBef>
              <a:spcAft>
                <a:spcPts val="0"/>
              </a:spcAft>
              <a:buClr>
                <a:schemeClr val="dk1"/>
              </a:buClr>
              <a:buSzPts val="2000"/>
              <a:buFont typeface="Arial"/>
              <a:buChar char="•"/>
              <a:defRPr sz="2000" b="0" i="0" u="none" strike="noStrike" cap="none">
                <a:solidFill>
                  <a:schemeClr val="dk1"/>
                </a:solidFill>
                <a:latin typeface="Poppins"/>
                <a:ea typeface="Poppins"/>
                <a:cs typeface="Poppins"/>
                <a:sym typeface="Poppins"/>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Poppins"/>
                <a:ea typeface="Poppins"/>
                <a:cs typeface="Poppins"/>
                <a:sym typeface="Poppins"/>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3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3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98F"/>
                </a:solidFill>
                <a:latin typeface="Poppins"/>
                <a:ea typeface="Poppins"/>
                <a:cs typeface="Poppins"/>
                <a:sym typeface="Poppi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3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98F"/>
                </a:solidFill>
                <a:latin typeface="Poppins"/>
                <a:ea typeface="Poppins"/>
                <a:cs typeface="Poppins"/>
                <a:sym typeface="Poppins"/>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2" r:id="rId3"/>
    <p:sldLayoutId id="2147483653" r:id="rId4"/>
    <p:sldLayoutId id="2147483654" r:id="rId5"/>
    <p:sldLayoutId id="2147483655" r:id="rId6"/>
    <p:sldLayoutId id="2147483656" r:id="rId7"/>
    <p:sldLayoutId id="2147483657" r:id="rId8"/>
    <p:sldLayoutId id="2147483658"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 Id="rId16" Type="http://schemas.openxmlformats.org/officeDocument/2006/relationships/image" Target="../media/image21.png"/><Relationship Id="rId17" Type="http://schemas.openxmlformats.org/officeDocument/2006/relationships/image" Target="../media/image22.png"/><Relationship Id="rId18" Type="http://schemas.openxmlformats.org/officeDocument/2006/relationships/image" Target="../media/image23.png"/><Relationship Id="rId19" Type="http://schemas.openxmlformats.org/officeDocument/2006/relationships/image" Target="../media/image24.png"/><Relationship Id="rId20" Type="http://schemas.openxmlformats.org/officeDocument/2006/relationships/image" Target="../media/image25.png"/><Relationship Id="rId21" Type="http://schemas.openxmlformats.org/officeDocument/2006/relationships/image" Target="../media/image26.png"/><Relationship Id="rId22" Type="http://schemas.openxmlformats.org/officeDocument/2006/relationships/image" Target="../media/image27.png"/><Relationship Id="rId23" Type="http://schemas.openxmlformats.org/officeDocument/2006/relationships/image" Target="../media/image28.png"/><Relationship Id="rId24" Type="http://schemas.openxmlformats.org/officeDocument/2006/relationships/image" Target="../media/image29.png"/><Relationship Id="rId25" Type="http://schemas.openxmlformats.org/officeDocument/2006/relationships/image" Target="../media/image30.png"/><Relationship Id="rId26" Type="http://schemas.openxmlformats.org/officeDocument/2006/relationships/image" Target="../media/image31.png"/><Relationship Id="rId27" Type="http://schemas.openxmlformats.org/officeDocument/2006/relationships/image" Target="../media/image32.png"/><Relationship Id="rId28"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1"/>
          <p:cNvSpPr txBox="1">
            <a:spLocks noGrp="1"/>
          </p:cNvSpPr>
          <p:nvPr>
            <p:ph type="body" idx="1"/>
          </p:nvPr>
        </p:nvSpPr>
        <p:spPr>
          <a:xfrm>
            <a:off x="523875" y="2907370"/>
            <a:ext cx="4084702" cy="1946700"/>
          </a:xfrm>
          <a:prstGeom prst="rect">
            <a:avLst/>
          </a:prstGeom>
          <a:noFill/>
          <a:ln>
            <a:noFill/>
          </a:ln>
        </p:spPr>
        <p:txBody>
          <a:bodyPr spcFirstLastPara="1" wrap="square" lIns="0" tIns="0" rIns="0" bIns="0" anchor="t" anchorCtr="0">
            <a:noAutofit/>
          </a:bodyPr>
          <a:lstStyle/>
          <a:p>
            <a:pPr marL="0" lvl="0" indent="0" algn="l" rtl="0">
              <a:lnSpc>
                <a:spcPct val="100000"/>
              </a:lnSpc>
              <a:spcBef>
                <a:spcPts val="0"/>
              </a:spcBef>
              <a:spcAft>
                <a:spcPts val="0"/>
              </a:spcAft>
              <a:buSzPts val="3000"/>
              <a:buNone/>
            </a:pPr>
            <a:r>
              <a:rPr lang="en-US" sz="3600" dirty="0"/>
              <a:t>{{Customer}} and Moderne</a:t>
            </a:r>
            <a:endParaRPr sz="3600" dirty="0"/>
          </a:p>
        </p:txBody>
      </p:sp>
      <p:sp>
        <p:nvSpPr>
          <p:cNvPr id="131" name="Google Shape;131;p1"/>
          <p:cNvSpPr txBox="1">
            <a:spLocks noGrp="1"/>
          </p:cNvSpPr>
          <p:nvPr>
            <p:ph type="body" idx="3"/>
          </p:nvPr>
        </p:nvSpPr>
        <p:spPr>
          <a:xfrm>
            <a:off x="523876" y="6012180"/>
            <a:ext cx="4388660" cy="528207"/>
          </a:xfrm>
          <a:prstGeom prst="rect">
            <a:avLst/>
          </a:prstGeom>
          <a:noFill/>
          <a:ln>
            <a:noFill/>
          </a:ln>
        </p:spPr>
        <p:txBody>
          <a:bodyPr spcFirstLastPara="1" wrap="square" lIns="0" tIns="0" rIns="0" bIns="0" anchor="t" anchorCtr="0">
            <a:normAutofit/>
          </a:bodyPr>
          <a:lstStyle/>
          <a:p>
            <a:pPr marL="0" lvl="0" indent="0" algn="l" rtl="0">
              <a:lnSpc>
                <a:spcPct val="100000"/>
              </a:lnSpc>
              <a:spcBef>
                <a:spcPts val="0"/>
              </a:spcBef>
              <a:spcAft>
                <a:spcPts val="0"/>
              </a:spcAft>
              <a:buClr>
                <a:schemeClr val="lt1"/>
              </a:buClr>
              <a:buSzPts val="1200"/>
              <a:buNone/>
            </a:pPr>
            <a:r>
              <a:rPr lang="en-US" dirty="0"/>
              <a:t>Proof of value, {{Month Year}}</a:t>
            </a:r>
            <a:endParaRPr dirty="0"/>
          </a:p>
        </p:txBody>
      </p:sp>
      <p:grpSp>
        <p:nvGrpSpPr>
          <p:cNvPr id="132" name="Google Shape;132;p1"/>
          <p:cNvGrpSpPr/>
          <p:nvPr/>
        </p:nvGrpSpPr>
        <p:grpSpPr>
          <a:xfrm>
            <a:off x="10042748" y="306453"/>
            <a:ext cx="2034531" cy="424628"/>
            <a:chOff x="5453618" y="-754380"/>
            <a:chExt cx="2034531" cy="424628"/>
          </a:xfrm>
        </p:grpSpPr>
        <p:sp>
          <p:nvSpPr>
            <p:cNvPr id="133" name="Google Shape;133;p1"/>
            <p:cNvSpPr/>
            <p:nvPr/>
          </p:nvSpPr>
          <p:spPr>
            <a:xfrm>
              <a:off x="5649428" y="-754380"/>
              <a:ext cx="1642912" cy="424628"/>
            </a:xfrm>
            <a:prstGeom prst="roundRect">
              <a:avLst>
                <a:gd name="adj" fmla="val 50000"/>
              </a:avLst>
            </a:prstGeom>
            <a:solidFill>
              <a:schemeClr val="dk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134" name="Google Shape;134;p1"/>
            <p:cNvSpPr txBox="1"/>
            <p:nvPr/>
          </p:nvSpPr>
          <p:spPr>
            <a:xfrm>
              <a:off x="5453618" y="-711323"/>
              <a:ext cx="2034531" cy="33851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600" b="1" i="0" u="none" strike="noStrike" cap="none">
                  <a:solidFill>
                    <a:schemeClr val="lt1"/>
                  </a:solidFill>
                  <a:latin typeface="Poppins SemiBold"/>
                  <a:ea typeface="Poppins SemiBold"/>
                  <a:cs typeface="Poppins SemiBold"/>
                  <a:sym typeface="Poppins SemiBold"/>
                </a:rPr>
                <a:t>moderne.ai</a:t>
              </a:r>
              <a:endParaRPr sz="1200" b="1" i="0" u="none" strike="noStrike" cap="none">
                <a:solidFill>
                  <a:schemeClr val="lt1"/>
                </a:solidFill>
                <a:latin typeface="Poppins SemiBold"/>
                <a:ea typeface="Poppins SemiBold"/>
                <a:cs typeface="Poppins SemiBold"/>
                <a:sym typeface="Poppins SemiBold"/>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Every number in this deck comes from {{N}} repositories worked on at once.</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3657600"/>
                <a:gridCol w="2011680"/>
                <a:gridCol w="2194560"/>
                <a:gridCol w="2194560"/>
              </a:tblGrid>
              <a:tr h="457200">
                <a:tc>
                  <a:txBody>
                    <a:bodyPr/>
                    <a:lstStyle/>
                    <a:p>
                      <a:r>
                        <a:rPr sz="1400" b="1"/>
                        <a:t>Language</a:t>
                      </a:r>
                    </a:p>
                  </a:txBody>
                  <a:tcPr/>
                </a:tc>
                <a:tc>
                  <a:txBody>
                    <a:bodyPr/>
                    <a:lstStyle/>
                    <a:p>
                      <a:r>
                        <a:rPr sz="1400" b="1"/>
                        <a:t>Repositories</a:t>
                      </a:r>
                    </a:p>
                  </a:txBody>
                  <a:tcPr/>
                </a:tc>
                <a:tc>
                  <a:txBody>
                    <a:bodyPr/>
                    <a:lstStyle/>
                    <a:p>
                      <a:r>
                        <a:rPr sz="1400" b="1"/>
                        <a:t>Lines of code</a:t>
                      </a:r>
                    </a:p>
                  </a:txBody>
                  <a:tcPr/>
                </a:tc>
                <a:tc>
                  <a:txBody>
                    <a:bodyPr/>
                    <a:lstStyle/>
                    <a:p>
                      <a:r>
                        <a:rPr sz="1400" b="1"/>
                        <a:t>Share of the code</a:t>
                      </a:r>
                    </a:p>
                  </a:txBody>
                  <a:tcPr/>
                </a:tc>
              </a:tr>
              <a:tr h="457200">
                <a:tc>
                  <a:txBody>
                    <a:bodyPr/>
                    <a:lstStyle/>
                    <a:p>
                      <a:r>
                        <a:rPr sz="1400" b="0"/>
                        <a:t>{{Java}}</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{{Kotlin}}</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{{YAML and other data formats}}</a:t>
                      </a:r>
                    </a:p>
                  </a:txBody>
                  <a:tcPr/>
                </a:tc>
                <a:tc>
                  <a:txBody>
                    <a:bodyPr/>
                    <a:lstStyle/>
                    <a:p>
                      <a:r>
                        <a:rPr sz="1400" b="0"/>
                        <a:t>{{n}}</a:t>
                      </a:r>
                    </a:p>
                  </a:txBody>
                  <a:tcPr/>
                </a:tc>
                <a:tc>
                  <a:txBody>
                    <a:bodyPr/>
                    <a:lstStyle/>
                    <a:p>
                      <a:r>
                        <a:rPr sz="1400" b="0"/>
                        <a:t>{{lines}}</a:t>
                      </a:r>
                    </a:p>
                  </a:txBody>
                  <a:tcPr/>
                </a:tc>
                <a:tc>
                  <a:txBody>
                    <a:bodyPr/>
                    <a:lstStyle/>
                    <a:p>
                      <a:r>
                        <a:rPr sz="1400" b="0"/>
                        <a:t>{{p}}%</a:t>
                      </a:r>
                    </a:p>
                  </a:txBody>
                  <a:tcPr/>
                </a:tc>
              </a:tr>
              <a:tr h="457200">
                <a:tc>
                  <a:txBody>
                    <a:bodyPr/>
                    <a:lstStyle/>
                    <a:p>
                      <a:r>
                        <a:rPr sz="1400" b="0"/>
                        <a:t>All</a:t>
                      </a:r>
                    </a:p>
                  </a:txBody>
                  <a:tcPr/>
                </a:tc>
                <a:tc>
                  <a:txBody>
                    <a:bodyPr/>
                    <a:lstStyle/>
                    <a:p>
                      <a:r>
                        <a:rPr sz="1400" b="0"/>
                        <a:t>{{N}}</a:t>
                      </a:r>
                    </a:p>
                  </a:txBody>
                  <a:tcPr/>
                </a:tc>
                <a:tc>
                  <a:txBody>
                    <a:bodyPr/>
                    <a:lstStyle/>
                    <a:p>
                      <a:r>
                        <a:rPr sz="1400" b="0"/>
                        <a:t>{{LOC}}</a:t>
                      </a:r>
                    </a:p>
                  </a:txBody>
                  <a:tcPr/>
                </a:tc>
                <a:tc>
                  <a:txBody>
                    <a:bodyPr/>
                    <a:lstStyle/>
                    <a:p>
                      <a:r>
                        <a:rPr sz="1400" b="0"/>
                        <a:t>100%</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first prompt was deliberately ordinary.</a:t>
            </a:r>
            <a:endParaRPr sz="3200" dirty="0"/>
          </a:p>
        </p:txBody>
      </p:sp>
      <p:sp>
        <p:nvSpPr>
          <p:cNvPr id="8" name="Command"/>
          <p:cNvSpPr/>
          <p:nvPr/>
        </p:nvSpPr>
        <p:spPr>
          <a:xfrm>
            <a:off x="1069848" y="3200400"/>
            <a:ext cx="5394960" cy="1124712"/>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r>
              <a:rPr sz="1300">
                <a:solidFill>
                  <a:srgbClr val="7ED39A"/>
                </a:solidFill>
                <a:latin typeface="Courier New"/>
              </a:rPr>
              <a:t>$ </a:t>
            </a:r>
            <a:r>
              <a:rPr sz="1300">
                <a:solidFill>
                  <a:srgbClr val="E6E9EF"/>
                </a:solidFill>
                <a:latin typeface="Courier New"/>
              </a:rPr>
              <a:t>mod {{agent}} chat ./quality \</a:t>
            </a:r>
          </a:p>
          <a:p>
            <a:pPr algn="l"/>
            <a:r>
              <a:rPr sz="1300">
                <a:solidFill>
                  <a:srgbClr val="E6E9EF"/>
                </a:solidFill>
                <a:latin typeface="Courier New"/>
              </a:rPr>
              <a:t>    --org "{{org}}" \</a:t>
            </a:r>
          </a:p>
          <a:p>
            <a:pPr algn="l"/>
            <a:r>
              <a:rPr sz="1300">
                <a:solidFill>
                  <a:srgbClr val="E6E9EF"/>
                </a:solidFill>
                <a:latin typeface="Courier New"/>
              </a:rPr>
              <a:t>    --prompt "Fix code quality issues"</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step's window at its first turn, where the agent searches for a recipe instead of opening files}}</a:t>
            </a:r>
          </a:p>
        </p:txBody>
      </p:sp>
    </p:spTree>
    <p:extLst>
      <p:ext uri="{BB962C8B-B14F-4D97-AF65-F5344CB8AC3E}">
        <p14:creationId xmlns:p14="http://schemas.microsoft.com/office/powerpoint/2010/main" val="25590627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{{One sentence on what this step did, with one number from the run.}}</a:t>
            </a:r>
            <a:endParaRPr sz="3200" dirty="0"/>
          </a:p>
        </p:txBody>
      </p:sp>
      <p:sp>
        <p:nvSpPr>
          <p:cNvPr id="8" name="Before file"/>
          <p:cNvSpPr txBox="1"/>
          <p:nvPr/>
        </p:nvSpPr>
        <p:spPr>
          <a:xfrm>
            <a:off x="1069848" y="2377440"/>
            <a:ext cx="4892040" cy="274320"/>
          </a:xfrm>
          <a:prstGeom prst="rect">
            <a:avLst/>
          </a:prstGeom>
          <a:noFill/>
        </p:spPr>
        <p:txBody>
          <a:bodyPr wrap="none" tIns="0" bIns="0" lIns="45720">
            <a:spAutoFit/>
          </a:bodyPr>
          <a:lstStyle/>
          <a:p>
            <a:r>
              <a:rPr sz="1100">
                <a:solidFill>
                  <a:srgbClr val="5B6375"/>
                </a:solidFill>
                <a:latin typeface="Courier New"/>
              </a:rPr>
              <a:t>{{repository}}: {{path}}  before</a:t>
            </a:r>
          </a:p>
        </p:txBody>
      </p:sp>
      <p:sp>
        <p:nvSpPr>
          <p:cNvPr id="9" name="After file"/>
          <p:cNvSpPr txBox="1"/>
          <p:nvPr/>
        </p:nvSpPr>
        <p:spPr>
          <a:xfrm>
            <a:off x="6236208" y="2377440"/>
            <a:ext cx="4892040" cy="274320"/>
          </a:xfrm>
          <a:prstGeom prst="rect">
            <a:avLst/>
          </a:prstGeom>
          <a:noFill/>
        </p:spPr>
        <p:txBody>
          <a:bodyPr wrap="none" tIns="0" bIns="0" lIns="45720">
            <a:spAutoFit/>
          </a:bodyPr>
          <a:lstStyle/>
          <a:p>
            <a:r>
              <a:rPr sz="1100">
                <a:solidFill>
                  <a:srgbClr val="5B6375"/>
                </a:solidFill>
                <a:latin typeface="Courier New"/>
              </a:rPr>
              <a:t>{{repository}}: {{path}}  after</a:t>
            </a:r>
          </a:p>
        </p:txBody>
      </p:sp>
      <p:sp>
        <p:nvSpPr>
          <p:cNvPr id="10" name="Before"/>
          <p:cNvSpPr/>
          <p:nvPr/>
        </p:nvSpPr>
        <p:spPr>
          <a:xfrm>
            <a:off x="1069848" y="2651760"/>
            <a:ext cx="4892040" cy="260604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F29E9E"/>
                </a:solidFill>
                <a:latin typeface="Courier New"/>
              </a:rPr>
              <a:t>- {{the lines the recipe removed}}</a:t>
            </a:r>
          </a:p>
          <a:p>
            <a:pPr algn="l"/>
            <a:r>
              <a:rPr sz="900">
                <a:solidFill>
                  <a:srgbClr val="E6E9EF"/>
                </a:solidFill>
                <a:latin typeface="Courier New"/>
              </a:rPr>
              <a:t>{{at most 12 lines}}</a:t>
            </a:r>
          </a:p>
        </p:txBody>
      </p:sp>
      <p:sp>
        <p:nvSpPr>
          <p:cNvPr id="11" name="After"/>
          <p:cNvSpPr/>
          <p:nvPr/>
        </p:nvSpPr>
        <p:spPr>
          <a:xfrm>
            <a:off x="6236208" y="2651760"/>
            <a:ext cx="4892040" cy="260604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9EE0A8"/>
                </a:solidFill>
                <a:latin typeface="Courier New"/>
              </a:rPr>
              <a:t>+ {{the lines the recipe added}}</a:t>
            </a:r>
          </a:p>
          <a:p>
            <a:pPr algn="l"/>
            <a:r>
              <a:rPr sz="900">
                <a:solidFill>
                  <a:srgbClr val="E6E9EF"/>
                </a:solidFill>
                <a:latin typeface="Courier New"/>
              </a:rPr>
              <a:t>{{at most 12 lines}}</a:t>
            </a:r>
          </a:p>
        </p:txBody>
      </p:sp>
      <p:sp>
        <p:nvSpPr>
          <p:cNvPr id="12" name="Reach"/>
          <p:cNvSpPr txBox="1"/>
          <p:nvPr/>
        </p:nvSpPr>
        <p:spPr>
          <a:xfrm>
            <a:off x="1069848" y="5349240"/>
            <a:ext cx="10058400" cy="320040"/>
          </a:xfrm>
          <a:prstGeom prst="rect">
            <a:avLst/>
          </a:prstGeom>
          <a:noFill/>
        </p:spPr>
        <p:txBody>
          <a:bodyPr wrap="square" tIns="0" bIns="0">
            <a:spAutoFit/>
          </a:bodyPr>
          <a:lstStyle/>
          <a:p>
            <a:r>
              <a:rPr sz="1400">
                <a:solidFill>
                  <a:srgbClr val="1F2A5A"/>
                </a:solidFill>
              </a:rPr>
              <a:t>{{n}} of {{N}} repositories changed, {{files}} files. {{k}} built and passed their own tests. {{p}} pull requests opened.</a:t>
            </a:r>
          </a:p>
        </p:txBody>
      </p:sp>
      <p:sp>
        <p:nvSpPr>
          <p:cNvPr id="13" name="Why"/>
          <p:cNvSpPr txBox="1"/>
          <p:nvPr/>
        </p:nvSpPr>
        <p:spPr>
          <a:xfrm>
            <a:off x="1069848" y="5687568"/>
            <a:ext cx="10058400" cy="320040"/>
          </a:xfrm>
          <a:prstGeom prst="rect">
            <a:avLst/>
          </a:prstGeom>
          <a:noFill/>
        </p:spPr>
        <p:txBody>
          <a:bodyPr wrap="square" tIns="0" bIns="0">
            <a:spAutoFit/>
          </a:bodyPr>
          <a:lstStyle/>
          <a:p>
            <a:r>
              <a:rPr sz="1300">
                <a:solidFill>
                  <a:srgbClr val="5B6375"/>
                </a:solidFill>
              </a:rPr>
              <a:t>{{One sentence, only when the step left part of a recipe's result out or wrote a recipe: what the gap was.}}</a:t>
            </a:r>
          </a:p>
        </p:txBody>
      </p:sp>
    </p:spTree>
    <p:extLst>
      <p:ext uri="{BB962C8B-B14F-4D97-AF65-F5344CB8AC3E}">
        <p14:creationId xmlns:p14="http://schemas.microsoft.com/office/powerpoint/2010/main" val="25590627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same prompt, asked never to stop, is a factory.</a:t>
            </a:r>
            <a:endParaRPr sz="3200" dirty="0"/>
          </a:p>
        </p:txBody>
      </p:sp>
      <p:sp>
        <p:nvSpPr>
          <p:cNvPr id="8" name="Command"/>
          <p:cNvSpPr/>
          <p:nvPr/>
        </p:nvSpPr>
        <p:spPr>
          <a:xfrm>
            <a:off x="1069848" y="3200400"/>
            <a:ext cx="5394960" cy="137160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r>
              <a:rPr sz="1300">
                <a:solidFill>
                  <a:srgbClr val="7ED39A"/>
                </a:solidFill>
                <a:latin typeface="Courier New"/>
              </a:rPr>
              <a:t>$ </a:t>
            </a:r>
            <a:r>
              <a:rPr sz="1300">
                <a:solidFill>
                  <a:srgbClr val="E6E9EF"/>
                </a:solidFill>
                <a:latin typeface="Courier New"/>
              </a:rPr>
              <a:t>mod {{agent}} chat ./quality-factory \</a:t>
            </a:r>
          </a:p>
          <a:p>
            <a:pPr algn="l"/>
            <a:r>
              <a:rPr sz="1300">
                <a:solidFill>
                  <a:srgbClr val="E6E9EF"/>
                </a:solidFill>
                <a:latin typeface="Courier New"/>
              </a:rPr>
              <a:t>    --org "{{org}}" \</a:t>
            </a:r>
          </a:p>
          <a:p>
            <a:pPr algn="l"/>
            <a:r>
              <a:rPr sz="1300">
                <a:solidFill>
                  <a:srgbClr val="E6E9EF"/>
                </a:solidFill>
                <a:latin typeface="Courier New"/>
              </a:rPr>
              <a:t>    --prompt "Be on guard for code quality issues</a:t>
            </a:r>
          </a:p>
          <a:p>
            <a:pPr algn="l"/>
            <a:r>
              <a:rPr sz="1300">
                <a:solidFill>
                  <a:srgbClr val="E6E9EF"/>
                </a:solidFill>
                <a:latin typeface="Courier New"/>
              </a:rPr>
              <a:t>      perpetually, fixing them as you find them"</a:t>
            </a:r>
          </a:p>
        </p:txBody>
      </p:sp>
      <p:sp>
        <p:nvSpPr>
          <p:cNvPr id="9" name="Screenshot placeholder"/>
          <p:cNvSpPr/>
          <p:nvPr/>
        </p:nvSpPr>
        <p:spPr>
          <a:xfrm>
            <a:off x="6784848" y="2377440"/>
            <a:ext cx="4343400" cy="3749039"/>
          </a:xfrm>
          <a:prstGeom prst="roundRect">
            <a:avLst>
              <a:gd name="adj" fmla="val 3000"/>
            </a:avLst>
          </a:prstGeom>
          <a:solidFill>
            <a:srgbClr val="F2F4F8"/>
          </a:solidFill>
          <a:ln w="19050">
            <a:solidFill>
              <a:srgbClr val="9AA3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a:solidFill>
                  <a:srgbClr val="5B6375"/>
                </a:solidFill>
              </a:rPr>
              <a:t>{{screenshot: the factory's window on its second pass, finding what the first pass left}}</a:t>
            </a:r>
          </a:p>
        </p:txBody>
      </p:sp>
    </p:spTree>
    <p:extLst>
      <p:ext uri="{BB962C8B-B14F-4D97-AF65-F5344CB8AC3E}">
        <p14:creationId xmlns:p14="http://schemas.microsoft.com/office/powerpoint/2010/main" val="25590627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{{One sentence on what this step did, with one number from the run.}}</a:t>
            </a:r>
            <a:endParaRPr sz="3200" dirty="0"/>
          </a:p>
        </p:txBody>
      </p:sp>
      <p:sp>
        <p:nvSpPr>
          <p:cNvPr id="8" name="Before file"/>
          <p:cNvSpPr txBox="1"/>
          <p:nvPr/>
        </p:nvSpPr>
        <p:spPr>
          <a:xfrm>
            <a:off x="1069848" y="2377440"/>
            <a:ext cx="4892040" cy="274320"/>
          </a:xfrm>
          <a:prstGeom prst="rect">
            <a:avLst/>
          </a:prstGeom>
          <a:noFill/>
        </p:spPr>
        <p:txBody>
          <a:bodyPr wrap="none" tIns="0" bIns="0" lIns="45720">
            <a:spAutoFit/>
          </a:bodyPr>
          <a:lstStyle/>
          <a:p>
            <a:r>
              <a:rPr sz="1100">
                <a:solidFill>
                  <a:srgbClr val="5B6375"/>
                </a:solidFill>
                <a:latin typeface="Courier New"/>
              </a:rPr>
              <a:t>{{repository}}: {{path}}  before</a:t>
            </a:r>
          </a:p>
        </p:txBody>
      </p:sp>
      <p:sp>
        <p:nvSpPr>
          <p:cNvPr id="9" name="After file"/>
          <p:cNvSpPr txBox="1"/>
          <p:nvPr/>
        </p:nvSpPr>
        <p:spPr>
          <a:xfrm>
            <a:off x="6236208" y="2377440"/>
            <a:ext cx="4892040" cy="274320"/>
          </a:xfrm>
          <a:prstGeom prst="rect">
            <a:avLst/>
          </a:prstGeom>
          <a:noFill/>
        </p:spPr>
        <p:txBody>
          <a:bodyPr wrap="none" tIns="0" bIns="0" lIns="45720">
            <a:spAutoFit/>
          </a:bodyPr>
          <a:lstStyle/>
          <a:p>
            <a:r>
              <a:rPr sz="1100">
                <a:solidFill>
                  <a:srgbClr val="5B6375"/>
                </a:solidFill>
                <a:latin typeface="Courier New"/>
              </a:rPr>
              <a:t>{{repository}}: {{path}}  after</a:t>
            </a:r>
          </a:p>
        </p:txBody>
      </p:sp>
      <p:sp>
        <p:nvSpPr>
          <p:cNvPr id="10" name="Before"/>
          <p:cNvSpPr/>
          <p:nvPr/>
        </p:nvSpPr>
        <p:spPr>
          <a:xfrm>
            <a:off x="1069848" y="2651760"/>
            <a:ext cx="4892040" cy="260604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F29E9E"/>
                </a:solidFill>
                <a:latin typeface="Courier New"/>
              </a:rPr>
              <a:t>- {{the lines the recipe removed}}</a:t>
            </a:r>
          </a:p>
          <a:p>
            <a:pPr algn="l"/>
            <a:r>
              <a:rPr sz="900">
                <a:solidFill>
                  <a:srgbClr val="E6E9EF"/>
                </a:solidFill>
                <a:latin typeface="Courier New"/>
              </a:rPr>
              <a:t>{{at most 12 lines}}</a:t>
            </a:r>
          </a:p>
        </p:txBody>
      </p:sp>
      <p:sp>
        <p:nvSpPr>
          <p:cNvPr id="11" name="After"/>
          <p:cNvSpPr/>
          <p:nvPr/>
        </p:nvSpPr>
        <p:spPr>
          <a:xfrm>
            <a:off x="6236208" y="2651760"/>
            <a:ext cx="4892040" cy="260604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9EE0A8"/>
                </a:solidFill>
                <a:latin typeface="Courier New"/>
              </a:rPr>
              <a:t>+ {{the lines the recipe added}}</a:t>
            </a:r>
          </a:p>
          <a:p>
            <a:pPr algn="l"/>
            <a:r>
              <a:rPr sz="900">
                <a:solidFill>
                  <a:srgbClr val="E6E9EF"/>
                </a:solidFill>
                <a:latin typeface="Courier New"/>
              </a:rPr>
              <a:t>{{at most 12 lines}}</a:t>
            </a:r>
          </a:p>
        </p:txBody>
      </p:sp>
      <p:sp>
        <p:nvSpPr>
          <p:cNvPr id="12" name="Reach"/>
          <p:cNvSpPr txBox="1"/>
          <p:nvPr/>
        </p:nvSpPr>
        <p:spPr>
          <a:xfrm>
            <a:off x="1069848" y="5349240"/>
            <a:ext cx="10058400" cy="320040"/>
          </a:xfrm>
          <a:prstGeom prst="rect">
            <a:avLst/>
          </a:prstGeom>
          <a:noFill/>
        </p:spPr>
        <p:txBody>
          <a:bodyPr wrap="square" tIns="0" bIns="0">
            <a:spAutoFit/>
          </a:bodyPr>
          <a:lstStyle/>
          <a:p>
            <a:r>
              <a:rPr sz="1400">
                <a:solidFill>
                  <a:srgbClr val="1F2A5A"/>
                </a:solidFill>
              </a:rPr>
              <a:t>{{n}} of {{N}} repositories changed, {{files}} files. {{k}} built and passed their own tests. {{p}} pull requests opened.</a:t>
            </a:r>
          </a:p>
        </p:txBody>
      </p:sp>
      <p:sp>
        <p:nvSpPr>
          <p:cNvPr id="13" name="Why"/>
          <p:cNvSpPr txBox="1"/>
          <p:nvPr/>
        </p:nvSpPr>
        <p:spPr>
          <a:xfrm>
            <a:off x="1069848" y="5687568"/>
            <a:ext cx="10058400" cy="320040"/>
          </a:xfrm>
          <a:prstGeom prst="rect">
            <a:avLst/>
          </a:prstGeom>
          <a:noFill/>
        </p:spPr>
        <p:txBody>
          <a:bodyPr wrap="square" tIns="0" bIns="0">
            <a:spAutoFit/>
          </a:bodyPr>
          <a:lstStyle/>
          <a:p>
            <a:r>
              <a:rPr sz="1300">
                <a:solidFill>
                  <a:srgbClr val="5B6375"/>
                </a:solidFill>
              </a:rPr>
              <a:t>{{One sentence, only when the step left part of a recipe's result out or wrote a recipe: what the gap was.}}</a:t>
            </a:r>
          </a:p>
        </p:txBody>
      </p:sp>
    </p:spTree>
    <p:extLst>
      <p:ext uri="{BB962C8B-B14F-4D97-AF65-F5344CB8AC3E}">
        <p14:creationId xmlns:p14="http://schemas.microsoft.com/office/powerpoint/2010/main" val="2559062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{{One sentence on what this step did, with one number from the run.}}</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r>
              <a:rPr sz="1300">
                <a:solidFill>
                  <a:srgbClr val="7ED39A"/>
                </a:solidFill>
                <a:latin typeface="Courier New"/>
              </a:rPr>
              <a:t>$ </a:t>
            </a:r>
            <a:r>
              <a:rPr sz="1300">
                <a:solidFill>
                  <a:srgbClr val="E6E9EF"/>
                </a:solidFill>
                <a:latin typeface="Courier New"/>
              </a:rPr>
              <a:t>mod {{agent}} chat ./{{objective-1}} --org "{{org}}" \</a:t>
            </a:r>
          </a:p>
          <a:p>
            <a:pPr algn="l"/>
            <a:r>
              <a:rPr sz="1300">
                <a:solidFill>
                  <a:srgbClr val="E6E9EF"/>
                </a:solidFill>
                <a:latin typeface="Courier New"/>
              </a:rPr>
              <a:t>    --prompt "{{Objective 1, as the customer said it}}"</a:t>
            </a:r>
          </a:p>
        </p:txBody>
      </p:sp>
      <p:sp>
        <p:nvSpPr>
          <p:cNvPr id="9" name="Before file"/>
          <p:cNvSpPr txBox="1"/>
          <p:nvPr/>
        </p:nvSpPr>
        <p:spPr>
          <a:xfrm>
            <a:off x="1069848" y="3383280"/>
            <a:ext cx="4892040" cy="274320"/>
          </a:xfrm>
          <a:prstGeom prst="rect">
            <a:avLst/>
          </a:prstGeom>
          <a:noFill/>
        </p:spPr>
        <p:txBody>
          <a:bodyPr wrap="none" tIns="0" bIns="0" lIns="45720">
            <a:spAutoFit/>
          </a:bodyPr>
          <a:lstStyle/>
          <a:p>
            <a:r>
              <a:rPr sz="1100">
                <a:solidFill>
                  <a:srgbClr val="5B6375"/>
                </a:solidFill>
                <a:latin typeface="Courier New"/>
              </a:rPr>
              <a:t>{{repository}}: {{path}}  before</a:t>
            </a:r>
          </a:p>
        </p:txBody>
      </p:sp>
      <p:sp>
        <p:nvSpPr>
          <p:cNvPr id="10" name="After file"/>
          <p:cNvSpPr txBox="1"/>
          <p:nvPr/>
        </p:nvSpPr>
        <p:spPr>
          <a:xfrm>
            <a:off x="6236208" y="3383280"/>
            <a:ext cx="4892040" cy="274320"/>
          </a:xfrm>
          <a:prstGeom prst="rect">
            <a:avLst/>
          </a:prstGeom>
          <a:noFill/>
        </p:spPr>
        <p:txBody>
          <a:bodyPr wrap="none" tIns="0" bIns="0" lIns="45720">
            <a:spAutoFit/>
          </a:bodyPr>
          <a:lstStyle/>
          <a:p>
            <a:r>
              <a:rPr sz="1100">
                <a:solidFill>
                  <a:srgbClr val="5B6375"/>
                </a:solidFill>
                <a:latin typeface="Courier New"/>
              </a:rPr>
              <a:t>{{repository}}: {{path}}  after</a:t>
            </a:r>
          </a:p>
        </p:txBody>
      </p:sp>
      <p:sp>
        <p:nvSpPr>
          <p:cNvPr id="11" name="Before"/>
          <p:cNvSpPr/>
          <p:nvPr/>
        </p:nvSpPr>
        <p:spPr>
          <a:xfrm>
            <a:off x="1069848" y="3657600"/>
            <a:ext cx="4892040" cy="173736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F29E9E"/>
                </a:solidFill>
                <a:latin typeface="Courier New"/>
              </a:rPr>
              <a:t>- {{the lines the recipe removed}}</a:t>
            </a:r>
          </a:p>
          <a:p>
            <a:pPr algn="l"/>
            <a:r>
              <a:rPr sz="900">
                <a:solidFill>
                  <a:srgbClr val="E6E9EF"/>
                </a:solidFill>
                <a:latin typeface="Courier New"/>
              </a:rPr>
              <a:t>{{at most 12 lines}}</a:t>
            </a:r>
          </a:p>
        </p:txBody>
      </p:sp>
      <p:sp>
        <p:nvSpPr>
          <p:cNvPr id="12" name="After"/>
          <p:cNvSpPr/>
          <p:nvPr/>
        </p:nvSpPr>
        <p:spPr>
          <a:xfrm>
            <a:off x="6236208" y="3657600"/>
            <a:ext cx="4892040" cy="173736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9EE0A8"/>
                </a:solidFill>
                <a:latin typeface="Courier New"/>
              </a:rPr>
              <a:t>+ {{the lines the recipe added}}</a:t>
            </a:r>
          </a:p>
          <a:p>
            <a:pPr algn="l"/>
            <a:r>
              <a:rPr sz="900">
                <a:solidFill>
                  <a:srgbClr val="E6E9EF"/>
                </a:solidFill>
                <a:latin typeface="Courier New"/>
              </a:rPr>
              <a:t>{{at most 12 lines}}</a:t>
            </a:r>
          </a:p>
        </p:txBody>
      </p:sp>
      <p:sp>
        <p:nvSpPr>
          <p:cNvPr id="13" name="Reach"/>
          <p:cNvSpPr txBox="1"/>
          <p:nvPr/>
        </p:nvSpPr>
        <p:spPr>
          <a:xfrm>
            <a:off x="1069848" y="5486400"/>
            <a:ext cx="10058400" cy="320040"/>
          </a:xfrm>
          <a:prstGeom prst="rect">
            <a:avLst/>
          </a:prstGeom>
          <a:noFill/>
        </p:spPr>
        <p:txBody>
          <a:bodyPr wrap="square" tIns="0" bIns="0">
            <a:spAutoFit/>
          </a:bodyPr>
          <a:lstStyle/>
          <a:p>
            <a:r>
              <a:rPr sz="1400">
                <a:solidFill>
                  <a:srgbClr val="1F2A5A"/>
                </a:solidFill>
              </a:rPr>
              <a:t>{{n}} of {{N}} repositories changed, {{files}} files. {{k}} built and passed their own tests. {{p}} pull requests opened.</a:t>
            </a:r>
          </a:p>
        </p:txBody>
      </p:sp>
      <p:sp>
        <p:nvSpPr>
          <p:cNvPr id="14" name="Why"/>
          <p:cNvSpPr txBox="1"/>
          <p:nvPr/>
        </p:nvSpPr>
        <p:spPr>
          <a:xfrm>
            <a:off x="1069848" y="5824728"/>
            <a:ext cx="10058400" cy="320040"/>
          </a:xfrm>
          <a:prstGeom prst="rect">
            <a:avLst/>
          </a:prstGeom>
          <a:noFill/>
        </p:spPr>
        <p:txBody>
          <a:bodyPr wrap="square" tIns="0" bIns="0">
            <a:spAutoFit/>
          </a:bodyPr>
          <a:lstStyle/>
          <a:p>
            <a:r>
              <a:rPr sz="1300">
                <a:solidFill>
                  <a:srgbClr val="5B6375"/>
                </a:solidFill>
              </a:rPr>
              <a:t>{{One sentence, only when the step left part of a recipe's result out or wrote a recipe: what the gap was.}}</a:t>
            </a:r>
          </a:p>
        </p:txBody>
      </p:sp>
    </p:spTree>
    <p:extLst>
      <p:ext uri="{BB962C8B-B14F-4D97-AF65-F5344CB8AC3E}">
        <p14:creationId xmlns:p14="http://schemas.microsoft.com/office/powerpoint/2010/main" val="25590627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{{One sentence on what this step did, with one number from the run.}}</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r>
              <a:rPr sz="1300">
                <a:solidFill>
                  <a:srgbClr val="7ED39A"/>
                </a:solidFill>
                <a:latin typeface="Courier New"/>
              </a:rPr>
              <a:t>$ </a:t>
            </a:r>
            <a:r>
              <a:rPr sz="1300">
                <a:solidFill>
                  <a:srgbClr val="E6E9EF"/>
                </a:solidFill>
                <a:latin typeface="Courier New"/>
              </a:rPr>
              <a:t>mod {{agent}} chat ./{{objective-2}} --org "{{org}}" \</a:t>
            </a:r>
          </a:p>
          <a:p>
            <a:pPr algn="l"/>
            <a:r>
              <a:rPr sz="1300">
                <a:solidFill>
                  <a:srgbClr val="E6E9EF"/>
                </a:solidFill>
                <a:latin typeface="Courier New"/>
              </a:rPr>
              <a:t>    --prompt "{{Objective 2, as the customer said it}}"</a:t>
            </a:r>
          </a:p>
        </p:txBody>
      </p:sp>
      <p:sp>
        <p:nvSpPr>
          <p:cNvPr id="9" name="Before file"/>
          <p:cNvSpPr txBox="1"/>
          <p:nvPr/>
        </p:nvSpPr>
        <p:spPr>
          <a:xfrm>
            <a:off x="1069848" y="3383280"/>
            <a:ext cx="4892040" cy="274320"/>
          </a:xfrm>
          <a:prstGeom prst="rect">
            <a:avLst/>
          </a:prstGeom>
          <a:noFill/>
        </p:spPr>
        <p:txBody>
          <a:bodyPr wrap="none" tIns="0" bIns="0" lIns="45720">
            <a:spAutoFit/>
          </a:bodyPr>
          <a:lstStyle/>
          <a:p>
            <a:r>
              <a:rPr sz="1100">
                <a:solidFill>
                  <a:srgbClr val="5B6375"/>
                </a:solidFill>
                <a:latin typeface="Courier New"/>
              </a:rPr>
              <a:t>{{repository}}: {{path}}  before</a:t>
            </a:r>
          </a:p>
        </p:txBody>
      </p:sp>
      <p:sp>
        <p:nvSpPr>
          <p:cNvPr id="10" name="After file"/>
          <p:cNvSpPr txBox="1"/>
          <p:nvPr/>
        </p:nvSpPr>
        <p:spPr>
          <a:xfrm>
            <a:off x="6236208" y="3383280"/>
            <a:ext cx="4892040" cy="274320"/>
          </a:xfrm>
          <a:prstGeom prst="rect">
            <a:avLst/>
          </a:prstGeom>
          <a:noFill/>
        </p:spPr>
        <p:txBody>
          <a:bodyPr wrap="none" tIns="0" bIns="0" lIns="45720">
            <a:spAutoFit/>
          </a:bodyPr>
          <a:lstStyle/>
          <a:p>
            <a:r>
              <a:rPr sz="1100">
                <a:solidFill>
                  <a:srgbClr val="5B6375"/>
                </a:solidFill>
                <a:latin typeface="Courier New"/>
              </a:rPr>
              <a:t>{{repository}}: {{path}}  after</a:t>
            </a:r>
          </a:p>
        </p:txBody>
      </p:sp>
      <p:sp>
        <p:nvSpPr>
          <p:cNvPr id="11" name="Before"/>
          <p:cNvSpPr/>
          <p:nvPr/>
        </p:nvSpPr>
        <p:spPr>
          <a:xfrm>
            <a:off x="1069848" y="3657600"/>
            <a:ext cx="4892040" cy="173736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F29E9E"/>
                </a:solidFill>
                <a:latin typeface="Courier New"/>
              </a:rPr>
              <a:t>- {{the lines the recipe removed}}</a:t>
            </a:r>
          </a:p>
          <a:p>
            <a:pPr algn="l"/>
            <a:r>
              <a:rPr sz="900">
                <a:solidFill>
                  <a:srgbClr val="E6E9EF"/>
                </a:solidFill>
                <a:latin typeface="Courier New"/>
              </a:rPr>
              <a:t>{{at most 12 lines}}</a:t>
            </a:r>
          </a:p>
        </p:txBody>
      </p:sp>
      <p:sp>
        <p:nvSpPr>
          <p:cNvPr id="12" name="After"/>
          <p:cNvSpPr/>
          <p:nvPr/>
        </p:nvSpPr>
        <p:spPr>
          <a:xfrm>
            <a:off x="6236208" y="3657600"/>
            <a:ext cx="4892040" cy="173736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9EE0A8"/>
                </a:solidFill>
                <a:latin typeface="Courier New"/>
              </a:rPr>
              <a:t>+ {{the lines the recipe added}}</a:t>
            </a:r>
          </a:p>
          <a:p>
            <a:pPr algn="l"/>
            <a:r>
              <a:rPr sz="900">
                <a:solidFill>
                  <a:srgbClr val="E6E9EF"/>
                </a:solidFill>
                <a:latin typeface="Courier New"/>
              </a:rPr>
              <a:t>{{at most 12 lines}}</a:t>
            </a:r>
          </a:p>
        </p:txBody>
      </p:sp>
      <p:sp>
        <p:nvSpPr>
          <p:cNvPr id="13" name="Reach"/>
          <p:cNvSpPr txBox="1"/>
          <p:nvPr/>
        </p:nvSpPr>
        <p:spPr>
          <a:xfrm>
            <a:off x="1069848" y="5486400"/>
            <a:ext cx="10058400" cy="320040"/>
          </a:xfrm>
          <a:prstGeom prst="rect">
            <a:avLst/>
          </a:prstGeom>
          <a:noFill/>
        </p:spPr>
        <p:txBody>
          <a:bodyPr wrap="square" tIns="0" bIns="0">
            <a:spAutoFit/>
          </a:bodyPr>
          <a:lstStyle/>
          <a:p>
            <a:r>
              <a:rPr sz="1400">
                <a:solidFill>
                  <a:srgbClr val="1F2A5A"/>
                </a:solidFill>
              </a:rPr>
              <a:t>{{n}} of {{N}} repositories changed, {{files}} files. {{k}} built and passed their own tests. {{p}} pull requests opened.</a:t>
            </a:r>
          </a:p>
        </p:txBody>
      </p:sp>
      <p:sp>
        <p:nvSpPr>
          <p:cNvPr id="14" name="Why"/>
          <p:cNvSpPr txBox="1"/>
          <p:nvPr/>
        </p:nvSpPr>
        <p:spPr>
          <a:xfrm>
            <a:off x="1069848" y="5824728"/>
            <a:ext cx="10058400" cy="320040"/>
          </a:xfrm>
          <a:prstGeom prst="rect">
            <a:avLst/>
          </a:prstGeom>
          <a:noFill/>
        </p:spPr>
        <p:txBody>
          <a:bodyPr wrap="square" tIns="0" bIns="0">
            <a:spAutoFit/>
          </a:bodyPr>
          <a:lstStyle/>
          <a:p>
            <a:r>
              <a:rPr sz="1300">
                <a:solidFill>
                  <a:srgbClr val="5B6375"/>
                </a:solidFill>
              </a:rPr>
              <a:t>{{One sentence, only when the step left part of a recipe's result out or wrote a recipe: what the gap was.}}</a:t>
            </a:r>
          </a:p>
        </p:txBody>
      </p:sp>
    </p:spTree>
    <p:extLst>
      <p:ext uri="{BB962C8B-B14F-4D97-AF65-F5344CB8AC3E}">
        <p14:creationId xmlns:p14="http://schemas.microsoft.com/office/powerpoint/2010/main" val="25590627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{{One sentence on what this step did, with one number from the run.}}</a:t>
            </a:r>
            <a:endParaRPr sz="3200" dirty="0"/>
          </a:p>
        </p:txBody>
      </p:sp>
      <p:sp>
        <p:nvSpPr>
          <p:cNvPr id="8" name="Command"/>
          <p:cNvSpPr/>
          <p:nvPr/>
        </p:nvSpPr>
        <p:spPr>
          <a:xfrm>
            <a:off x="1069848" y="2377440"/>
            <a:ext cx="10058400" cy="877824"/>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r>
              <a:rPr sz="1300">
                <a:solidFill>
                  <a:srgbClr val="7ED39A"/>
                </a:solidFill>
                <a:latin typeface="Courier New"/>
              </a:rPr>
              <a:t>$ </a:t>
            </a:r>
            <a:r>
              <a:rPr sz="1300">
                <a:solidFill>
                  <a:srgbClr val="E6E9EF"/>
                </a:solidFill>
                <a:latin typeface="Courier New"/>
              </a:rPr>
              <a:t>mod {{agent}} chat ./{{objective-3}} --org "{{org}}" \</a:t>
            </a:r>
          </a:p>
          <a:p>
            <a:pPr algn="l"/>
            <a:r>
              <a:rPr sz="1300">
                <a:solidFill>
                  <a:srgbClr val="E6E9EF"/>
                </a:solidFill>
                <a:latin typeface="Courier New"/>
              </a:rPr>
              <a:t>    --prompt "{{Objective 3, as the customer said it}}"</a:t>
            </a:r>
          </a:p>
        </p:txBody>
      </p:sp>
      <p:sp>
        <p:nvSpPr>
          <p:cNvPr id="9" name="Before file"/>
          <p:cNvSpPr txBox="1"/>
          <p:nvPr/>
        </p:nvSpPr>
        <p:spPr>
          <a:xfrm>
            <a:off x="1069848" y="3383280"/>
            <a:ext cx="4892040" cy="274320"/>
          </a:xfrm>
          <a:prstGeom prst="rect">
            <a:avLst/>
          </a:prstGeom>
          <a:noFill/>
        </p:spPr>
        <p:txBody>
          <a:bodyPr wrap="none" tIns="0" bIns="0" lIns="45720">
            <a:spAutoFit/>
          </a:bodyPr>
          <a:lstStyle/>
          <a:p>
            <a:r>
              <a:rPr sz="1100">
                <a:solidFill>
                  <a:srgbClr val="5B6375"/>
                </a:solidFill>
                <a:latin typeface="Courier New"/>
              </a:rPr>
              <a:t>{{repository}}: {{path}}  before</a:t>
            </a:r>
          </a:p>
        </p:txBody>
      </p:sp>
      <p:sp>
        <p:nvSpPr>
          <p:cNvPr id="10" name="After file"/>
          <p:cNvSpPr txBox="1"/>
          <p:nvPr/>
        </p:nvSpPr>
        <p:spPr>
          <a:xfrm>
            <a:off x="6236208" y="3383280"/>
            <a:ext cx="4892040" cy="274320"/>
          </a:xfrm>
          <a:prstGeom prst="rect">
            <a:avLst/>
          </a:prstGeom>
          <a:noFill/>
        </p:spPr>
        <p:txBody>
          <a:bodyPr wrap="none" tIns="0" bIns="0" lIns="45720">
            <a:spAutoFit/>
          </a:bodyPr>
          <a:lstStyle/>
          <a:p>
            <a:r>
              <a:rPr sz="1100">
                <a:solidFill>
                  <a:srgbClr val="5B6375"/>
                </a:solidFill>
                <a:latin typeface="Courier New"/>
              </a:rPr>
              <a:t>{{repository}}: {{path}}  after</a:t>
            </a:r>
          </a:p>
        </p:txBody>
      </p:sp>
      <p:sp>
        <p:nvSpPr>
          <p:cNvPr id="11" name="Before"/>
          <p:cNvSpPr/>
          <p:nvPr/>
        </p:nvSpPr>
        <p:spPr>
          <a:xfrm>
            <a:off x="1069848" y="3657600"/>
            <a:ext cx="4892040" cy="173736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F29E9E"/>
                </a:solidFill>
                <a:latin typeface="Courier New"/>
              </a:rPr>
              <a:t>- {{the lines the recipe removed}}</a:t>
            </a:r>
          </a:p>
          <a:p>
            <a:pPr algn="l"/>
            <a:r>
              <a:rPr sz="900">
                <a:solidFill>
                  <a:srgbClr val="E6E9EF"/>
                </a:solidFill>
                <a:latin typeface="Courier New"/>
              </a:rPr>
              <a:t>{{at most 12 lines}}</a:t>
            </a:r>
          </a:p>
        </p:txBody>
      </p:sp>
      <p:sp>
        <p:nvSpPr>
          <p:cNvPr id="12" name="After"/>
          <p:cNvSpPr/>
          <p:nvPr/>
        </p:nvSpPr>
        <p:spPr>
          <a:xfrm>
            <a:off x="6236208" y="3657600"/>
            <a:ext cx="4892040" cy="1737360"/>
          </a:xfrm>
          <a:prstGeom prst="roundRect">
            <a:avLst>
              <a:gd name="adj" fmla="val 4000"/>
            </a:avLst>
          </a:prstGeom>
          <a:solidFill>
            <a:srgbClr val="1E232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r>
              <a:rPr sz="900">
                <a:solidFill>
                  <a:srgbClr val="E6E9EF"/>
                </a:solidFill>
                <a:latin typeface="Courier New"/>
              </a:rPr>
              <a:t>{{the hunk's context lines}}</a:t>
            </a:r>
          </a:p>
          <a:p>
            <a:pPr algn="l"/>
            <a:r>
              <a:rPr sz="900">
                <a:solidFill>
                  <a:srgbClr val="9EE0A8"/>
                </a:solidFill>
                <a:latin typeface="Courier New"/>
              </a:rPr>
              <a:t>+ {{the lines the recipe added}}</a:t>
            </a:r>
          </a:p>
          <a:p>
            <a:pPr algn="l"/>
            <a:r>
              <a:rPr sz="900">
                <a:solidFill>
                  <a:srgbClr val="E6E9EF"/>
                </a:solidFill>
                <a:latin typeface="Courier New"/>
              </a:rPr>
              <a:t>{{at most 12 lines}}</a:t>
            </a:r>
          </a:p>
        </p:txBody>
      </p:sp>
      <p:sp>
        <p:nvSpPr>
          <p:cNvPr id="13" name="Reach"/>
          <p:cNvSpPr txBox="1"/>
          <p:nvPr/>
        </p:nvSpPr>
        <p:spPr>
          <a:xfrm>
            <a:off x="1069848" y="5486400"/>
            <a:ext cx="10058400" cy="320040"/>
          </a:xfrm>
          <a:prstGeom prst="rect">
            <a:avLst/>
          </a:prstGeom>
          <a:noFill/>
        </p:spPr>
        <p:txBody>
          <a:bodyPr wrap="square" tIns="0" bIns="0">
            <a:spAutoFit/>
          </a:bodyPr>
          <a:lstStyle/>
          <a:p>
            <a:r>
              <a:rPr sz="1400">
                <a:solidFill>
                  <a:srgbClr val="1F2A5A"/>
                </a:solidFill>
              </a:rPr>
              <a:t>{{n}} of {{N}} repositories changed, {{files}} files. {{k}} built and passed their own tests. {{p}} pull requests opened.</a:t>
            </a:r>
          </a:p>
        </p:txBody>
      </p:sp>
      <p:sp>
        <p:nvSpPr>
          <p:cNvPr id="14" name="Why"/>
          <p:cNvSpPr txBox="1"/>
          <p:nvPr/>
        </p:nvSpPr>
        <p:spPr>
          <a:xfrm>
            <a:off x="1069848" y="5824728"/>
            <a:ext cx="10058400" cy="320040"/>
          </a:xfrm>
          <a:prstGeom prst="rect">
            <a:avLst/>
          </a:prstGeom>
          <a:noFill/>
        </p:spPr>
        <p:txBody>
          <a:bodyPr wrap="square" tIns="0" bIns="0">
            <a:spAutoFit/>
          </a:bodyPr>
          <a:lstStyle/>
          <a:p>
            <a:r>
              <a:rPr sz="1300">
                <a:solidFill>
                  <a:srgbClr val="5B6375"/>
                </a:solidFill>
              </a:rPr>
              <a:t>{{One sentence, only when the step left part of a recipe's result out or wrote a recipe: what the gap was.}}</a:t>
            </a:r>
          </a:p>
        </p:txBody>
      </p:sp>
    </p:spTree>
    <p:extLst>
      <p:ext uri="{BB962C8B-B14F-4D97-AF65-F5344CB8AC3E}">
        <p14:creationId xmlns:p14="http://schemas.microsoft.com/office/powerpoint/2010/main" val="25590627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agent gets better at this work by writing recipes, not by changing the model.</a:t>
            </a:r>
            <a:endParaRPr sz="3200" dirty="0"/>
          </a:p>
        </p:txBody>
      </p:sp>
      <p:sp>
        <p:nvSpPr>
          <p:cNvPr id="8" name="Rounded Rectangle 7"/>
          <p:cNvSpPr/>
          <p:nvPr/>
        </p:nvSpPr>
        <p:spPr>
          <a:xfrm>
            <a:off x="10698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An objective</a:t>
            </a:r>
          </a:p>
        </p:txBody>
      </p:sp>
      <p:sp>
        <p:nvSpPr>
          <p:cNvPr id="9" name="Right Arrow 8"/>
          <p:cNvSpPr/>
          <p:nvPr/>
        </p:nvSpPr>
        <p:spPr>
          <a:xfrm>
            <a:off x="27249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0" name="Rounded Rectangle 9"/>
          <p:cNvSpPr/>
          <p:nvPr/>
        </p:nvSpPr>
        <p:spPr>
          <a:xfrm>
            <a:off x="31843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Search the code</a:t>
            </a:r>
          </a:p>
        </p:txBody>
      </p:sp>
      <p:sp>
        <p:nvSpPr>
          <p:cNvPr id="11" name="Right Arrow 10"/>
          <p:cNvSpPr/>
          <p:nvPr/>
        </p:nvSpPr>
        <p:spPr>
          <a:xfrm>
            <a:off x="48394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2" name="Rounded Rectangle 11"/>
          <p:cNvSpPr/>
          <p:nvPr/>
        </p:nvSpPr>
        <p:spPr>
          <a:xfrm>
            <a:off x="52989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Run a recipe</a:t>
            </a:r>
          </a:p>
        </p:txBody>
      </p:sp>
      <p:sp>
        <p:nvSpPr>
          <p:cNvPr id="13" name="Right Arrow 12"/>
          <p:cNvSpPr/>
          <p:nvPr/>
        </p:nvSpPr>
        <p:spPr>
          <a:xfrm>
            <a:off x="695401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4" name="Rounded Rectangle 13"/>
          <p:cNvSpPr/>
          <p:nvPr/>
        </p:nvSpPr>
        <p:spPr>
          <a:xfrm>
            <a:off x="741349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Find what it missed</a:t>
            </a:r>
          </a:p>
        </p:txBody>
      </p:sp>
      <p:sp>
        <p:nvSpPr>
          <p:cNvPr id="15" name="Right Arrow 14"/>
          <p:cNvSpPr/>
          <p:nvPr/>
        </p:nvSpPr>
        <p:spPr>
          <a:xfrm>
            <a:off x="9068562" y="2926080"/>
            <a:ext cx="404622" cy="365760"/>
          </a:xfrm>
          <a:prstGeom prst="rightArrow">
            <a:avLst/>
          </a:prstGeom>
          <a:solidFill>
            <a:srgbClr val="3B4C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
            </a:r>
          </a:p>
        </p:txBody>
      </p:sp>
      <p:sp>
        <p:nvSpPr>
          <p:cNvPr id="16" name="Rounded Rectangle 15"/>
          <p:cNvSpPr/>
          <p:nvPr/>
        </p:nvSpPr>
        <p:spPr>
          <a:xfrm>
            <a:off x="9528048" y="2651760"/>
            <a:ext cx="1600200" cy="914400"/>
          </a:xfrm>
          <a:prstGeom prst="roundRect">
            <a:avLst/>
          </a:prstGeom>
          <a:solidFill>
            <a:srgbClr val="E8ECF6"/>
          </a:solidFill>
          <a:ln w="15875">
            <a:solidFill>
              <a:srgbClr val="1F2A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F2A5A"/>
                </a:solidFill>
              </a:rPr>
              <a:t>Write the recipe</a:t>
            </a:r>
          </a:p>
        </p:txBody>
      </p:sp>
      <p:sp>
        <p:nvSpPr>
          <p:cNvPr id="17" name="Left Arrow 16"/>
          <p:cNvSpPr/>
          <p:nvPr/>
        </p:nvSpPr>
        <p:spPr>
          <a:xfrm>
            <a:off x="1869948" y="3886200"/>
            <a:ext cx="8458200" cy="777240"/>
          </a:xfrm>
          <a:prstGeom prst="leftArrow">
            <a:avLst>
              <a:gd name="adj1" fmla="val 60000"/>
              <a:gd name="adj2" fmla="val 50000"/>
            </a:avLst>
          </a:prstGeom>
          <a:solidFill>
            <a:srgbClr val="F2F4F8"/>
          </a:solidFill>
          <a:ln w="15875">
            <a:solidFill>
              <a:srgbClr val="9AA3B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1F2A5A"/>
                </a:solidFill>
              </a:rPr>
              <a:t>The recipe runs everywhere, and the next pass starts with it</a:t>
            </a:r>
          </a:p>
        </p:txBody>
      </p:sp>
      <p:sp>
        <p:nvSpPr>
          <p:cNvPr id="18" name="Caption"/>
          <p:cNvSpPr txBox="1"/>
          <p:nvPr/>
        </p:nvSpPr>
        <p:spPr>
          <a:xfrm>
            <a:off x="1069848" y="4937760"/>
            <a:ext cx="10058400" cy="548640"/>
          </a:xfrm>
          <a:prstGeom prst="rect">
            <a:avLst/>
          </a:prstGeom>
          <a:noFill/>
        </p:spPr>
        <p:txBody>
          <a:bodyPr wrap="square" tIns="0" bIns="0">
            <a:spAutoFit/>
          </a:bodyPr>
          <a:lstStyle/>
          <a:p>
            <a:r>
              <a:rPr sz="1600">
                <a:solidFill>
                  <a:srgbClr val="1F2A5A"/>
                </a:solidFill>
              </a:rPr>
              <a:t>Recipes it could reach for: {{marketplace}} when the proof of value started, {{marketplace + w}} when it ended. Each of the {{w}} it wrote filled a gap no recipe covered.</a:t>
            </a:r>
          </a:p>
        </p:txBody>
      </p:sp>
    </p:spTree>
    <p:extLst>
      <p:ext uri="{BB962C8B-B14F-4D97-AF65-F5344CB8AC3E}">
        <p14:creationId xmlns:p14="http://schemas.microsoft.com/office/powerpoint/2010/main" val="25590627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The proof of value took {{hours}} of a person's time and {{dollars}} of agent usage.</a:t>
            </a:r>
            <a:endParaRPr sz="3200" dirty="0"/>
          </a:p>
        </p:txBody>
      </p:sp>
      <p:graphicFrame>
        <p:nvGraphicFramePr>
          <p:cNvPr id="8" name="Results table"/>
          <p:cNvGraphicFramePr>
            <a:graphicFrameLocks noGrp="1"/>
          </p:cNvGraphicFramePr>
          <p:nvPr/>
        </p:nvGraphicFramePr>
        <p:xfrm>
          <a:off x="1069848" y="2377440"/>
          <a:ext cx="10058400" cy="2743200"/>
        </p:xfrm>
        <a:graphic>
          <a:graphicData uri="http://schemas.openxmlformats.org/drawingml/2006/table">
            <a:tbl>
              <a:tblPr firstRow="1" bandRow="1">
                <a:tableStyleId>{5C22544A-7EE6-4342-B048-85BDC9FD1C3A}</a:tableStyleId>
              </a:tblPr>
              <a:tblGrid>
                <a:gridCol w="3474720"/>
                <a:gridCol w="1828800"/>
                <a:gridCol w="4754880"/>
              </a:tblGrid>
              <a:tr h="457200">
                <a:tc>
                  <a:txBody>
                    <a:bodyPr/>
                    <a:lstStyle/>
                    <a:p>
                      <a:r>
                        <a:rPr sz="1400" b="1"/>
                        <a:t>Measure</a:t>
                      </a:r>
                    </a:p>
                  </a:txBody>
                  <a:tcPr/>
                </a:tc>
                <a:tc>
                  <a:txBody>
                    <a:bodyPr/>
                    <a:lstStyle/>
                    <a:p>
                      <a:r>
                        <a:rPr sz="1400" b="1"/>
                        <a:t>Value</a:t>
                      </a:r>
                    </a:p>
                  </a:txBody>
                  <a:tcPr/>
                </a:tc>
                <a:tc>
                  <a:txBody>
                    <a:bodyPr/>
                    <a:lstStyle/>
                    <a:p>
                      <a:r>
                        <a:rPr sz="1400" b="1"/>
                        <a:t>Where it comes from</a:t>
                      </a:r>
                    </a:p>
                  </a:txBody>
                  <a:tcPr/>
                </a:tc>
              </a:tr>
              <a:tr h="457200">
                <a:tc>
                  <a:txBody>
                    <a:bodyPr/>
                    <a:lstStyle/>
                    <a:p>
                      <a:r>
                        <a:rPr sz="1400" b="0"/>
                        <a:t>Agent usage</a:t>
                      </a:r>
                    </a:p>
                  </a:txBody>
                  <a:tcPr/>
                </a:tc>
                <a:tc>
                  <a:txBody>
                    <a:bodyPr/>
                    <a:lstStyle/>
                    <a:p>
                      <a:r>
                        <a:rPr sz="1400" b="0"/>
                        <a:t>{{dollars}}</a:t>
                      </a:r>
                    </a:p>
                  </a:txBody>
                  <a:tcPr/>
                </a:tc>
                <a:tc>
                  <a:txBody>
                    <a:bodyPr/>
                    <a:lstStyle/>
                    <a:p>
                      <a:r>
                        <a:rPr sz="1400" b="0"/>
                        <a:t>The agents' own usage reports: this session and each step</a:t>
                      </a:r>
                    </a:p>
                  </a:txBody>
                  <a:tcPr/>
                </a:tc>
              </a:tr>
              <a:tr h="457200">
                <a:tc>
                  <a:txBody>
                    <a:bodyPr/>
                    <a:lstStyle/>
                    <a:p>
                      <a:r>
                        <a:rPr sz="1400" b="0"/>
                        <a:t>Wall-clock time</a:t>
                      </a:r>
                    </a:p>
                  </a:txBody>
                  <a:tcPr/>
                </a:tc>
                <a:tc>
                  <a:txBody>
                    <a:bodyPr/>
                    <a:lstStyle/>
                    <a:p>
                      <a:r>
                        <a:rPr sz="1400" b="0"/>
                        <a:t>{{hours:minutes}}</a:t>
                      </a:r>
                    </a:p>
                  </a:txBody>
                  <a:tcPr/>
                </a:tc>
                <a:tc>
                  <a:txBody>
                    <a:bodyPr/>
                    <a:lstStyle/>
                    <a:p>
                      <a:r>
                        <a:rPr sz="1400" b="0"/>
                        <a:t>This session's start to the filled deck</a:t>
                      </a:r>
                    </a:p>
                  </a:txBody>
                  <a:tcPr/>
                </a:tc>
              </a:tr>
              <a:tr h="457200">
                <a:tc>
                  <a:txBody>
                    <a:bodyPr/>
                    <a:lstStyle/>
                    <a:p>
                      <a:r>
                        <a:rPr sz="1400" b="0"/>
                        <a:t>A person's time</a:t>
                      </a:r>
                    </a:p>
                  </a:txBody>
                  <a:tcPr/>
                </a:tc>
                <a:tc>
                  <a:txBody>
                    <a:bodyPr/>
                    <a:lstStyle/>
                    <a:p>
                      <a:r>
                        <a:rPr sz="1400" b="0"/>
                        <a:t>{{hours}}</a:t>
                      </a:r>
                    </a:p>
                  </a:txBody>
                  <a:tcPr/>
                </a:tc>
                <a:tc>
                  <a:txBody>
                    <a:bodyPr/>
                    <a:lstStyle/>
                    <a:p>
                      <a:r>
                        <a:rPr sz="1400" b="0"/>
                        <a:t>Time spent watching, steering and reviewing</a:t>
                      </a:r>
                    </a:p>
                  </a:txBody>
                  <a:tcPr/>
                </a:tc>
              </a:tr>
              <a:tr h="457200">
                <a:tc>
                  <a:txBody>
                    <a:bodyPr/>
                    <a:lstStyle/>
                    <a:p>
                      <a:r>
                        <a:rPr sz="1400" b="0"/>
                        <a:t>Developer time the recipes report saving</a:t>
                      </a:r>
                    </a:p>
                  </a:txBody>
                  <a:tcPr/>
                </a:tc>
                <a:tc>
                  <a:txBody>
                    <a:bodyPr/>
                    <a:lstStyle/>
                    <a:p>
                      <a:r>
                        <a:rPr sz="1400" b="0"/>
                        <a:t>{{saved}} hours</a:t>
                      </a:r>
                    </a:p>
                  </a:txBody>
                  <a:tcPr/>
                </a:tc>
                <a:tc>
                  <a:txBody>
                    <a:bodyPr/>
                    <a:lstStyle/>
                    <a:p>
                      <a:r>
                        <a:rPr sz="1400" b="0"/>
                        <a:t>The 'saved by using recipes' line of each mod run</a:t>
                      </a:r>
                    </a:p>
                  </a:txBody>
                  <a:tcPr/>
                </a:tc>
              </a:tr>
              <a:tr h="457200">
                <a:tc>
                  <a:txBody>
                    <a:bodyPr/>
                    <a:lstStyle/>
                    <a:p>
                      <a:r>
                        <a:rPr sz="1400" b="0"/>
                        <a:t>Running the {{w}} recipes it wrote again</a:t>
                      </a:r>
                    </a:p>
                  </a:txBody>
                  <a:tcPr/>
                </a:tc>
                <a:tc>
                  <a:txBody>
                    <a:bodyPr/>
                    <a:lstStyle/>
                    <a:p>
                      <a:r>
                        <a:rPr sz="1400" b="0"/>
                        <a:t>No model usage</a:t>
                      </a:r>
                    </a:p>
                  </a:txBody>
                  <a:tcPr/>
                </a:tc>
                <a:tc>
                  <a:txBody>
                    <a:bodyPr/>
                    <a:lstStyle/>
                    <a:p>
                      <a:r>
                        <a:rPr sz="1400" b="0"/>
                        <a:t>A recipe run needs compute, not a model</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What {{Customer}} keeps running.</a:t>
            </a:r>
            <a:endParaRPr sz="3200" dirty="0"/>
          </a:p>
        </p:txBody>
      </p:sp>
      <p:graphicFrame>
        <p:nvGraphicFramePr>
          <p:cNvPr id="8" name="Results table"/>
          <p:cNvGraphicFramePr>
            <a:graphicFrameLocks noGrp="1"/>
          </p:cNvGraphicFramePr>
          <p:nvPr/>
        </p:nvGraphicFramePr>
        <p:xfrm>
          <a:off x="1069848" y="2377440"/>
          <a:ext cx="10058400" cy="2286000"/>
        </p:xfrm>
        <a:graphic>
          <a:graphicData uri="http://schemas.openxmlformats.org/drawingml/2006/table">
            <a:tbl>
              <a:tblPr firstRow="1" bandRow="1">
                <a:tableStyleId>{5C22544A-7EE6-4342-B048-85BDC9FD1C3A}</a:tableStyleId>
              </a:tblPr>
              <a:tblGrid>
                <a:gridCol w="6035040"/>
                <a:gridCol w="2011680"/>
                <a:gridCol w="2011680"/>
              </a:tblGrid>
              <a:tr h="457200">
                <a:tc>
                  <a:txBody>
                    <a:bodyPr/>
                    <a:lstStyle/>
                    <a:p>
                      <a:r>
                        <a:rPr sz="1400" b="1"/>
                        <a:t>Prompt</a:t>
                      </a:r>
                    </a:p>
                  </a:txBody>
                  <a:tcPr/>
                </a:tc>
                <a:tc>
                  <a:txBody>
                    <a:bodyPr/>
                    <a:lstStyle/>
                    <a:p>
                      <a:r>
                        <a:rPr sz="1400" b="1"/>
                        <a:t>Owner</a:t>
                      </a:r>
                    </a:p>
                  </a:txBody>
                  <a:tcPr/>
                </a:tc>
                <a:tc>
                  <a:txBody>
                    <a:bodyPr/>
                    <a:lstStyle/>
                    <a:p>
                      <a:r>
                        <a:rPr sz="1400" b="1"/>
                        <a:t>Machine</a:t>
                      </a:r>
                    </a:p>
                  </a:txBody>
                  <a:tcPr/>
                </a:tc>
              </a:tr>
              <a:tr h="457200">
                <a:tc>
                  <a:txBody>
                    <a:bodyPr/>
                    <a:lstStyle/>
                    <a:p>
                      <a:r>
                        <a:rPr sz="1400" b="0"/>
                        <a:t>Be on guard for code quality issues perpetually, fixing them as you find them</a:t>
                      </a:r>
                    </a:p>
                  </a:txBody>
                  <a:tcPr/>
                </a:tc>
                <a:tc>
                  <a:txBody>
                    <a:bodyPr/>
                    <a:lstStyle/>
                    <a:p>
                      <a:r>
                        <a:rPr sz="1400" b="0"/>
                        <a:t>{{owner}}</a:t>
                      </a:r>
                    </a:p>
                  </a:txBody>
                  <a:tcPr/>
                </a:tc>
                <a:tc>
                  <a:txBody>
                    <a:bodyPr/>
                    <a:lstStyle/>
                    <a:p>
                      <a:r>
                        <a:rPr sz="1400" b="0"/>
                        <a:t>{{machine}}</a:t>
                      </a:r>
                    </a:p>
                  </a:txBody>
                  <a:tcPr/>
                </a:tc>
              </a:tr>
              <a:tr h="457200">
                <a:tc>
                  <a:txBody>
                    <a:bodyPr/>
                    <a:lstStyle/>
                    <a:p>
                      <a:r>
                        <a:rPr sz="1400" b="0"/>
                        <a:t>{{Objective 1, as the customer said it}}</a:t>
                      </a:r>
                    </a:p>
                  </a:txBody>
                  <a:tcPr/>
                </a:tc>
                <a:tc>
                  <a:txBody>
                    <a:bodyPr/>
                    <a:lstStyle/>
                    <a:p>
                      <a:r>
                        <a:rPr sz="1400" b="0"/>
                        <a:t>{{owner}}</a:t>
                      </a:r>
                    </a:p>
                  </a:txBody>
                  <a:tcPr/>
                </a:tc>
                <a:tc>
                  <a:txBody>
                    <a:bodyPr/>
                    <a:lstStyle/>
                    <a:p>
                      <a:r>
                        <a:rPr sz="1400" b="0"/>
                        <a:t>{{machine}}</a:t>
                      </a:r>
                    </a:p>
                  </a:txBody>
                  <a:tcPr/>
                </a:tc>
              </a:tr>
              <a:tr h="457200">
                <a:tc>
                  <a:txBody>
                    <a:bodyPr/>
                    <a:lstStyle/>
                    <a:p>
                      <a:r>
                        <a:rPr sz="1400" b="0"/>
                        <a:t>{{Objective 2, as the customer said it}}</a:t>
                      </a:r>
                    </a:p>
                  </a:txBody>
                  <a:tcPr/>
                </a:tc>
                <a:tc>
                  <a:txBody>
                    <a:bodyPr/>
                    <a:lstStyle/>
                    <a:p>
                      <a:r>
                        <a:rPr sz="1400" b="0"/>
                        <a:t>{{owner}}</a:t>
                      </a:r>
                    </a:p>
                  </a:txBody>
                  <a:tcPr/>
                </a:tc>
                <a:tc>
                  <a:txBody>
                    <a:bodyPr/>
                    <a:lstStyle/>
                    <a:p>
                      <a:r>
                        <a:rPr sz="1400" b="0"/>
                        <a:t>{{machine}}</a:t>
                      </a:r>
                    </a:p>
                  </a:txBody>
                  <a:tcPr/>
                </a:tc>
              </a:tr>
              <a:tr h="457200">
                <a:tc>
                  <a:txBody>
                    <a:bodyPr/>
                    <a:lstStyle/>
                    <a:p>
                      <a:r>
                        <a:rPr sz="1400" b="0"/>
                        <a:t>{{Objective 3, as the customer said it}}</a:t>
                      </a:r>
                    </a:p>
                  </a:txBody>
                  <a:tcPr/>
                </a:tc>
                <a:tc>
                  <a:txBody>
                    <a:bodyPr/>
                    <a:lstStyle/>
                    <a:p>
                      <a:r>
                        <a:rPr sz="1400" b="0"/>
                        <a:t>{{owner}}</a:t>
                      </a:r>
                    </a:p>
                  </a:txBody>
                  <a:tcPr/>
                </a:tc>
                <a:tc>
                  <a:txBody>
                    <a:bodyPr/>
                    <a:lstStyle/>
                    <a:p>
                      <a:r>
                        <a:rPr sz="1400" b="0"/>
                        <a:t>{{machine}}</a:t>
                      </a:r>
                    </a:p>
                  </a:txBody>
                  <a:tcPr/>
                </a:tc>
              </a:tr>
            </a:tbl>
          </a:graphicData>
        </a:graphic>
      </p:graphicFrame>
    </p:spTree>
    <p:extLst>
      <p:ext uri="{BB962C8B-B14F-4D97-AF65-F5344CB8AC3E}">
        <p14:creationId xmlns:p14="http://schemas.microsoft.com/office/powerpoint/2010/main" val="25590627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DB899C5-2B6A-C7BC-CA03-EB59B7C3496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
        <p:nvSpPr>
          <p:cNvPr id="7" name="Google Shape;141;g3cab610c926_0_105">
            <a:extLst>
              <a:ext uri="{FF2B5EF4-FFF2-40B4-BE49-F238E27FC236}">
                <a16:creationId xmlns:a16="http://schemas.microsoft.com/office/drawing/2014/main" id="{2948A9B0-0CC4-2A7E-7134-313DE33E1C2A}"/>
              </a:ext>
            </a:extLst>
          </p:cNvPr>
          <p:cNvSpPr txBox="1">
            <a:spLocks noGrp="1"/>
          </p:cNvSpPr>
          <p:nvPr>
            <p:ph type="body" idx="1"/>
          </p:nvPr>
        </p:nvSpPr>
        <p:spPr>
          <a:xfrm>
            <a:off x="557838" y="437403"/>
            <a:ext cx="10107313" cy="1904145"/>
          </a:xfrm>
          <a:prstGeom prst="rect">
            <a:avLst/>
          </a:prstGeom>
          <a:noFill/>
          <a:ln>
            <a:noFill/>
          </a:ln>
        </p:spPr>
        <p:txBody>
          <a:bodyPr spcFirstLastPara="1" wrap="square" lIns="0" tIns="0" rIns="0" bIns="0" anchor="ctr" anchorCtr="0">
            <a:noAutofit/>
          </a:bodyPr>
          <a:lstStyle/>
          <a:p>
            <a:pPr marL="457200" lvl="0" indent="-228600" algn="l" rtl="0">
              <a:lnSpc>
                <a:spcPct val="100000"/>
              </a:lnSpc>
              <a:spcBef>
                <a:spcPts val="1000"/>
              </a:spcBef>
              <a:spcAft>
                <a:spcPts val="0"/>
              </a:spcAft>
              <a:buClr>
                <a:schemeClr val="dk1"/>
              </a:buClr>
              <a:buSzPts val="3000"/>
              <a:buNone/>
            </a:pPr>
            <a:r>
              <a:rPr lang="en-US" sz="3200" dirty="0"/>
              <a:t>Used by the companies running the world's largest codebases.</a:t>
            </a:r>
            <a:endParaRPr sz="3200" dirty="0"/>
          </a:p>
        </p:txBody>
      </p:sp>
      <p:pic>
        <p:nvPicPr>
          <p:cNvPr id="8" name="Picture 7" descr="01-allstate.png"/>
          <p:cNvPicPr>
            <a:picLocks noChangeAspect="1"/>
          </p:cNvPicPr>
          <p:nvPr/>
        </p:nvPicPr>
        <p:blipFill>
          <a:blip r:embed="rId3"/>
          <a:stretch>
            <a:fillRect/>
          </a:stretch>
        </p:blipFill>
        <p:spPr>
          <a:xfrm>
            <a:off x="1298448" y="2578780"/>
            <a:ext cx="1554480" cy="347126"/>
          </a:xfrm>
          <a:prstGeom prst="rect">
            <a:avLst/>
          </a:prstGeom>
        </p:spPr>
      </p:pic>
      <p:pic>
        <p:nvPicPr>
          <p:cNvPr id="9" name="Picture 8" descr="02-american-express.png"/>
          <p:cNvPicPr>
            <a:picLocks noChangeAspect="1"/>
          </p:cNvPicPr>
          <p:nvPr/>
        </p:nvPicPr>
        <p:blipFill>
          <a:blip r:embed="rId4"/>
          <a:stretch>
            <a:fillRect/>
          </a:stretch>
        </p:blipFill>
        <p:spPr>
          <a:xfrm>
            <a:off x="3310128" y="2540413"/>
            <a:ext cx="1554480" cy="423860"/>
          </a:xfrm>
          <a:prstGeom prst="rect">
            <a:avLst/>
          </a:prstGeom>
        </p:spPr>
      </p:pic>
      <p:pic>
        <p:nvPicPr>
          <p:cNvPr id="10" name="Picture 9" descr="03-bank-of-america.png"/>
          <p:cNvPicPr>
            <a:picLocks noChangeAspect="1"/>
          </p:cNvPicPr>
          <p:nvPr/>
        </p:nvPicPr>
        <p:blipFill>
          <a:blip r:embed="rId5"/>
          <a:stretch>
            <a:fillRect/>
          </a:stretch>
        </p:blipFill>
        <p:spPr>
          <a:xfrm>
            <a:off x="5321808" y="2674619"/>
            <a:ext cx="1554480" cy="155448"/>
          </a:xfrm>
          <a:prstGeom prst="rect">
            <a:avLst/>
          </a:prstGeom>
        </p:spPr>
      </p:pic>
      <p:pic>
        <p:nvPicPr>
          <p:cNvPr id="11" name="Picture 10" descr="04-billtrust.png"/>
          <p:cNvPicPr>
            <a:picLocks noChangeAspect="1"/>
          </p:cNvPicPr>
          <p:nvPr/>
        </p:nvPicPr>
        <p:blipFill>
          <a:blip r:embed="rId6"/>
          <a:stretch>
            <a:fillRect/>
          </a:stretch>
        </p:blipFill>
        <p:spPr>
          <a:xfrm>
            <a:off x="7333488" y="2596895"/>
            <a:ext cx="1554480" cy="310896"/>
          </a:xfrm>
          <a:prstGeom prst="rect">
            <a:avLst/>
          </a:prstGeom>
        </p:spPr>
      </p:pic>
      <p:pic>
        <p:nvPicPr>
          <p:cNvPr id="12" name="Picture 11" descr="05-bny.png"/>
          <p:cNvPicPr>
            <a:picLocks noChangeAspect="1"/>
          </p:cNvPicPr>
          <p:nvPr/>
        </p:nvPicPr>
        <p:blipFill>
          <a:blip r:embed="rId7"/>
          <a:stretch>
            <a:fillRect/>
          </a:stretch>
        </p:blipFill>
        <p:spPr>
          <a:xfrm>
            <a:off x="9345168" y="2583537"/>
            <a:ext cx="1554480" cy="337613"/>
          </a:xfrm>
          <a:prstGeom prst="rect">
            <a:avLst/>
          </a:prstGeom>
        </p:spPr>
      </p:pic>
      <p:pic>
        <p:nvPicPr>
          <p:cNvPr id="13" name="Picture 12" descr="06-boats-group.png"/>
          <p:cNvPicPr>
            <a:picLocks noChangeAspect="1"/>
          </p:cNvPicPr>
          <p:nvPr/>
        </p:nvPicPr>
        <p:blipFill>
          <a:blip r:embed="rId8"/>
          <a:stretch>
            <a:fillRect/>
          </a:stretch>
        </p:blipFill>
        <p:spPr>
          <a:xfrm>
            <a:off x="1298448" y="3353447"/>
            <a:ext cx="1554480" cy="297408"/>
          </a:xfrm>
          <a:prstGeom prst="rect">
            <a:avLst/>
          </a:prstGeom>
        </p:spPr>
      </p:pic>
      <p:pic>
        <p:nvPicPr>
          <p:cNvPr id="14" name="Picture 13" descr="07-cambridge.png"/>
          <p:cNvPicPr>
            <a:picLocks noChangeAspect="1"/>
          </p:cNvPicPr>
          <p:nvPr/>
        </p:nvPicPr>
        <p:blipFill>
          <a:blip r:embed="rId9"/>
          <a:stretch>
            <a:fillRect/>
          </a:stretch>
        </p:blipFill>
        <p:spPr>
          <a:xfrm>
            <a:off x="3310128" y="3360208"/>
            <a:ext cx="1554480" cy="283887"/>
          </a:xfrm>
          <a:prstGeom prst="rect">
            <a:avLst/>
          </a:prstGeom>
        </p:spPr>
      </p:pic>
      <p:pic>
        <p:nvPicPr>
          <p:cNvPr id="15" name="Picture 14" descr="08-capital-one.png"/>
          <p:cNvPicPr>
            <a:picLocks noChangeAspect="1"/>
          </p:cNvPicPr>
          <p:nvPr/>
        </p:nvPicPr>
        <p:blipFill>
          <a:blip r:embed="rId10"/>
          <a:stretch>
            <a:fillRect/>
          </a:stretch>
        </p:blipFill>
        <p:spPr>
          <a:xfrm>
            <a:off x="5461836" y="3273552"/>
            <a:ext cx="1274424" cy="457199"/>
          </a:xfrm>
          <a:prstGeom prst="rect">
            <a:avLst/>
          </a:prstGeom>
        </p:spPr>
      </p:pic>
      <p:pic>
        <p:nvPicPr>
          <p:cNvPr id="16" name="Picture 15" descr="09-choice-hotels.png"/>
          <p:cNvPicPr>
            <a:picLocks noChangeAspect="1"/>
          </p:cNvPicPr>
          <p:nvPr/>
        </p:nvPicPr>
        <p:blipFill>
          <a:blip r:embed="rId11"/>
          <a:stretch>
            <a:fillRect/>
          </a:stretch>
        </p:blipFill>
        <p:spPr>
          <a:xfrm>
            <a:off x="7333488" y="3306082"/>
            <a:ext cx="1554480" cy="392139"/>
          </a:xfrm>
          <a:prstGeom prst="rect">
            <a:avLst/>
          </a:prstGeom>
        </p:spPr>
      </p:pic>
      <p:pic>
        <p:nvPicPr>
          <p:cNvPr id="17" name="Picture 16" descr="10-colruyt.png"/>
          <p:cNvPicPr>
            <a:picLocks noChangeAspect="1"/>
          </p:cNvPicPr>
          <p:nvPr/>
        </p:nvPicPr>
        <p:blipFill>
          <a:blip r:embed="rId12"/>
          <a:stretch>
            <a:fillRect/>
          </a:stretch>
        </p:blipFill>
        <p:spPr>
          <a:xfrm>
            <a:off x="9345168" y="3406129"/>
            <a:ext cx="1554480" cy="192045"/>
          </a:xfrm>
          <a:prstGeom prst="rect">
            <a:avLst/>
          </a:prstGeom>
        </p:spPr>
      </p:pic>
      <p:pic>
        <p:nvPicPr>
          <p:cNvPr id="18" name="Picture 17" descr="11-corpay.png"/>
          <p:cNvPicPr>
            <a:picLocks noChangeAspect="1"/>
          </p:cNvPicPr>
          <p:nvPr/>
        </p:nvPicPr>
        <p:blipFill>
          <a:blip r:embed="rId13"/>
          <a:stretch>
            <a:fillRect/>
          </a:stretch>
        </p:blipFill>
        <p:spPr>
          <a:xfrm>
            <a:off x="1298448" y="4065540"/>
            <a:ext cx="1554480" cy="372838"/>
          </a:xfrm>
          <a:prstGeom prst="rect">
            <a:avLst/>
          </a:prstGeom>
        </p:spPr>
      </p:pic>
      <p:pic>
        <p:nvPicPr>
          <p:cNvPr id="19" name="Picture 18" descr="12-desjardins.png"/>
          <p:cNvPicPr>
            <a:picLocks noChangeAspect="1"/>
          </p:cNvPicPr>
          <p:nvPr/>
        </p:nvPicPr>
        <p:blipFill>
          <a:blip r:embed="rId14"/>
          <a:stretch>
            <a:fillRect/>
          </a:stretch>
        </p:blipFill>
        <p:spPr>
          <a:xfrm>
            <a:off x="3310128" y="4083742"/>
            <a:ext cx="1554480" cy="336435"/>
          </a:xfrm>
          <a:prstGeom prst="rect">
            <a:avLst/>
          </a:prstGeom>
        </p:spPr>
      </p:pic>
      <p:pic>
        <p:nvPicPr>
          <p:cNvPr id="20" name="Picture 19" descr="13-federated-insurance.png"/>
          <p:cNvPicPr>
            <a:picLocks noChangeAspect="1"/>
          </p:cNvPicPr>
          <p:nvPr/>
        </p:nvPicPr>
        <p:blipFill>
          <a:blip r:embed="rId15"/>
          <a:stretch>
            <a:fillRect/>
          </a:stretch>
        </p:blipFill>
        <p:spPr>
          <a:xfrm>
            <a:off x="5321808" y="4064467"/>
            <a:ext cx="1554480" cy="374984"/>
          </a:xfrm>
          <a:prstGeom prst="rect">
            <a:avLst/>
          </a:prstGeom>
        </p:spPr>
      </p:pic>
      <p:pic>
        <p:nvPicPr>
          <p:cNvPr id="21" name="Picture 20" descr="14-glencore.png"/>
          <p:cNvPicPr>
            <a:picLocks noChangeAspect="1"/>
          </p:cNvPicPr>
          <p:nvPr/>
        </p:nvPicPr>
        <p:blipFill>
          <a:blip r:embed="rId16"/>
          <a:stretch>
            <a:fillRect/>
          </a:stretch>
        </p:blipFill>
        <p:spPr>
          <a:xfrm>
            <a:off x="7333488" y="4114368"/>
            <a:ext cx="1554480" cy="275183"/>
          </a:xfrm>
          <a:prstGeom prst="rect">
            <a:avLst/>
          </a:prstGeom>
        </p:spPr>
      </p:pic>
      <p:pic>
        <p:nvPicPr>
          <p:cNvPr id="22" name="Picture 21" descr="15-grubhub.png"/>
          <p:cNvPicPr>
            <a:picLocks noChangeAspect="1"/>
          </p:cNvPicPr>
          <p:nvPr/>
        </p:nvPicPr>
        <p:blipFill>
          <a:blip r:embed="rId17"/>
          <a:stretch>
            <a:fillRect/>
          </a:stretch>
        </p:blipFill>
        <p:spPr>
          <a:xfrm>
            <a:off x="9345168" y="4089609"/>
            <a:ext cx="1554480" cy="324700"/>
          </a:xfrm>
          <a:prstGeom prst="rect">
            <a:avLst/>
          </a:prstGeom>
        </p:spPr>
      </p:pic>
      <p:pic>
        <p:nvPicPr>
          <p:cNvPr id="23" name="Picture 22" descr="16-happen-bank.png"/>
          <p:cNvPicPr>
            <a:picLocks noChangeAspect="1"/>
          </p:cNvPicPr>
          <p:nvPr/>
        </p:nvPicPr>
        <p:blipFill>
          <a:blip r:embed="rId18"/>
          <a:stretch>
            <a:fillRect/>
          </a:stretch>
        </p:blipFill>
        <p:spPr>
          <a:xfrm>
            <a:off x="1298448" y="4788674"/>
            <a:ext cx="1554480" cy="426186"/>
          </a:xfrm>
          <a:prstGeom prst="rect">
            <a:avLst/>
          </a:prstGeom>
        </p:spPr>
      </p:pic>
      <p:pic>
        <p:nvPicPr>
          <p:cNvPr id="24" name="Picture 23" descr="17-lombard-odier.png"/>
          <p:cNvPicPr>
            <a:picLocks noChangeAspect="1"/>
          </p:cNvPicPr>
          <p:nvPr/>
        </p:nvPicPr>
        <p:blipFill>
          <a:blip r:embed="rId19"/>
          <a:stretch>
            <a:fillRect/>
          </a:stretch>
        </p:blipFill>
        <p:spPr>
          <a:xfrm>
            <a:off x="3310128" y="4856193"/>
            <a:ext cx="1554480" cy="291148"/>
          </a:xfrm>
          <a:prstGeom prst="rect">
            <a:avLst/>
          </a:prstGeom>
        </p:spPr>
      </p:pic>
      <p:pic>
        <p:nvPicPr>
          <p:cNvPr id="25" name="Picture 24" descr="18-medhost.png"/>
          <p:cNvPicPr>
            <a:picLocks noChangeAspect="1"/>
          </p:cNvPicPr>
          <p:nvPr/>
        </p:nvPicPr>
        <p:blipFill>
          <a:blip r:embed="rId20"/>
          <a:stretch>
            <a:fillRect/>
          </a:stretch>
        </p:blipFill>
        <p:spPr>
          <a:xfrm>
            <a:off x="5321808" y="4902641"/>
            <a:ext cx="1554480" cy="198252"/>
          </a:xfrm>
          <a:prstGeom prst="rect">
            <a:avLst/>
          </a:prstGeom>
        </p:spPr>
      </p:pic>
      <p:pic>
        <p:nvPicPr>
          <p:cNvPr id="26" name="Picture 25" descr="19-morgan-stanley.png"/>
          <p:cNvPicPr>
            <a:picLocks noChangeAspect="1"/>
          </p:cNvPicPr>
          <p:nvPr/>
        </p:nvPicPr>
        <p:blipFill>
          <a:blip r:embed="rId21"/>
          <a:stretch>
            <a:fillRect/>
          </a:stretch>
        </p:blipFill>
        <p:spPr>
          <a:xfrm>
            <a:off x="7333488" y="4885528"/>
            <a:ext cx="1554480" cy="232478"/>
          </a:xfrm>
          <a:prstGeom prst="rect">
            <a:avLst/>
          </a:prstGeom>
        </p:spPr>
      </p:pic>
      <p:pic>
        <p:nvPicPr>
          <p:cNvPr id="27" name="Picture 26" descr="20-onetrust.png"/>
          <p:cNvPicPr>
            <a:picLocks noChangeAspect="1"/>
          </p:cNvPicPr>
          <p:nvPr/>
        </p:nvPicPr>
        <p:blipFill>
          <a:blip r:embed="rId22"/>
          <a:stretch>
            <a:fillRect/>
          </a:stretch>
        </p:blipFill>
        <p:spPr>
          <a:xfrm>
            <a:off x="9345168" y="4874831"/>
            <a:ext cx="1554480" cy="253872"/>
          </a:xfrm>
          <a:prstGeom prst="rect">
            <a:avLst/>
          </a:prstGeom>
        </p:spPr>
      </p:pic>
      <p:pic>
        <p:nvPicPr>
          <p:cNvPr id="28" name="Picture 27" descr="21-sap.png"/>
          <p:cNvPicPr>
            <a:picLocks noChangeAspect="1"/>
          </p:cNvPicPr>
          <p:nvPr/>
        </p:nvPicPr>
        <p:blipFill>
          <a:blip r:embed="rId23"/>
          <a:stretch>
            <a:fillRect/>
          </a:stretch>
        </p:blipFill>
        <p:spPr>
          <a:xfrm>
            <a:off x="1613870" y="5522975"/>
            <a:ext cx="923635" cy="457199"/>
          </a:xfrm>
          <a:prstGeom prst="rect">
            <a:avLst/>
          </a:prstGeom>
        </p:spPr>
      </p:pic>
      <p:pic>
        <p:nvPicPr>
          <p:cNvPr id="29" name="Picture 28" descr="22-soundhound.png"/>
          <p:cNvPicPr>
            <a:picLocks noChangeAspect="1"/>
          </p:cNvPicPr>
          <p:nvPr/>
        </p:nvPicPr>
        <p:blipFill>
          <a:blip r:embed="rId24"/>
          <a:stretch>
            <a:fillRect/>
          </a:stretch>
        </p:blipFill>
        <p:spPr>
          <a:xfrm>
            <a:off x="3310128" y="5667175"/>
            <a:ext cx="1554480" cy="168799"/>
          </a:xfrm>
          <a:prstGeom prst="rect">
            <a:avLst/>
          </a:prstGeom>
        </p:spPr>
      </p:pic>
      <p:pic>
        <p:nvPicPr>
          <p:cNvPr id="30" name="Picture 29" descr="23-squarespace.png"/>
          <p:cNvPicPr>
            <a:picLocks noChangeAspect="1"/>
          </p:cNvPicPr>
          <p:nvPr/>
        </p:nvPicPr>
        <p:blipFill>
          <a:blip r:embed="rId25"/>
          <a:stretch>
            <a:fillRect/>
          </a:stretch>
        </p:blipFill>
        <p:spPr>
          <a:xfrm>
            <a:off x="5321808" y="5639123"/>
            <a:ext cx="1554479" cy="224903"/>
          </a:xfrm>
          <a:prstGeom prst="rect">
            <a:avLst/>
          </a:prstGeom>
        </p:spPr>
      </p:pic>
      <p:pic>
        <p:nvPicPr>
          <p:cNvPr id="31" name="Picture 30" descr="24-sunbit.png"/>
          <p:cNvPicPr>
            <a:picLocks noChangeAspect="1"/>
          </p:cNvPicPr>
          <p:nvPr/>
        </p:nvPicPr>
        <p:blipFill>
          <a:blip r:embed="rId26"/>
          <a:stretch>
            <a:fillRect/>
          </a:stretch>
        </p:blipFill>
        <p:spPr>
          <a:xfrm>
            <a:off x="7333488" y="5530841"/>
            <a:ext cx="1554480" cy="441468"/>
          </a:xfrm>
          <a:prstGeom prst="rect">
            <a:avLst/>
          </a:prstGeom>
        </p:spPr>
      </p:pic>
      <p:pic>
        <p:nvPicPr>
          <p:cNvPr id="32" name="Picture 31" descr="25-tiaa.png"/>
          <p:cNvPicPr>
            <a:picLocks noChangeAspect="1"/>
          </p:cNvPicPr>
          <p:nvPr/>
        </p:nvPicPr>
        <p:blipFill>
          <a:blip r:embed="rId27"/>
          <a:stretch>
            <a:fillRect/>
          </a:stretch>
        </p:blipFill>
        <p:spPr>
          <a:xfrm>
            <a:off x="9345168" y="5544311"/>
            <a:ext cx="1554480" cy="414528"/>
          </a:xfrm>
          <a:prstGeom prst="rect">
            <a:avLst/>
          </a:prstGeom>
        </p:spPr>
      </p:pic>
    </p:spTree>
    <p:extLst>
      <p:ext uri="{BB962C8B-B14F-4D97-AF65-F5344CB8AC3E}">
        <p14:creationId xmlns:p14="http://schemas.microsoft.com/office/powerpoint/2010/main" val="25590627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2"/>
        <p:cNvGrpSpPr/>
        <p:nvPr/>
      </p:nvGrpSpPr>
      <p:grpSpPr>
        <a:xfrm>
          <a:off x="0" y="0"/>
          <a:ext cx="0" cy="0"/>
          <a:chOff x="0" y="0"/>
          <a:chExt cx="0" cy="0"/>
        </a:xfrm>
      </p:grpSpPr>
      <p:sp>
        <p:nvSpPr>
          <p:cNvPr id="453" name="Google Shape;453;p3"/>
          <p:cNvSpPr txBox="1">
            <a:spLocks noGrp="1"/>
          </p:cNvSpPr>
          <p:nvPr>
            <p:ph type="sldNum" idx="12"/>
          </p:nvPr>
        </p:nvSpPr>
        <p:spPr>
          <a:xfrm>
            <a:off x="11073652" y="6459668"/>
            <a:ext cx="7305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900"/>
              <a:buNone/>
            </a:pPr>
            <a:fld id="{00000000-1234-1234-1234-123412341234}" type="slidenum">
              <a:rPr lang="en-US"/>
              <a:t>32</a:t>
            </a:fld>
            <a:endParaRPr/>
          </a:p>
        </p:txBody>
      </p:sp>
      <p:sp>
        <p:nvSpPr>
          <p:cNvPr id="454" name="Google Shape;454;p3"/>
          <p:cNvSpPr txBox="1">
            <a:spLocks noGrp="1"/>
          </p:cNvSpPr>
          <p:nvPr>
            <p:ph type="body" idx="1"/>
          </p:nvPr>
        </p:nvSpPr>
        <p:spPr>
          <a:xfrm>
            <a:off x="3088353" y="2964424"/>
            <a:ext cx="5943000" cy="1916100"/>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1000"/>
              </a:spcBef>
              <a:spcAft>
                <a:spcPts val="0"/>
              </a:spcAft>
              <a:buClr>
                <a:schemeClr val="lt1"/>
              </a:buClr>
              <a:buSzPts val="1400"/>
              <a:buNone/>
            </a:pPr>
            <a:r>
              <a:rPr lang="en-US"/>
              <a:t>THANK YOU!</a:t>
            </a:r>
            <a:endParaRPr/>
          </a:p>
        </p:txBody>
      </p:sp>
    </p:spTree>
  </p:cSld>
  <p:clrMapOvr>
    <a:masterClrMapping/>
  </p:clrMapOvr>
</p:sld>
</file>

<file path=ppt/theme/theme1.xml><?xml version="1.0" encoding="utf-8"?>
<a:theme xmlns:a="http://schemas.openxmlformats.org/drawingml/2006/main" name="1_Office Theme">
  <a:themeElements>
    <a:clrScheme name="Moderne Brand 2025">
      <a:dk1>
        <a:srgbClr val="041834"/>
      </a:dk1>
      <a:lt1>
        <a:srgbClr val="FFFFFF"/>
      </a:lt1>
      <a:dk2>
        <a:srgbClr val="041834"/>
      </a:dk2>
      <a:lt2>
        <a:srgbClr val="FFFFFF"/>
      </a:lt2>
      <a:accent1>
        <a:srgbClr val="041834"/>
      </a:accent1>
      <a:accent2>
        <a:srgbClr val="85FE99"/>
      </a:accent2>
      <a:accent3>
        <a:srgbClr val="283AF7"/>
      </a:accent3>
      <a:accent4>
        <a:srgbClr val="F8F8FF"/>
      </a:accent4>
      <a:accent5>
        <a:srgbClr val="E7B136"/>
      </a:accent5>
      <a:accent6>
        <a:srgbClr val="D3D3E3"/>
      </a:accent6>
      <a:hlink>
        <a:srgbClr val="2E42FF"/>
      </a:hlink>
      <a:folHlink>
        <a:srgbClr val="D3D3E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8356</TotalTime>
  <Words>980</Words>
  <Application>Microsoft Macintosh PowerPoint</Application>
  <PresentationFormat>Widescreen</PresentationFormat>
  <Paragraphs>124</Paragraphs>
  <Slides>32</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32</vt:i4>
      </vt:variant>
    </vt:vector>
  </HeadingPairs>
  <TitlesOfParts>
    <vt:vector size="39" baseType="lpstr">
      <vt:lpstr>Poppins SemiBold</vt:lpstr>
      <vt:lpstr>Poppins</vt:lpstr>
      <vt:lpstr>Calibri</vt:lpstr>
      <vt:lpstr>Arial</vt:lpstr>
      <vt:lpstr>GeistMono NF</vt:lpstr>
      <vt:lpstr>Poppins Light</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Jeff Hunt</dc:creator>
  <cp:lastModifiedBy>jonathan@moderne.io</cp:lastModifiedBy>
  <cp:revision>85</cp:revision>
  <dcterms:created xsi:type="dcterms:W3CDTF">2023-05-24T18:52:14Z</dcterms:created>
  <dcterms:modified xsi:type="dcterms:W3CDTF">2026-10-06T10:29:42Z</dcterms:modified>
</cp:coreProperties>
</file>
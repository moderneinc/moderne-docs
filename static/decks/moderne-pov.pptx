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331" r:id="rId60"/>
    <p:sldId id="291" r:id="rId4"/>
    <p:sldId id="332" r:id="rId61"/>
    <p:sldId id="333" r:id="rId62"/>
    <p:sldId id="334" r:id="rId63"/>
    <p:sldId id="335" r:id="rId64"/>
    <p:sldId id="336" r:id="rId65"/>
    <p:sldId id="337" r:id="rId66"/>
    <p:sldId id="338" r:id="rId67"/>
    <p:sldId id="339" r:id="rId68"/>
    <p:sldId id="340" r:id="rId69"/>
    <p:sldId id="341" r:id="rId70"/>
    <p:sldId id="290" r:id="rId33"/>
  </p:sldIdLst>
  <p:sldSz cx="12192000" cy="6858000"/>
  <p:notesSz cx="6858000" cy="9144000"/>
  <p:embeddedFontLst>
    <p:embeddedFont>
      <p:font typeface="GeistMono NF" panose="02000009000000000000" pitchFamily="49" charset="77"/>
      <p:regular r:id="rId35"/>
      <p:bold r:id="rId36"/>
    </p:embeddedFont>
    <p:embeddedFont>
      <p:font typeface="Poppins" pitchFamily="2" charset="77"/>
      <p:regular r:id="rId37"/>
      <p:bold r:id="rId38"/>
      <p:italic r:id="rId39"/>
      <p:boldItalic r:id="rId40"/>
    </p:embeddedFont>
    <p:embeddedFont>
      <p:font typeface="Poppins Light" pitchFamily="2" charset="77"/>
      <p:regular r:id="rId41"/>
      <p:italic r:id="rId42"/>
    </p:embeddedFont>
    <p:embeddedFont>
      <p:font typeface="Poppins SemiBold" pitchFamily="2" charset="77"/>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HaWeIs9kDtpsUKo9q8YlmhkOgH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77"/>
    <p:restoredTop sz="94803"/>
  </p:normalViewPr>
  <p:slideViewPr>
    <p:cSldViewPr snapToGrid="0">
      <p:cViewPr varScale="1">
        <p:scale>
          <a:sx n="149" d="100"/>
          <a:sy n="149" d="100"/>
        </p:scale>
        <p:origin x="200"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33" Type="http://schemas.openxmlformats.org/officeDocument/2006/relationships/slide" Target="slides/slide14.xml"/><Relationship Id="rId34" Type="http://schemas.openxmlformats.org/officeDocument/2006/relationships/notesMaster" Target="notesMasters/notesMaster1.xml"/><Relationship Id="rId35" Type="http://schemas.openxmlformats.org/officeDocument/2006/relationships/font" Target="fonts/font1.fntdata"/><Relationship Id="rId36" Type="http://schemas.openxmlformats.org/officeDocument/2006/relationships/font" Target="fonts/font2.fntdata"/><Relationship Id="rId37" Type="http://schemas.openxmlformats.org/officeDocument/2006/relationships/font" Target="fonts/font3.fntdata"/><Relationship Id="rId38" Type="http://schemas.openxmlformats.org/officeDocument/2006/relationships/font" Target="fonts/font4.fntdata"/><Relationship Id="rId39" Type="http://schemas.openxmlformats.org/officeDocument/2006/relationships/font" Target="fonts/font5.fntdata"/><Relationship Id="rId40" Type="http://schemas.openxmlformats.org/officeDocument/2006/relationships/font" Target="fonts/font6.fntdata"/><Relationship Id="rId41" Type="http://schemas.openxmlformats.org/officeDocument/2006/relationships/font" Target="fonts/font7.fntdata"/><Relationship Id="rId42" Type="http://schemas.openxmlformats.org/officeDocument/2006/relationships/font" Target="fonts/font8.fntdata"/><Relationship Id="rId43" Type="http://schemas.openxmlformats.org/officeDocument/2006/relationships/font" Target="fonts/font9.fntdata"/><Relationship Id="rId44" Type="http://schemas.openxmlformats.org/officeDocument/2006/relationships/font" Target="fonts/font10.fntdata"/><Relationship Id="rId45" Type="http://schemas.openxmlformats.org/officeDocument/2006/relationships/font" Target="fonts/font11.fntdata"/><Relationship Id="rId46" Type="http://schemas.openxmlformats.org/officeDocument/2006/relationships/font" Target="fonts/font12.fntdata"/><Relationship Id="rId55" Type="http://customschemas.google.com/relationships/presentationmetadata" Target="metadata"/><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60" Type="http://schemas.openxmlformats.org/officeDocument/2006/relationships/slide" Target="slides/slide2.xml"/><Relationship Id="rId61" Type="http://schemas.openxmlformats.org/officeDocument/2006/relationships/slide" Target="slides/slide4.xml"/><Relationship Id="rId62" Type="http://schemas.openxmlformats.org/officeDocument/2006/relationships/slide" Target="slides/slide5.xml"/><Relationship Id="rId63" Type="http://schemas.openxmlformats.org/officeDocument/2006/relationships/slide" Target="slides/slide6.xml"/><Relationship Id="rId64" Type="http://schemas.openxmlformats.org/officeDocument/2006/relationships/slide" Target="slides/slide7.xml"/><Relationship Id="rId65" Type="http://schemas.openxmlformats.org/officeDocument/2006/relationships/slide" Target="slides/slide8.xml"/><Relationship Id="rId66" Type="http://schemas.openxmlformats.org/officeDocument/2006/relationships/slide" Target="slides/slide9.xml"/><Relationship Id="rId67" Type="http://schemas.openxmlformats.org/officeDocument/2006/relationships/slide" Target="slides/slide10.xml"/><Relationship Id="rId68" Type="http://schemas.openxmlformats.org/officeDocument/2006/relationships/slide" Target="slides/slide11.xml"/><Relationship Id="rId69" Type="http://schemas.openxmlformats.org/officeDocument/2006/relationships/slide" Target="slides/slide12.xml"/><Relationship Id="rId7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HOW TO FILL IN THIS DECK. Read this before anything else.</a:t>
            </a:r>
          </a:p>
          <a:p/>
          <a:p>
            <a:r>
              <a:t>This deck reports a Moderne proof of value to the customer's leadership. Each slide is one headline sentence and one visual. The notes on each slide say what it needs, how to measure it with mod, and what goes in the visual. Where a slide shows a command, that command is a step of the proof of value: you run it, and you fill the slide from what it did.</a:t>
            </a:r>
          </a:p>
          <a:p/>
          <a:p>
            <a:r>
              <a:t>Before the first step</a:t>
            </a:r>
          </a:p>
          <a:p>
            <a:r>
              <a:t>- This directory must not be inside a git repository. A step that runs git in a directory that is not a repository climbs to the enclosing one.</a:t>
            </a:r>
          </a:p>
          <a:p>
            <a:r>
              <a:t>- On macOS, run screencapture -x &lt;file&gt;.png once now. The first capture asks for the terminal's screen recording permission, and the people watching are here to approve it. Never scroll or type into a step's window through System Events: that needs another permission, and nothing below requires it.</a:t>
            </a:r>
          </a:p>
          <a:p>
            <a:r>
              <a:t>- Record how many recipes are available now: the total that mod config recipes list prints, which the loop slide needs.</a:t>
            </a:r>
          </a:p>
          <a:p/>
          <a:p>
            <a:r>
              <a:t>How to run a step</a:t>
            </a:r>
          </a:p>
          <a:p>
            <a:r>
              <a:t>- Each step is a session of its own, started with the command on the slide. Put the agent you are in place of {{agent}} (claude, codex, copilot, ...) and the organization in place of {{org}}.</a:t>
            </a:r>
          </a:p>
          <a:p>
            <a:r>
              <a:t>- Start it in a terminal window of its own, so the people watching can follow its transcript. Write the step's prompt to board/&lt;step&gt;.prompt first, so the quoting stays simple. On macOS: osascript -e 'tell application "Terminal" to do script "cd &lt;this directory&gt; &amp;&amp; mod &lt;agent&gt; chat ./quality --org &lt;org&gt; --prompt \"$(cat board/quality.prompt)\""', which answers with the window's id. On Linux, x-terminal-emulator -e or gnome-terminal -- with the same command; on Windows, wt -d &lt;this directory&gt;. Where no window can be opened, start the step with --unattended in the background instead.</a:t>
            </a:r>
          </a:p>
          <a:p>
            <a:r>
              <a:t>- Every step's prompt ends with the same instruction: "When you are done, write a summary to &lt;this directory&gt;/board/&lt;step&gt;.md: the changeset id or run id, repositories and files changed, builds passed and failed, pull requests opened, the recipes you wrote or fixed, the mod commands you ran, and the usage your harness reports for this session. If pull requests cannot be opened, say why and go on; do not use forks. Then stop working."</a:t>
            </a:r>
          </a:p>
          <a:p>
            <a:r>
              <a:t>- From the moment a step starts, capture its window every 45 seconds: on macOS, screencapture -x -l &lt;window id&gt; &lt;dir&gt;/&lt;time&gt;.png takes that window alone. Keep the captures until the slide is filled, then pick the frame the slide asks for. A step's first turn scrolls away within minutes, and only a capture taken at the time shows it.</a:t>
            </a:r>
          </a:p>
          <a:p>
            <a:r>
              <a:t>- Wait for board/&lt;step&gt;.md, checking every minute. When the window shows a question, answer it from these notes: no forks, no hand edits, and leave out what cannot be measured. When it shows no new output for fifteen minutes, read it; a step that is stuck is stopped, and its slide is filled from what it wrote. Then read the summary and end the step's session with mod agent stop &lt;id&gt;; mod agent sessions lists the id beside the directory the session runs in. The transcript stays in its window.</a:t>
            </a:r>
          </a:p>
          <a:p>
            <a:r>
              <a:t>- Run the steps one at a time, in slide order. A step takes as long as its builds take, which can be hours.</a:t>
            </a:r>
          </a:p>
          <a:p>
            <a:r>
              <a:t>- With a Moderne tenant, run each step with --org in a subdirectory of this one (./quality, ./quality-factory, ...), and it clones only what it changes. Without a tenant, this directory already holds the repositories: run each step in this directory, without --org, and show the command as you ran it.</a:t>
            </a:r>
          </a:p>
          <a:p/>
          <a:p>
            <a:r>
              <a:t>How to fill a slide</a:t>
            </a:r>
          </a:p>
          <a:p>
            <a:r>
              <a:t>- Replace every {{placeholder}} with what you measured. Keep each headline one sentence, and change its words where the measurement says less than the template, such as "compile" where the tests could not run.</a:t>
            </a:r>
          </a:p>
          <a:p>
            <a:r>
              <a:t>- A shape named "Screenshot placeholder" is where a capture of the step's window goes, at the moment the slide names. Crop the capture to the lines that show that moment, about fifteen, so they stay readable at the panel's size, and keep the panel's position and size. Without a capture of the moment, fill the panel with the transcript's own lines, the mod commands and their one-line results, in Courier New.</a:t>
            </a:r>
          </a:p>
          <a:p>
            <a:r>
              <a:t>- A table keeps its header row. Replace the placeholder rows and delete rows you do not need.</a:t>
            </a:r>
          </a:p>
          <a:p>
            <a:r>
              <a:t>- Leave a slide out rather than guess: delete it when you cannot measure what it needs, except where a slide's notes say to keep its placeholders.</a:t>
            </a:r>
          </a:p>
          <a:p>
            <a:r>
              <a:t>- Every number traces to a changeset id in Moderne or a run id under .moderne/run on this machine, to a data table, or to a session. Write the trace under "Source:" in the slide's notes as you fill it in.</a:t>
            </a:r>
          </a:p>
          <a:p>
            <a:r>
              <a:t>- Edit the deck with python-pptx or the like, and keep the look: no new slides, fonts or moved headlines.</a:t>
            </a:r>
          </a:p>
          <a:p>
            <a:r>
              <a:t>- Do not stop to ask. These notes answer every choice; where they do not, take the measurement that traces to a source and say in the slide's notes what you chose.</a:t>
            </a:r>
          </a:p>
          <a:p/>
          <a:p>
            <a:r>
              <a:t>Title slide: {{Customer}} is the customer's name and {{Month Year}} the month the proof of value ran.</a:t>
            </a:r>
          </a:p>
          <a:p/>
          <a:p>
            <a:r>
              <a:t>Source:</a:t>
            </a:r>
          </a:p>
        </p:txBody>
      </p:sp>
      <p:sp>
        <p:nvSpPr>
          <p:cNvPr id="127" name="Google Shape;12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a bigger objective on the same pattern: a migration, with verification, and the recipe fixed where it fell short.</a:t>
            </a:r>
          </a:p>
          <a:p/>
          <a:p>
            <a:r>
              <a:t>How to run it: the command on the left, in a window of its own. The prompt is "Keep every repository on the latest Spring Boot release. Find where each repository stands, run the upgrade recipe over everything that is behind, verify each repository with its own build, open pull requests as they pass, and where the recipe falls short fix it or write a new one and run it again over everything." plus the standard ending. Stop the step after its first verified changeset if the proof of value has no time for more, and say so in the notes.</a:t>
            </a:r>
          </a:p>
          <a:p/>
          <a:p>
            <a:r>
              <a:t>How to measure it:</a:t>
            </a:r>
          </a:p>
          <a:p>
            <a:r>
              <a:t>- Before: with a tenant, mod search moderne://&lt;org&gt; "dependency:org.springframework.boot:spring-boot" --output=summary groups repositories by version; without one, the same search over this directory, or the dependency insight recipe. After: the same, once the step's pull requests are open.</a:t>
            </a:r>
          </a:p>
          <a:p>
            <a:r>
              <a:t>- {{version}} is the release the upgrade recipe targets; find it with mod config recipes search "spring boot" --json. Builds and the recipe fixes come from board/spring-boot.md.</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how much code the proof of value ran on, by language. Every later number is "out of {{N}}".</a:t>
            </a:r>
          </a:p>
          <a:p/>
          <a:p>
            <a:r>
              <a:t>How to measure it:</a:t>
            </a:r>
          </a:p>
          <a:p>
            <a:r>
              <a:t>- With a tenant: mod run moderne://&lt;org&gt; --recipe org.openrewrite.LanguageComposition, then mod study moderne://changeset/&lt;id&gt; --data-table LanguageCompositionPerRepository. Without one: mod run . --recipe org.openrewrite.LanguageComposition, then mod study . --last-recipe-run --data-table LanguageCompositionPerRepository. The recipe changes nothing.</a:t>
            </a:r>
          </a:p>
          <a:p>
            <a:r>
              <a:t>- Sum lines of code by language. One row per language that holds more than a few percent of the code; fold the rest into one row. {{N}} is the repository count: the organization's, or the rows of .moderne/repos-lock.csv.</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the first step, run as a session of its own, and a capture of its window.</a:t>
            </a:r>
          </a:p>
          <a:p/>
          <a:p>
            <a:r>
              <a:t>How to run it: the command on the left, as the title slide's notes say, in a window of its own. The step's prompt is "Fix code quality issues" followed by the standard ending (write board/quality.md when done). Do not add hints about which recipe to use: the point of the slide is that an ordinary request is enough. The agent is expected to find the common static analysis recipe (org.openrewrite.staticanalysis.CommonStaticAnalysis) on its own, run it over everything, verify with each repository's own build, and open pull requests.</a:t>
            </a:r>
          </a:p>
          <a:p/>
          <a:p>
            <a:r>
              <a:t>How to fill it: put your agent and the organization into the command and show it as you ran it. The panel on the right is the capture of the step's first turn: the prompt, then mod config recipes search and the first mod run, from the captures taken every 45 seconds since the step started, cropped to those lines.</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what the ordinary prompt did across all {{N}} repositories, from board/quality.md and the run itself.</a:t>
            </a:r>
          </a:p>
          <a:p/>
          <a:p>
            <a:r>
              <a:t>How to measure it:</a:t>
            </a:r>
          </a:p>
          <a:p>
            <a:r>
              <a:t>- With a tenant: mod study moderne://changeset/&lt;id&gt; --repositories for the repositories changed, and the SourcesFileResults data table for files changed per recipe. Without one: mod study . --last-recipe-run --data-table SourcesFileResults, and the run's own summary.</a:t>
            </a:r>
          </a:p>
          <a:p>
            <a:r>
              <a:t>- Builds come from the step's summary: how many changed repositories compiled and passed their tests with their own build command (mod exec ... MODERNE_BUILD_TOOL_CHECK). Pull requests come from the same summary. Delete a row you cannot fill.</a:t>
            </a:r>
          </a:p>
          <a:p>
            <a:r>
              <a:t>- "A recipe made every change" holds when the step made no hand edits across repositories. If it did, say how many in the notes and change the headline to say so.</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the same objective as a standing one, run twice, so the next slide can show what a pass leaves behind.</a:t>
            </a:r>
          </a:p>
          <a:p/>
          <a:p>
            <a:r>
              <a:t>How to run it: start the step with the first command, in a window of its own. Its prompt is "Be on guard for code quality issues perpetually, fixing them as you find them", the standard ending, and one more sentence: "A pass is done when every repository has been checked, the fixes are verified and the pull requests are open; write the summary, then stop." When the summary arrives, stop the session and start the step again the same way for a second pass, which starts from what the first pushed. With Codex, mod agent send &lt;session&gt; "Look again" is the second pass without a second window.</a:t>
            </a:r>
          </a:p>
          <a:p/>
          <a:p>
            <a:r>
              <a:t>How to fill it: show the command as you ran it, and the scheduler line that keeps the factory going when nobody is watching: --unattended, with the prompt kept in a file beside the directory. The panel is a capture of the second pass's window, cropped to the lines where it finds what the first pass left.</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the recipes the two passes wrote or fixed, and how the second pass compared with the first.</a:t>
            </a:r>
          </a:p>
          <a:p/>
          <a:p>
            <a:r>
              <a:t>How to measure it:</a:t>
            </a:r>
          </a:p>
          <a:p>
            <a:r>
              <a:t>- From board/quality-factory.md of each pass: every recipe written under .moderne/recipes/ or fixed in an existing recipe repository, in Java or TypeScript, with one sentence on what it does and how many repositories it changed when run over everything. A hand edit the pass did not turn into a recipe is a hand edit; say how many there were in the notes.</a:t>
            </a:r>
          </a:p>
          <a:p>
            <a:r>
              <a:t>- The caption under the table: each pass's duration, files changed and repositories changed. A second pass that changed nothing is the point as much as one that did: the factory is quiet until the code drifts. If no pass wrote a recipe, say so in the caption and delete the table rather than inventing one.</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Nothing to fill in.</a:t>
            </a:r>
          </a:p>
        </p:txBody>
      </p:sp>
      <p:sp>
        <p:nvSpPr>
          <p:cNvPr id="451" name="Google Shape;4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outside knowledge coming in: what was disclosed, which repositories it reaches, and the fix landing everywhere at once.</a:t>
            </a:r>
          </a:p>
          <a:p/>
          <a:p>
            <a:r>
              <a:t>How to run it: the command on the left, in a window of its own. The prompt is "Watch for newly disclosed vulnerabilities that affect the tech stack of this code. Use the last30days skill when you have it, and web research when you do not. For each one, find every repository it reaches, find or write a recipe that remediates it, run it over everything affected, verify with each repository's own build, and open pull requests. Generalize any fix you make by hand into a recipe." plus the standard ending. The step should also run the dependency vulnerability check (org.openrewrite.java.dependencies.DependencyVulnerabilityCheck) so the slide has numbers even in a week with no new disclosure that reaches this code.</a:t>
            </a:r>
          </a:p>
          <a:p/>
          <a:p>
            <a:r>
              <a:t>How to measure it: the VulnerabilityReport data table of that run: mod study moderne://changeset/&lt;id&gt; --data-table VulnerabilityReport, or mod study . --last-recipe-run --data-table VulnerabilityReport. {{t}}% is the share whose depth is greater than zero. {{f}} is what the run fixed, from SourcesFileResults. The table rows are the highest-severity findings, with the fixed version from the report.</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the clearest case of the agent building its own tool: a question about data flow that no recipe answers yet, answered by a recipe it wrote.</a:t>
            </a:r>
          </a:p>
          <a:p/>
          <a:p>
            <a:r>
              <a:t>How to run it: the command on the left, in a window of its own. The prompt is "Develop the capability to answer where data flows through this code and the third-party libraries it uses. Pick one real question about this code, such as where the value read at a sensitive endpoint ends up (org.openrewrite.java.security.search.FindSensitiveApiEndpoints finds candidates). Answer it with recipes and data tables that run again over every repository, in Java or TypeScript, prove the answer on the code, and record what the capability answers and where it falls short." plus the standard ending. One question is enough for the slide.</a:t>
            </a:r>
          </a:p>
          <a:p/>
          <a:p>
            <a:r>
              <a:t>How to fill it: the question in plain words in the table's header row, then the answer with its counts, the recipe's id, the data table it emits, and where it falls short, from board/data-flow.md.</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the sentence the deck is for, with the two counts that make it concrete. The diagram stays as it is.</a:t>
            </a:r>
          </a:p>
          <a:p/>
          <a:p>
            <a:r>
              <a:t>How to measure it: {{marketplace}} is how many recipes were available when the proof of value started: what mod config recipes list reports as installed on this machine, or the total Moderne's marketplace page shows for the tenant. {{marketplace + w}} adds the recipes written during the proof of value, from the recipes slide and the other steps' summaries.</a:t>
            </a:r>
          </a:p>
          <a:p/>
          <a:p>
            <a:r>
              <a:t>What to say when presenting: the agent did not change its model during the proof of value. What it learned about this code it kept as recipes, which are deterministic, reviewed in pull requests like any other code, shared with everyone through the marketplace, and run again across every repository without the model in the loop. That is the recursive self-improvement people hope for from agents, in a form the organization owns and can inspect.</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what the proof of value cost, and what it costs to keep getting the result.</a:t>
            </a:r>
          </a:p>
          <a:p/>
          <a:p>
            <a:r>
              <a:t>How to measure it:</a:t>
            </a:r>
          </a:p>
          <a:p>
            <a:r>
              <a:t>- Agent usage is what each step's summary reports for its session, plus what your harness reports for this one; say which agent and models ran in the notes. Wall-clock time runs from this session's start to the filled deck. A person's time is what the people watching spent steering and reviewing: ask them, and leave the row out when nobody answers.</a:t>
            </a:r>
          </a:p>
          <a:p>
            <a:r>
              <a:t>- Every mod run prints a line "saved by using recipes"; add them up across the runs the steps made, from their summaries.</a:t>
            </a:r>
          </a:p>
          <a:p>
            <a:r>
              <a:t>- The last row is the point of the slide: a recipe run needs no model, so what the agent wrote keeps running for the cost of compute. Leave a row out when you cannot measure it.</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slide needs: the factories the customer keeps after the proof of value, each with an owner and the machine it runs on from a scheduler with --unattended.</a:t>
            </a:r>
          </a:p>
          <a:p/>
          <a:p>
            <a:r>
              <a:t>Fill in the owner and machine where the customer named them during the proof of value, and leave the cells as placeholders for them otherwise. Keep this slide even when every cell stays a placeholder: it is the conversation to have with the customer. Replace the last row with an objective they asked for, in their words, or delete that row. The proof of value guide's "Running a factory continuously" section is the scheduler setup to point them at.</a:t>
            </a:r>
          </a:p>
          <a:p/>
          <a:p>
            <a:r>
              <a:t>Source: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Nothing to measure. The logos are the customers shown on moderne.ai/about, the same set in the same order, in one colour. Keep the slide as it is.</a:t>
            </a:r>
          </a:p>
          <a:p/>
          <a:p>
            <a:r>
              <a:t>Source: moderne.ai/about</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lt1"/>
        </a:solidFill>
        <a:effectLst/>
      </p:bgPr>
    </p:bg>
    <p:spTree>
      <p:nvGrpSpPr>
        <p:cNvPr id="1" name="Shape 15"/>
        <p:cNvGrpSpPr/>
        <p:nvPr/>
      </p:nvGrpSpPr>
      <p:grpSpPr>
        <a:xfrm>
          <a:off x="0" y="0"/>
          <a:ext cx="0" cy="0"/>
          <a:chOff x="0" y="0"/>
          <a:chExt cx="0" cy="0"/>
        </a:xfrm>
      </p:grpSpPr>
      <p:sp>
        <p:nvSpPr>
          <p:cNvPr id="16" name="Google Shape;16;p53"/>
          <p:cNvSpPr/>
          <p:nvPr/>
        </p:nvSpPr>
        <p:spPr>
          <a:xfrm>
            <a:off x="0" y="0"/>
            <a:ext cx="12192000" cy="6858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 name="Google Shape;17;p53"/>
          <p:cNvSpPr txBox="1">
            <a:spLocks noGrp="1"/>
          </p:cNvSpPr>
          <p:nvPr>
            <p:ph type="body" idx="1"/>
          </p:nvPr>
        </p:nvSpPr>
        <p:spPr>
          <a:xfrm>
            <a:off x="523876" y="3075921"/>
            <a:ext cx="4388700" cy="706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lt1"/>
              </a:buClr>
              <a:buSzPts val="3000"/>
              <a:buNone/>
              <a:defRPr sz="3000">
                <a:solidFill>
                  <a:schemeClr val="lt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3"/>
          <p:cNvSpPr txBox="1">
            <a:spLocks noGrp="1"/>
          </p:cNvSpPr>
          <p:nvPr>
            <p:ph type="body" idx="2"/>
          </p:nvPr>
        </p:nvSpPr>
        <p:spPr>
          <a:xfrm>
            <a:off x="523876" y="2552555"/>
            <a:ext cx="4388700" cy="180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1000"/>
              </a:spcBef>
              <a:spcAft>
                <a:spcPts val="0"/>
              </a:spcAft>
              <a:buClr>
                <a:schemeClr val="lt1"/>
              </a:buClr>
              <a:buSzPts val="1200"/>
              <a:buNone/>
              <a:defRPr sz="1200">
                <a:solidFill>
                  <a:schemeClr val="lt1"/>
                </a:solidFill>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53"/>
          <p:cNvSpPr txBox="1">
            <a:spLocks noGrp="1"/>
          </p:cNvSpPr>
          <p:nvPr>
            <p:ph type="body" idx="3"/>
          </p:nvPr>
        </p:nvSpPr>
        <p:spPr>
          <a:xfrm>
            <a:off x="523876" y="6360476"/>
            <a:ext cx="4388700" cy="1800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1000"/>
              </a:spcBef>
              <a:spcAft>
                <a:spcPts val="0"/>
              </a:spcAft>
              <a:buClr>
                <a:schemeClr val="lt1"/>
              </a:buClr>
              <a:buSzPts val="1200"/>
              <a:buNone/>
              <a:defRPr sz="1200">
                <a:solidFill>
                  <a:schemeClr val="lt1"/>
                </a:solidFill>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0" name="Google Shape;20;p53" descr="A white letter on a black background&#10;&#10;Description automatically generated"/>
          <p:cNvPicPr preferRelativeResize="0"/>
          <p:nvPr/>
        </p:nvPicPr>
        <p:blipFill rotWithShape="1">
          <a:blip r:embed="rId2">
            <a:alphaModFix/>
          </a:blip>
          <a:srcRect/>
          <a:stretch/>
        </p:blipFill>
        <p:spPr>
          <a:xfrm>
            <a:off x="523876" y="497536"/>
            <a:ext cx="2893101" cy="510547"/>
          </a:xfrm>
          <a:prstGeom prst="rect">
            <a:avLst/>
          </a:prstGeom>
          <a:noFill/>
          <a:ln>
            <a:noFill/>
          </a:ln>
        </p:spPr>
      </p:pic>
      <p:pic>
        <p:nvPicPr>
          <p:cNvPr id="21" name="Google Shape;21;p53"/>
          <p:cNvPicPr preferRelativeResize="0"/>
          <p:nvPr/>
        </p:nvPicPr>
        <p:blipFill rotWithShape="1">
          <a:blip r:embed="rId3">
            <a:alphaModFix/>
          </a:blip>
          <a:srcRect l="1237" t="6952" r="1" b="12572"/>
          <a:stretch/>
        </p:blipFill>
        <p:spPr>
          <a:xfrm>
            <a:off x="5087007" y="-1"/>
            <a:ext cx="6711203" cy="685800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3_Title Only">
  <p:cSld name="13_Title Only">
    <p:bg>
      <p:bgPr>
        <a:solidFill>
          <a:schemeClr val="lt1"/>
        </a:solidFill>
        <a:effectLst/>
      </p:bgPr>
    </p:bg>
    <p:spTree>
      <p:nvGrpSpPr>
        <p:cNvPr id="1" name="Shape 22"/>
        <p:cNvGrpSpPr/>
        <p:nvPr/>
      </p:nvGrpSpPr>
      <p:grpSpPr>
        <a:xfrm>
          <a:off x="0" y="0"/>
          <a:ext cx="0" cy="0"/>
          <a:chOff x="0" y="0"/>
          <a:chExt cx="0" cy="0"/>
        </a:xfrm>
      </p:grpSpPr>
      <p:sp>
        <p:nvSpPr>
          <p:cNvPr id="23" name="Google Shape;23;p55"/>
          <p:cNvSpPr/>
          <p:nvPr/>
        </p:nvSpPr>
        <p:spPr>
          <a:xfrm>
            <a:off x="0" y="6421271"/>
            <a:ext cx="12192000" cy="436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4" name="Google Shape;24;p55"/>
          <p:cNvSpPr txBox="1">
            <a:spLocks noGrp="1"/>
          </p:cNvSpPr>
          <p:nvPr>
            <p:ph type="sldNum" idx="12"/>
          </p:nvPr>
        </p:nvSpPr>
        <p:spPr>
          <a:xfrm>
            <a:off x="11073652" y="6459668"/>
            <a:ext cx="7305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cxnSp>
        <p:nvCxnSpPr>
          <p:cNvPr id="25" name="Google Shape;25;p55"/>
          <p:cNvCxnSpPr/>
          <p:nvPr/>
        </p:nvCxnSpPr>
        <p:spPr>
          <a:xfrm rot="10800000">
            <a:off x="-72300" y="6421271"/>
            <a:ext cx="12264300" cy="0"/>
          </a:xfrm>
          <a:prstGeom prst="straightConnector1">
            <a:avLst/>
          </a:prstGeom>
          <a:noFill/>
          <a:ln w="9525" cap="flat" cmpd="sng">
            <a:solidFill>
              <a:srgbClr val="A5A5A5">
                <a:alpha val="40000"/>
              </a:srgbClr>
            </a:solidFill>
            <a:prstDash val="solid"/>
            <a:miter lim="800000"/>
            <a:headEnd type="none" w="sm" len="sm"/>
            <a:tailEnd type="none" w="sm" len="sm"/>
          </a:ln>
        </p:spPr>
      </p:cxnSp>
      <p:sp>
        <p:nvSpPr>
          <p:cNvPr id="26" name="Google Shape;26;p55"/>
          <p:cNvSpPr txBox="1"/>
          <p:nvPr/>
        </p:nvSpPr>
        <p:spPr>
          <a:xfrm>
            <a:off x="5141259" y="6526835"/>
            <a:ext cx="19095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900" b="0" i="0" u="none" strike="noStrike" cap="none">
                <a:solidFill>
                  <a:srgbClr val="EFEEFE"/>
                </a:solidFill>
                <a:latin typeface="Poppins"/>
                <a:ea typeface="Poppins"/>
                <a:cs typeface="Poppins"/>
                <a:sym typeface="Poppins"/>
              </a:rPr>
              <a:t>©2026 Moderne, Inc.</a:t>
            </a:r>
            <a:endParaRPr sz="900" b="0" i="0" u="none" strike="noStrike" cap="none">
              <a:solidFill>
                <a:srgbClr val="EFEEFE"/>
              </a:solidFill>
              <a:latin typeface="Poppins"/>
              <a:ea typeface="Poppins"/>
              <a:cs typeface="Poppins"/>
              <a:sym typeface="Poppins"/>
            </a:endParaRPr>
          </a:p>
        </p:txBody>
      </p:sp>
      <p:pic>
        <p:nvPicPr>
          <p:cNvPr id="27" name="Google Shape;27;p55" descr="Shape&#10;&#10;Description automatically generated with medium confidence"/>
          <p:cNvPicPr preferRelativeResize="0"/>
          <p:nvPr/>
        </p:nvPicPr>
        <p:blipFill rotWithShape="1">
          <a:blip r:embed="rId2">
            <a:alphaModFix/>
          </a:blip>
          <a:srcRect r="81307" b="-14127"/>
          <a:stretch/>
        </p:blipFill>
        <p:spPr>
          <a:xfrm>
            <a:off x="11592089" y="272005"/>
            <a:ext cx="431021" cy="393513"/>
          </a:xfrm>
          <a:prstGeom prst="rect">
            <a:avLst/>
          </a:prstGeom>
          <a:noFill/>
          <a:ln>
            <a:noFill/>
          </a:ln>
        </p:spPr>
      </p:pic>
      <p:sp>
        <p:nvSpPr>
          <p:cNvPr id="28" name="Google Shape;28;p55"/>
          <p:cNvSpPr txBox="1">
            <a:spLocks noGrp="1"/>
          </p:cNvSpPr>
          <p:nvPr>
            <p:ph type="body" idx="1"/>
          </p:nvPr>
        </p:nvSpPr>
        <p:spPr>
          <a:xfrm>
            <a:off x="523876" y="457384"/>
            <a:ext cx="7495800" cy="706200"/>
          </a:xfrm>
          <a:prstGeom prst="rect">
            <a:avLst/>
          </a:prstGeom>
          <a:noFill/>
          <a:ln>
            <a:noFill/>
          </a:ln>
        </p:spPr>
        <p:txBody>
          <a:bodyPr spcFirstLastPara="1" wrap="square" lIns="0" tIns="0" rIns="0" bIns="0" anchor="ctr" anchorCtr="0">
            <a:normAutofit/>
          </a:bodyPr>
          <a:lstStyle>
            <a:lvl1pPr marL="457200" lvl="0" indent="-228600" algn="l">
              <a:lnSpc>
                <a:spcPct val="100000"/>
              </a:lnSpc>
              <a:spcBef>
                <a:spcPts val="1000"/>
              </a:spcBef>
              <a:spcAft>
                <a:spcPts val="0"/>
              </a:spcAft>
              <a:buClr>
                <a:schemeClr val="dk1"/>
              </a:buClr>
              <a:buSzPts val="3000"/>
              <a:buNone/>
              <a:defRPr sz="3000">
                <a:solidFill>
                  <a:schemeClr val="dk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9" name="Google Shape;29;p55" descr="A white letter on a black background&#10;&#10;AI-generated content may be incorrect."/>
          <p:cNvPicPr preferRelativeResize="0"/>
          <p:nvPr/>
        </p:nvPicPr>
        <p:blipFill rotWithShape="1">
          <a:blip r:embed="rId3">
            <a:alphaModFix/>
          </a:blip>
          <a:srcRect/>
          <a:stretch/>
        </p:blipFill>
        <p:spPr>
          <a:xfrm>
            <a:off x="387849" y="6522297"/>
            <a:ext cx="1300872" cy="22956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Title Slide">
  <p:cSld name="3_Title Slide">
    <p:bg>
      <p:bgPr>
        <a:solidFill>
          <a:schemeClr val="lt1"/>
        </a:solidFill>
        <a:effectLst/>
      </p:bgPr>
    </p:bg>
    <p:spTree>
      <p:nvGrpSpPr>
        <p:cNvPr id="1" name="Shape 38"/>
        <p:cNvGrpSpPr/>
        <p:nvPr/>
      </p:nvGrpSpPr>
      <p:grpSpPr>
        <a:xfrm>
          <a:off x="0" y="0"/>
          <a:ext cx="0" cy="0"/>
          <a:chOff x="0" y="0"/>
          <a:chExt cx="0" cy="0"/>
        </a:xfrm>
      </p:grpSpPr>
      <p:pic>
        <p:nvPicPr>
          <p:cNvPr id="39" name="Google Shape;39;p37" descr="Background pattern&#10;&#10;Description automatically generated with medium confidence"/>
          <p:cNvPicPr preferRelativeResize="0"/>
          <p:nvPr/>
        </p:nvPicPr>
        <p:blipFill rotWithShape="1">
          <a:blip r:embed="rId2">
            <a:alphaModFix/>
          </a:blip>
          <a:srcRect/>
          <a:stretch/>
        </p:blipFill>
        <p:spPr>
          <a:xfrm>
            <a:off x="0" y="0"/>
            <a:ext cx="12192000" cy="6858001"/>
          </a:xfrm>
          <a:prstGeom prst="rect">
            <a:avLst/>
          </a:prstGeom>
          <a:noFill/>
          <a:ln>
            <a:noFill/>
          </a:ln>
        </p:spPr>
      </p:pic>
      <p:sp>
        <p:nvSpPr>
          <p:cNvPr id="40" name="Google Shape;40;p37"/>
          <p:cNvSpPr txBox="1">
            <a:spLocks noGrp="1"/>
          </p:cNvSpPr>
          <p:nvPr>
            <p:ph type="sldNum" idx="12"/>
          </p:nvPr>
        </p:nvSpPr>
        <p:spPr>
          <a:xfrm>
            <a:off x="11073652" y="6459668"/>
            <a:ext cx="7305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cxnSp>
        <p:nvCxnSpPr>
          <p:cNvPr id="41" name="Google Shape;41;p37"/>
          <p:cNvCxnSpPr/>
          <p:nvPr/>
        </p:nvCxnSpPr>
        <p:spPr>
          <a:xfrm rot="10800000">
            <a:off x="-72300" y="6421271"/>
            <a:ext cx="12264300" cy="0"/>
          </a:xfrm>
          <a:prstGeom prst="straightConnector1">
            <a:avLst/>
          </a:prstGeom>
          <a:noFill/>
          <a:ln w="9525" cap="flat" cmpd="sng">
            <a:solidFill>
              <a:srgbClr val="A5A5A5">
                <a:alpha val="40000"/>
              </a:srgbClr>
            </a:solidFill>
            <a:prstDash val="solid"/>
            <a:miter lim="800000"/>
            <a:headEnd type="none" w="sm" len="sm"/>
            <a:tailEnd type="none" w="sm" len="sm"/>
          </a:ln>
        </p:spPr>
      </p:cxnSp>
      <p:sp>
        <p:nvSpPr>
          <p:cNvPr id="42" name="Google Shape;42;p37"/>
          <p:cNvSpPr txBox="1"/>
          <p:nvPr/>
        </p:nvSpPr>
        <p:spPr>
          <a:xfrm>
            <a:off x="5141259" y="6526835"/>
            <a:ext cx="19095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900" b="0" i="0" u="none" strike="noStrike" cap="none">
                <a:solidFill>
                  <a:srgbClr val="EFEEFE"/>
                </a:solidFill>
                <a:latin typeface="Poppins Light"/>
                <a:ea typeface="Poppins Light"/>
                <a:cs typeface="Poppins Light"/>
                <a:sym typeface="Poppins Light"/>
              </a:rPr>
              <a:t>©2026 Moderne, Inc.</a:t>
            </a:r>
            <a:endParaRPr sz="900" b="0" i="0" u="none" strike="noStrike" cap="none">
              <a:solidFill>
                <a:srgbClr val="EFEEFE"/>
              </a:solidFill>
              <a:latin typeface="Arial"/>
              <a:ea typeface="Arial"/>
              <a:cs typeface="Arial"/>
              <a:sym typeface="Arial"/>
            </a:endParaRPr>
          </a:p>
        </p:txBody>
      </p:sp>
      <p:pic>
        <p:nvPicPr>
          <p:cNvPr id="43" name="Google Shape;43;p37" descr="A picture containing text, clipart&#10;&#10;Description automatically generated"/>
          <p:cNvPicPr preferRelativeResize="0"/>
          <p:nvPr/>
        </p:nvPicPr>
        <p:blipFill rotWithShape="1">
          <a:blip r:embed="rId3">
            <a:alphaModFix/>
          </a:blip>
          <a:srcRect l="3701" r="78215" b="-2615"/>
          <a:stretch/>
        </p:blipFill>
        <p:spPr>
          <a:xfrm>
            <a:off x="5806880" y="2197592"/>
            <a:ext cx="505797" cy="471650"/>
          </a:xfrm>
          <a:prstGeom prst="rect">
            <a:avLst/>
          </a:prstGeom>
          <a:noFill/>
          <a:ln>
            <a:noFill/>
          </a:ln>
        </p:spPr>
      </p:pic>
      <p:sp>
        <p:nvSpPr>
          <p:cNvPr id="44" name="Google Shape;44;p37"/>
          <p:cNvSpPr txBox="1">
            <a:spLocks noGrp="1"/>
          </p:cNvSpPr>
          <p:nvPr>
            <p:ph type="body" idx="1"/>
          </p:nvPr>
        </p:nvSpPr>
        <p:spPr>
          <a:xfrm>
            <a:off x="3088353" y="2964424"/>
            <a:ext cx="5943000" cy="19161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Clr>
                <a:schemeClr val="lt1"/>
              </a:buClr>
              <a:buSzPts val="1400"/>
              <a:buNone/>
              <a:defRPr sz="1400">
                <a:solidFill>
                  <a:schemeClr val="lt1"/>
                </a:solidFill>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5" name="Google Shape;45;p37" descr="A white letter on a black background&#10;&#10;AI-generated content may be incorrect."/>
          <p:cNvPicPr preferRelativeResize="0"/>
          <p:nvPr/>
        </p:nvPicPr>
        <p:blipFill rotWithShape="1">
          <a:blip r:embed="rId4">
            <a:alphaModFix/>
          </a:blip>
          <a:srcRect/>
          <a:stretch/>
        </p:blipFill>
        <p:spPr>
          <a:xfrm>
            <a:off x="387849" y="6522297"/>
            <a:ext cx="1300872" cy="22956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OC">
  <p:cSld name="1_TOC">
    <p:bg>
      <p:bgPr>
        <a:solidFill>
          <a:schemeClr val="dk1"/>
        </a:solidFill>
        <a:effectLst/>
      </p:bgPr>
    </p:bg>
    <p:spTree>
      <p:nvGrpSpPr>
        <p:cNvPr id="1" name="Shape 46"/>
        <p:cNvGrpSpPr/>
        <p:nvPr/>
      </p:nvGrpSpPr>
      <p:grpSpPr>
        <a:xfrm>
          <a:off x="0" y="0"/>
          <a:ext cx="0" cy="0"/>
          <a:chOff x="0" y="0"/>
          <a:chExt cx="0" cy="0"/>
        </a:xfrm>
      </p:grpSpPr>
      <p:sp>
        <p:nvSpPr>
          <p:cNvPr id="47" name="Google Shape;47;p54"/>
          <p:cNvSpPr txBox="1">
            <a:spLocks noGrp="1"/>
          </p:cNvSpPr>
          <p:nvPr>
            <p:ph type="sldNum" idx="12"/>
          </p:nvPr>
        </p:nvSpPr>
        <p:spPr>
          <a:xfrm>
            <a:off x="11073652" y="6459668"/>
            <a:ext cx="7305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cxnSp>
        <p:nvCxnSpPr>
          <p:cNvPr id="48" name="Google Shape;48;p54"/>
          <p:cNvCxnSpPr/>
          <p:nvPr/>
        </p:nvCxnSpPr>
        <p:spPr>
          <a:xfrm rot="10800000">
            <a:off x="-72300" y="6421271"/>
            <a:ext cx="12264300" cy="0"/>
          </a:xfrm>
          <a:prstGeom prst="straightConnector1">
            <a:avLst/>
          </a:prstGeom>
          <a:noFill/>
          <a:ln w="9525" cap="flat" cmpd="sng">
            <a:solidFill>
              <a:srgbClr val="A5A5A5">
                <a:alpha val="40000"/>
              </a:srgbClr>
            </a:solidFill>
            <a:prstDash val="solid"/>
            <a:miter lim="800000"/>
            <a:headEnd type="none" w="sm" len="sm"/>
            <a:tailEnd type="none" w="sm" len="sm"/>
          </a:ln>
        </p:spPr>
      </p:cxnSp>
      <p:sp>
        <p:nvSpPr>
          <p:cNvPr id="49" name="Google Shape;49;p54"/>
          <p:cNvSpPr txBox="1"/>
          <p:nvPr/>
        </p:nvSpPr>
        <p:spPr>
          <a:xfrm>
            <a:off x="5141259" y="6526835"/>
            <a:ext cx="19095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900" b="0" i="0" u="none" strike="noStrike" cap="none">
                <a:solidFill>
                  <a:srgbClr val="EFEEFE"/>
                </a:solidFill>
                <a:latin typeface="Poppins Light"/>
                <a:ea typeface="Poppins Light"/>
                <a:cs typeface="Poppins Light"/>
                <a:sym typeface="Poppins Light"/>
              </a:rPr>
              <a:t>©2026 Moderne, Inc.</a:t>
            </a:r>
            <a:endParaRPr sz="900" b="0" i="0" u="none" strike="noStrike" cap="none">
              <a:solidFill>
                <a:srgbClr val="EFEEFE"/>
              </a:solidFill>
              <a:latin typeface="Arial"/>
              <a:ea typeface="Arial"/>
              <a:cs typeface="Arial"/>
              <a:sym typeface="Arial"/>
            </a:endParaRPr>
          </a:p>
        </p:txBody>
      </p:sp>
      <p:pic>
        <p:nvPicPr>
          <p:cNvPr id="50" name="Google Shape;50;p54" descr="A picture containing text, clipart&#10;&#10;Description automatically generated"/>
          <p:cNvPicPr preferRelativeResize="0"/>
          <p:nvPr/>
        </p:nvPicPr>
        <p:blipFill rotWithShape="1">
          <a:blip r:embed="rId2">
            <a:alphaModFix/>
          </a:blip>
          <a:srcRect r="78216" b="-14320"/>
          <a:stretch/>
        </p:blipFill>
        <p:spPr>
          <a:xfrm>
            <a:off x="11185262" y="388962"/>
            <a:ext cx="609342" cy="525438"/>
          </a:xfrm>
          <a:prstGeom prst="rect">
            <a:avLst/>
          </a:prstGeom>
          <a:noFill/>
          <a:ln>
            <a:noFill/>
          </a:ln>
        </p:spPr>
      </p:pic>
      <p:sp>
        <p:nvSpPr>
          <p:cNvPr id="51" name="Google Shape;51;p54"/>
          <p:cNvSpPr txBox="1">
            <a:spLocks noGrp="1"/>
          </p:cNvSpPr>
          <p:nvPr>
            <p:ph type="body" idx="1"/>
          </p:nvPr>
        </p:nvSpPr>
        <p:spPr>
          <a:xfrm>
            <a:off x="6339727" y="1180044"/>
            <a:ext cx="612300" cy="773400"/>
          </a:xfrm>
          <a:prstGeom prst="rect">
            <a:avLst/>
          </a:prstGeom>
          <a:noFill/>
          <a:ln>
            <a:noFill/>
          </a:ln>
        </p:spPr>
        <p:txBody>
          <a:bodyPr spcFirstLastPara="1" wrap="square" lIns="0" tIns="0" rIns="0" bIns="0" anchor="ctr" anchorCtr="0">
            <a:noAutofit/>
          </a:bodyPr>
          <a:lstStyle>
            <a:lvl1pPr marL="457200" lvl="0" indent="-228600" algn="l">
              <a:lnSpc>
                <a:spcPct val="125000"/>
              </a:lnSpc>
              <a:spcBef>
                <a:spcPts val="1000"/>
              </a:spcBef>
              <a:spcAft>
                <a:spcPts val="0"/>
              </a:spcAft>
              <a:buClr>
                <a:srgbClr val="2E42FF"/>
              </a:buClr>
              <a:buSzPts val="2400"/>
              <a:buNone/>
              <a:defRPr sz="2400">
                <a:solidFill>
                  <a:srgbClr val="2E42FF"/>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54"/>
          <p:cNvSpPr txBox="1">
            <a:spLocks noGrp="1"/>
          </p:cNvSpPr>
          <p:nvPr>
            <p:ph type="body" idx="2"/>
          </p:nvPr>
        </p:nvSpPr>
        <p:spPr>
          <a:xfrm>
            <a:off x="6958291" y="1180044"/>
            <a:ext cx="3792600" cy="773400"/>
          </a:xfrm>
          <a:prstGeom prst="rect">
            <a:avLst/>
          </a:prstGeom>
          <a:noFill/>
          <a:ln>
            <a:noFill/>
          </a:ln>
        </p:spPr>
        <p:txBody>
          <a:bodyPr spcFirstLastPara="1" wrap="square" lIns="0" tIns="0" rIns="0" bIns="0" anchor="ctr" anchorCtr="0">
            <a:noAutofit/>
          </a:bodyPr>
          <a:lstStyle>
            <a:lvl1pPr marL="457200" lvl="0" indent="-228600" algn="l">
              <a:lnSpc>
                <a:spcPct val="150000"/>
              </a:lnSpc>
              <a:spcBef>
                <a:spcPts val="1000"/>
              </a:spcBef>
              <a:spcAft>
                <a:spcPts val="0"/>
              </a:spcAft>
              <a:buClr>
                <a:schemeClr val="lt1"/>
              </a:buClr>
              <a:buSzPts val="2000"/>
              <a:buNone/>
              <a:defRPr sz="2000">
                <a:solidFill>
                  <a:schemeClr val="lt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3"/>
          </p:nvPr>
        </p:nvSpPr>
        <p:spPr>
          <a:xfrm>
            <a:off x="6339727" y="2101167"/>
            <a:ext cx="612300" cy="773400"/>
          </a:xfrm>
          <a:prstGeom prst="rect">
            <a:avLst/>
          </a:prstGeom>
          <a:noFill/>
          <a:ln>
            <a:noFill/>
          </a:ln>
        </p:spPr>
        <p:txBody>
          <a:bodyPr spcFirstLastPara="1" wrap="square" lIns="0" tIns="0" rIns="0" bIns="0" anchor="ctr" anchorCtr="0">
            <a:noAutofit/>
          </a:bodyPr>
          <a:lstStyle>
            <a:lvl1pPr marL="457200" lvl="0" indent="-228600" algn="l">
              <a:lnSpc>
                <a:spcPct val="125000"/>
              </a:lnSpc>
              <a:spcBef>
                <a:spcPts val="1000"/>
              </a:spcBef>
              <a:spcAft>
                <a:spcPts val="0"/>
              </a:spcAft>
              <a:buClr>
                <a:srgbClr val="2E42FF"/>
              </a:buClr>
              <a:buSzPts val="2400"/>
              <a:buNone/>
              <a:defRPr sz="2400">
                <a:solidFill>
                  <a:srgbClr val="2E42FF"/>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4"/>
          </p:nvPr>
        </p:nvSpPr>
        <p:spPr>
          <a:xfrm>
            <a:off x="6958291" y="2101167"/>
            <a:ext cx="3792600" cy="773400"/>
          </a:xfrm>
          <a:prstGeom prst="rect">
            <a:avLst/>
          </a:prstGeom>
          <a:noFill/>
          <a:ln>
            <a:noFill/>
          </a:ln>
        </p:spPr>
        <p:txBody>
          <a:bodyPr spcFirstLastPara="1" wrap="square" lIns="0" tIns="0" rIns="0" bIns="0" anchor="ctr" anchorCtr="0">
            <a:noAutofit/>
          </a:bodyPr>
          <a:lstStyle>
            <a:lvl1pPr marL="457200" lvl="0" indent="-228600" algn="l">
              <a:lnSpc>
                <a:spcPct val="150000"/>
              </a:lnSpc>
              <a:spcBef>
                <a:spcPts val="1000"/>
              </a:spcBef>
              <a:spcAft>
                <a:spcPts val="0"/>
              </a:spcAft>
              <a:buClr>
                <a:schemeClr val="lt1"/>
              </a:buClr>
              <a:buSzPts val="2000"/>
              <a:buNone/>
              <a:defRPr sz="2000">
                <a:solidFill>
                  <a:schemeClr val="lt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txBox="1">
            <a:spLocks noGrp="1"/>
          </p:cNvSpPr>
          <p:nvPr>
            <p:ph type="body" idx="5"/>
          </p:nvPr>
        </p:nvSpPr>
        <p:spPr>
          <a:xfrm>
            <a:off x="6333564" y="3032587"/>
            <a:ext cx="612300" cy="773400"/>
          </a:xfrm>
          <a:prstGeom prst="rect">
            <a:avLst/>
          </a:prstGeom>
          <a:noFill/>
          <a:ln>
            <a:noFill/>
          </a:ln>
        </p:spPr>
        <p:txBody>
          <a:bodyPr spcFirstLastPara="1" wrap="square" lIns="0" tIns="0" rIns="0" bIns="0" anchor="ctr" anchorCtr="0">
            <a:noAutofit/>
          </a:bodyPr>
          <a:lstStyle>
            <a:lvl1pPr marL="457200" lvl="0" indent="-228600" algn="l">
              <a:lnSpc>
                <a:spcPct val="125000"/>
              </a:lnSpc>
              <a:spcBef>
                <a:spcPts val="1000"/>
              </a:spcBef>
              <a:spcAft>
                <a:spcPts val="0"/>
              </a:spcAft>
              <a:buClr>
                <a:srgbClr val="2E42FF"/>
              </a:buClr>
              <a:buSzPts val="2400"/>
              <a:buNone/>
              <a:defRPr sz="2400">
                <a:solidFill>
                  <a:srgbClr val="2E42FF"/>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54"/>
          <p:cNvSpPr txBox="1">
            <a:spLocks noGrp="1"/>
          </p:cNvSpPr>
          <p:nvPr>
            <p:ph type="body" idx="6"/>
          </p:nvPr>
        </p:nvSpPr>
        <p:spPr>
          <a:xfrm>
            <a:off x="6952128" y="3032587"/>
            <a:ext cx="3792600" cy="773400"/>
          </a:xfrm>
          <a:prstGeom prst="rect">
            <a:avLst/>
          </a:prstGeom>
          <a:noFill/>
          <a:ln>
            <a:noFill/>
          </a:ln>
        </p:spPr>
        <p:txBody>
          <a:bodyPr spcFirstLastPara="1" wrap="square" lIns="0" tIns="0" rIns="0" bIns="0" anchor="ctr" anchorCtr="0">
            <a:noAutofit/>
          </a:bodyPr>
          <a:lstStyle>
            <a:lvl1pPr marL="457200" lvl="0" indent="-228600" algn="l">
              <a:lnSpc>
                <a:spcPct val="150000"/>
              </a:lnSpc>
              <a:spcBef>
                <a:spcPts val="1000"/>
              </a:spcBef>
              <a:spcAft>
                <a:spcPts val="0"/>
              </a:spcAft>
              <a:buClr>
                <a:schemeClr val="lt1"/>
              </a:buClr>
              <a:buSzPts val="2000"/>
              <a:buNone/>
              <a:defRPr sz="2000">
                <a:solidFill>
                  <a:schemeClr val="lt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54"/>
          <p:cNvSpPr txBox="1">
            <a:spLocks noGrp="1"/>
          </p:cNvSpPr>
          <p:nvPr>
            <p:ph type="body" idx="7"/>
          </p:nvPr>
        </p:nvSpPr>
        <p:spPr>
          <a:xfrm>
            <a:off x="6327401" y="3964007"/>
            <a:ext cx="612300" cy="773400"/>
          </a:xfrm>
          <a:prstGeom prst="rect">
            <a:avLst/>
          </a:prstGeom>
          <a:noFill/>
          <a:ln>
            <a:noFill/>
          </a:ln>
        </p:spPr>
        <p:txBody>
          <a:bodyPr spcFirstLastPara="1" wrap="square" lIns="0" tIns="0" rIns="0" bIns="0" anchor="ctr" anchorCtr="0">
            <a:noAutofit/>
          </a:bodyPr>
          <a:lstStyle>
            <a:lvl1pPr marL="457200" lvl="0" indent="-228600" algn="l">
              <a:lnSpc>
                <a:spcPct val="125000"/>
              </a:lnSpc>
              <a:spcBef>
                <a:spcPts val="1000"/>
              </a:spcBef>
              <a:spcAft>
                <a:spcPts val="0"/>
              </a:spcAft>
              <a:buClr>
                <a:srgbClr val="2E42FF"/>
              </a:buClr>
              <a:buSzPts val="2400"/>
              <a:buNone/>
              <a:defRPr sz="2400">
                <a:solidFill>
                  <a:srgbClr val="2E42FF"/>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54"/>
          <p:cNvSpPr txBox="1">
            <a:spLocks noGrp="1"/>
          </p:cNvSpPr>
          <p:nvPr>
            <p:ph type="body" idx="8"/>
          </p:nvPr>
        </p:nvSpPr>
        <p:spPr>
          <a:xfrm>
            <a:off x="6945965" y="3964007"/>
            <a:ext cx="3792600" cy="773400"/>
          </a:xfrm>
          <a:prstGeom prst="rect">
            <a:avLst/>
          </a:prstGeom>
          <a:noFill/>
          <a:ln>
            <a:noFill/>
          </a:ln>
        </p:spPr>
        <p:txBody>
          <a:bodyPr spcFirstLastPara="1" wrap="square" lIns="0" tIns="0" rIns="0" bIns="0" anchor="ctr" anchorCtr="0">
            <a:noAutofit/>
          </a:bodyPr>
          <a:lstStyle>
            <a:lvl1pPr marL="457200" lvl="0" indent="-228600" algn="l">
              <a:lnSpc>
                <a:spcPct val="150000"/>
              </a:lnSpc>
              <a:spcBef>
                <a:spcPts val="1000"/>
              </a:spcBef>
              <a:spcAft>
                <a:spcPts val="0"/>
              </a:spcAft>
              <a:buClr>
                <a:schemeClr val="lt1"/>
              </a:buClr>
              <a:buSzPts val="2000"/>
              <a:buNone/>
              <a:defRPr sz="2000">
                <a:solidFill>
                  <a:schemeClr val="lt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54"/>
          <p:cNvSpPr txBox="1">
            <a:spLocks noGrp="1"/>
          </p:cNvSpPr>
          <p:nvPr>
            <p:ph type="body" idx="9"/>
          </p:nvPr>
        </p:nvSpPr>
        <p:spPr>
          <a:xfrm>
            <a:off x="6321238" y="4895427"/>
            <a:ext cx="612300" cy="773400"/>
          </a:xfrm>
          <a:prstGeom prst="rect">
            <a:avLst/>
          </a:prstGeom>
          <a:noFill/>
          <a:ln>
            <a:noFill/>
          </a:ln>
        </p:spPr>
        <p:txBody>
          <a:bodyPr spcFirstLastPara="1" wrap="square" lIns="0" tIns="0" rIns="0" bIns="0" anchor="ctr" anchorCtr="0">
            <a:noAutofit/>
          </a:bodyPr>
          <a:lstStyle>
            <a:lvl1pPr marL="457200" lvl="0" indent="-228600" algn="l">
              <a:lnSpc>
                <a:spcPct val="125000"/>
              </a:lnSpc>
              <a:spcBef>
                <a:spcPts val="1000"/>
              </a:spcBef>
              <a:spcAft>
                <a:spcPts val="0"/>
              </a:spcAft>
              <a:buClr>
                <a:srgbClr val="2E42FF"/>
              </a:buClr>
              <a:buSzPts val="2400"/>
              <a:buNone/>
              <a:defRPr sz="2400">
                <a:solidFill>
                  <a:srgbClr val="2E42FF"/>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60" name="Google Shape;60;p54"/>
          <p:cNvGrpSpPr/>
          <p:nvPr/>
        </p:nvGrpSpPr>
        <p:grpSpPr>
          <a:xfrm>
            <a:off x="6036505" y="1180045"/>
            <a:ext cx="4720135" cy="4488783"/>
            <a:chOff x="6036720" y="1302458"/>
            <a:chExt cx="5148489" cy="4488783"/>
          </a:xfrm>
        </p:grpSpPr>
        <p:sp>
          <p:nvSpPr>
            <p:cNvPr id="61" name="Google Shape;61;p54"/>
            <p:cNvSpPr/>
            <p:nvPr/>
          </p:nvSpPr>
          <p:spPr>
            <a:xfrm>
              <a:off x="6055209" y="1302458"/>
              <a:ext cx="5130000" cy="773400"/>
            </a:xfrm>
            <a:prstGeom prst="roundRect">
              <a:avLst>
                <a:gd name="adj" fmla="val 50000"/>
              </a:avLst>
            </a:prstGeom>
            <a:noFill/>
            <a:ln w="12700" cap="flat" cmpd="sng">
              <a:solidFill>
                <a:srgbClr val="2E4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54"/>
            <p:cNvSpPr/>
            <p:nvPr/>
          </p:nvSpPr>
          <p:spPr>
            <a:xfrm>
              <a:off x="6055209" y="2223581"/>
              <a:ext cx="5130000" cy="773400"/>
            </a:xfrm>
            <a:prstGeom prst="roundRect">
              <a:avLst>
                <a:gd name="adj" fmla="val 50000"/>
              </a:avLst>
            </a:prstGeom>
            <a:noFill/>
            <a:ln w="12700" cap="flat" cmpd="sng">
              <a:solidFill>
                <a:srgbClr val="2E4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 name="Google Shape;63;p54"/>
            <p:cNvSpPr/>
            <p:nvPr/>
          </p:nvSpPr>
          <p:spPr>
            <a:xfrm>
              <a:off x="6049046" y="3155001"/>
              <a:ext cx="5130000" cy="773400"/>
            </a:xfrm>
            <a:prstGeom prst="roundRect">
              <a:avLst>
                <a:gd name="adj" fmla="val 50000"/>
              </a:avLst>
            </a:prstGeom>
            <a:noFill/>
            <a:ln w="12700" cap="flat" cmpd="sng">
              <a:solidFill>
                <a:srgbClr val="2E4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 name="Google Shape;64;p54"/>
            <p:cNvSpPr/>
            <p:nvPr/>
          </p:nvSpPr>
          <p:spPr>
            <a:xfrm>
              <a:off x="6042883" y="4086421"/>
              <a:ext cx="5130000" cy="773400"/>
            </a:xfrm>
            <a:prstGeom prst="roundRect">
              <a:avLst>
                <a:gd name="adj" fmla="val 50000"/>
              </a:avLst>
            </a:prstGeom>
            <a:noFill/>
            <a:ln w="12700" cap="flat" cmpd="sng">
              <a:solidFill>
                <a:srgbClr val="2E4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 name="Google Shape;65;p54"/>
            <p:cNvSpPr/>
            <p:nvPr/>
          </p:nvSpPr>
          <p:spPr>
            <a:xfrm>
              <a:off x="6036720" y="5017841"/>
              <a:ext cx="5130000" cy="773400"/>
            </a:xfrm>
            <a:prstGeom prst="roundRect">
              <a:avLst>
                <a:gd name="adj" fmla="val 50000"/>
              </a:avLst>
            </a:prstGeom>
            <a:noFill/>
            <a:ln w="12700" cap="flat" cmpd="sng">
              <a:solidFill>
                <a:srgbClr val="2E4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 name="Google Shape;66;p54"/>
          <p:cNvSpPr txBox="1">
            <a:spLocks noGrp="1"/>
          </p:cNvSpPr>
          <p:nvPr>
            <p:ph type="body" idx="13"/>
          </p:nvPr>
        </p:nvSpPr>
        <p:spPr>
          <a:xfrm>
            <a:off x="6939802" y="4895427"/>
            <a:ext cx="3792600" cy="773400"/>
          </a:xfrm>
          <a:prstGeom prst="rect">
            <a:avLst/>
          </a:prstGeom>
          <a:noFill/>
          <a:ln>
            <a:noFill/>
          </a:ln>
        </p:spPr>
        <p:txBody>
          <a:bodyPr spcFirstLastPara="1" wrap="square" lIns="0" tIns="0" rIns="0" bIns="0" anchor="ctr" anchorCtr="0">
            <a:noAutofit/>
          </a:bodyPr>
          <a:lstStyle>
            <a:lvl1pPr marL="457200" lvl="0" indent="-228600" algn="l">
              <a:lnSpc>
                <a:spcPct val="150000"/>
              </a:lnSpc>
              <a:spcBef>
                <a:spcPts val="1000"/>
              </a:spcBef>
              <a:spcAft>
                <a:spcPts val="0"/>
              </a:spcAft>
              <a:buClr>
                <a:schemeClr val="lt1"/>
              </a:buClr>
              <a:buSzPts val="2000"/>
              <a:buNone/>
              <a:defRPr sz="2000">
                <a:solidFill>
                  <a:schemeClr val="lt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54"/>
          <p:cNvSpPr txBox="1"/>
          <p:nvPr/>
        </p:nvSpPr>
        <p:spPr>
          <a:xfrm>
            <a:off x="417646" y="1180044"/>
            <a:ext cx="21156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lt1"/>
                </a:solidFill>
                <a:latin typeface="Poppins"/>
                <a:ea typeface="Poppins"/>
                <a:cs typeface="Poppins"/>
                <a:sym typeface="Poppins"/>
              </a:rPr>
              <a:t>Contents</a:t>
            </a:r>
            <a:endParaRPr sz="1400" b="0" i="0" u="none" strike="noStrike" cap="none">
              <a:solidFill>
                <a:srgbClr val="000000"/>
              </a:solidFill>
              <a:latin typeface="Arial"/>
              <a:ea typeface="Arial"/>
              <a:cs typeface="Arial"/>
              <a:sym typeface="Arial"/>
            </a:endParaRPr>
          </a:p>
        </p:txBody>
      </p:sp>
      <p:pic>
        <p:nvPicPr>
          <p:cNvPr id="68" name="Google Shape;68;p54" descr="A white letter on a black background&#10;&#10;AI-generated content may be incorrect."/>
          <p:cNvPicPr preferRelativeResize="0"/>
          <p:nvPr/>
        </p:nvPicPr>
        <p:blipFill rotWithShape="1">
          <a:blip r:embed="rId3">
            <a:alphaModFix/>
          </a:blip>
          <a:srcRect/>
          <a:stretch/>
        </p:blipFill>
        <p:spPr>
          <a:xfrm>
            <a:off x="387849" y="6522297"/>
            <a:ext cx="1300872" cy="22956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5_Title Only">
  <p:cSld name="15_Title Only">
    <p:bg>
      <p:bgPr>
        <a:solidFill>
          <a:schemeClr val="lt1"/>
        </a:solidFill>
        <a:effectLst/>
      </p:bgPr>
    </p:bg>
    <p:spTree>
      <p:nvGrpSpPr>
        <p:cNvPr id="1" name="Shape 69"/>
        <p:cNvGrpSpPr/>
        <p:nvPr/>
      </p:nvGrpSpPr>
      <p:grpSpPr>
        <a:xfrm>
          <a:off x="0" y="0"/>
          <a:ext cx="0" cy="0"/>
          <a:chOff x="0" y="0"/>
          <a:chExt cx="0" cy="0"/>
        </a:xfrm>
      </p:grpSpPr>
      <p:sp>
        <p:nvSpPr>
          <p:cNvPr id="70" name="Google Shape;70;p72"/>
          <p:cNvSpPr/>
          <p:nvPr/>
        </p:nvSpPr>
        <p:spPr>
          <a:xfrm>
            <a:off x="0" y="6421271"/>
            <a:ext cx="12192000" cy="43672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Poppins"/>
              <a:ea typeface="Poppins"/>
              <a:cs typeface="Poppins"/>
              <a:sym typeface="Poppins"/>
            </a:endParaRPr>
          </a:p>
        </p:txBody>
      </p:sp>
      <p:sp>
        <p:nvSpPr>
          <p:cNvPr id="71" name="Google Shape;71;p72"/>
          <p:cNvSpPr txBox="1">
            <a:spLocks noGrp="1"/>
          </p:cNvSpPr>
          <p:nvPr>
            <p:ph type="sldNum" idx="12"/>
          </p:nvPr>
        </p:nvSpPr>
        <p:spPr>
          <a:xfrm>
            <a:off x="11073652" y="6459668"/>
            <a:ext cx="730623"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cxnSp>
        <p:nvCxnSpPr>
          <p:cNvPr id="72" name="Google Shape;72;p72"/>
          <p:cNvCxnSpPr/>
          <p:nvPr/>
        </p:nvCxnSpPr>
        <p:spPr>
          <a:xfrm rot="10800000">
            <a:off x="-72439" y="6421271"/>
            <a:ext cx="12264439" cy="0"/>
          </a:xfrm>
          <a:prstGeom prst="straightConnector1">
            <a:avLst/>
          </a:prstGeom>
          <a:noFill/>
          <a:ln w="9525" cap="flat" cmpd="sng">
            <a:solidFill>
              <a:srgbClr val="A5A5A5">
                <a:alpha val="40000"/>
              </a:srgbClr>
            </a:solidFill>
            <a:prstDash val="solid"/>
            <a:round/>
            <a:headEnd type="none" w="sm" len="sm"/>
            <a:tailEnd type="none" w="sm" len="sm"/>
          </a:ln>
        </p:spPr>
      </p:cxnSp>
      <p:sp>
        <p:nvSpPr>
          <p:cNvPr id="73" name="Google Shape;73;p72"/>
          <p:cNvSpPr txBox="1"/>
          <p:nvPr/>
        </p:nvSpPr>
        <p:spPr>
          <a:xfrm>
            <a:off x="5141259" y="6526835"/>
            <a:ext cx="1909482" cy="2307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900" b="0" i="0" u="none" strike="noStrike" cap="none">
                <a:solidFill>
                  <a:srgbClr val="EFEEFE"/>
                </a:solidFill>
                <a:latin typeface="Poppins"/>
                <a:ea typeface="Poppins"/>
                <a:cs typeface="Poppins"/>
                <a:sym typeface="Poppins"/>
              </a:rPr>
              <a:t>©2026 Moderne, Inc.</a:t>
            </a:r>
            <a:endParaRPr sz="900" b="0" i="0" u="none" strike="noStrike" cap="none">
              <a:solidFill>
                <a:srgbClr val="EFEEFE"/>
              </a:solidFill>
              <a:latin typeface="Poppins"/>
              <a:ea typeface="Poppins"/>
              <a:cs typeface="Poppins"/>
              <a:sym typeface="Poppins"/>
            </a:endParaRPr>
          </a:p>
        </p:txBody>
      </p:sp>
      <p:pic>
        <p:nvPicPr>
          <p:cNvPr id="74" name="Google Shape;74;p72" descr="Shape&#10;&#10;Description automatically generated with medium confidence"/>
          <p:cNvPicPr preferRelativeResize="0"/>
          <p:nvPr/>
        </p:nvPicPr>
        <p:blipFill rotWithShape="1">
          <a:blip r:embed="rId2">
            <a:alphaModFix/>
          </a:blip>
          <a:srcRect t="1" r="81307" b="-14127"/>
          <a:stretch/>
        </p:blipFill>
        <p:spPr>
          <a:xfrm>
            <a:off x="11592089" y="272005"/>
            <a:ext cx="431022" cy="393513"/>
          </a:xfrm>
          <a:prstGeom prst="rect">
            <a:avLst/>
          </a:prstGeom>
          <a:noFill/>
          <a:ln>
            <a:noFill/>
          </a:ln>
        </p:spPr>
      </p:pic>
      <p:sp>
        <p:nvSpPr>
          <p:cNvPr id="75" name="Google Shape;75;p72"/>
          <p:cNvSpPr txBox="1">
            <a:spLocks noGrp="1"/>
          </p:cNvSpPr>
          <p:nvPr>
            <p:ph type="body" idx="1"/>
          </p:nvPr>
        </p:nvSpPr>
        <p:spPr>
          <a:xfrm>
            <a:off x="523876" y="457384"/>
            <a:ext cx="7495862" cy="706158"/>
          </a:xfrm>
          <a:prstGeom prst="rect">
            <a:avLst/>
          </a:prstGeom>
          <a:noFill/>
          <a:ln>
            <a:noFill/>
          </a:ln>
        </p:spPr>
        <p:txBody>
          <a:bodyPr spcFirstLastPara="1" wrap="square" lIns="0" tIns="0" rIns="0" bIns="0" anchor="ctr" anchorCtr="0">
            <a:normAutofit/>
          </a:bodyPr>
          <a:lstStyle>
            <a:lvl1pPr marL="457200" lvl="0" indent="-228600" algn="l">
              <a:lnSpc>
                <a:spcPct val="100000"/>
              </a:lnSpc>
              <a:spcBef>
                <a:spcPts val="1000"/>
              </a:spcBef>
              <a:spcAft>
                <a:spcPts val="0"/>
              </a:spcAft>
              <a:buSzPts val="2800"/>
              <a:buNone/>
              <a:defRPr sz="3000">
                <a:solidFill>
                  <a:schemeClr val="dk1"/>
                </a:solidFill>
                <a:latin typeface="Poppins"/>
                <a:ea typeface="Poppins"/>
                <a:cs typeface="Poppins"/>
                <a:sym typeface="Poppins"/>
              </a:defRPr>
            </a:lvl1pPr>
            <a:lvl2pPr marL="914400" lvl="1" indent="-381000" algn="l">
              <a:lnSpc>
                <a:spcPct val="100000"/>
              </a:lnSpc>
              <a:spcBef>
                <a:spcPts val="500"/>
              </a:spcBef>
              <a:spcAft>
                <a:spcPts val="0"/>
              </a:spcAft>
              <a:buSzPts val="2400"/>
              <a:buChar char="•"/>
              <a:defRPr/>
            </a:lvl2pPr>
            <a:lvl3pPr marL="1371600" lvl="2" indent="-355600" algn="l">
              <a:lnSpc>
                <a:spcPct val="100000"/>
              </a:lnSpc>
              <a:spcBef>
                <a:spcPts val="500"/>
              </a:spcBef>
              <a:spcAft>
                <a:spcPts val="0"/>
              </a:spcAft>
              <a:buSzPts val="2000"/>
              <a:buChar char="•"/>
              <a:defRPr/>
            </a:lvl3pPr>
            <a:lvl4pPr marL="1828800" lvl="3" indent="-342900" algn="l">
              <a:lnSpc>
                <a:spcPct val="100000"/>
              </a:lnSpc>
              <a:spcBef>
                <a:spcPts val="500"/>
              </a:spcBef>
              <a:spcAft>
                <a:spcPts val="0"/>
              </a:spcAft>
              <a:buSzPts val="1800"/>
              <a:buChar char="•"/>
              <a:defRPr/>
            </a:lvl4pPr>
            <a:lvl5pPr marL="2286000" lvl="4" indent="-342900" algn="l">
              <a:lnSpc>
                <a:spcPct val="10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pic>
        <p:nvPicPr>
          <p:cNvPr id="76" name="Google Shape;76;p72" descr="A white letter on a black background&#10;&#10;AI-generated content may be incorrect."/>
          <p:cNvPicPr preferRelativeResize="0"/>
          <p:nvPr/>
        </p:nvPicPr>
        <p:blipFill rotWithShape="1">
          <a:blip r:embed="rId3">
            <a:alphaModFix/>
          </a:blip>
          <a:srcRect/>
          <a:stretch/>
        </p:blipFill>
        <p:spPr>
          <a:xfrm>
            <a:off x="387849" y="6522297"/>
            <a:ext cx="1300872" cy="22956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6_Title Only">
  <p:cSld name="16_Title Only">
    <p:bg>
      <p:bgPr>
        <a:solidFill>
          <a:schemeClr val="lt1"/>
        </a:solidFill>
        <a:effectLst/>
      </p:bgPr>
    </p:bg>
    <p:spTree>
      <p:nvGrpSpPr>
        <p:cNvPr id="1" name="Shape 77"/>
        <p:cNvGrpSpPr/>
        <p:nvPr/>
      </p:nvGrpSpPr>
      <p:grpSpPr>
        <a:xfrm>
          <a:off x="0" y="0"/>
          <a:ext cx="0" cy="0"/>
          <a:chOff x="0" y="0"/>
          <a:chExt cx="0" cy="0"/>
        </a:xfrm>
      </p:grpSpPr>
      <p:sp>
        <p:nvSpPr>
          <p:cNvPr id="78" name="Google Shape;78;p38"/>
          <p:cNvSpPr/>
          <p:nvPr/>
        </p:nvSpPr>
        <p:spPr>
          <a:xfrm>
            <a:off x="0" y="6421271"/>
            <a:ext cx="12192000" cy="43672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Poppins"/>
              <a:ea typeface="Poppins"/>
              <a:cs typeface="Poppins"/>
              <a:sym typeface="Poppins"/>
            </a:endParaRPr>
          </a:p>
        </p:txBody>
      </p:sp>
      <p:pic>
        <p:nvPicPr>
          <p:cNvPr id="79" name="Google Shape;79;p38" descr="A white letter on a black background&#10;&#10;Description automatically generated with low confidence"/>
          <p:cNvPicPr preferRelativeResize="0"/>
          <p:nvPr/>
        </p:nvPicPr>
        <p:blipFill rotWithShape="1">
          <a:blip r:embed="rId2">
            <a:alphaModFix/>
          </a:blip>
          <a:srcRect/>
          <a:stretch/>
        </p:blipFill>
        <p:spPr>
          <a:xfrm>
            <a:off x="439904" y="6538639"/>
            <a:ext cx="1031736" cy="182070"/>
          </a:xfrm>
          <a:prstGeom prst="rect">
            <a:avLst/>
          </a:prstGeom>
          <a:noFill/>
          <a:ln>
            <a:noFill/>
          </a:ln>
        </p:spPr>
      </p:pic>
      <p:sp>
        <p:nvSpPr>
          <p:cNvPr id="80" name="Google Shape;80;p38"/>
          <p:cNvSpPr txBox="1">
            <a:spLocks noGrp="1"/>
          </p:cNvSpPr>
          <p:nvPr>
            <p:ph type="sldNum" idx="12"/>
          </p:nvPr>
        </p:nvSpPr>
        <p:spPr>
          <a:xfrm>
            <a:off x="11073652" y="6459668"/>
            <a:ext cx="730623"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Clr>
                <a:srgbClr val="000000"/>
              </a:buClr>
              <a:buSzPts val="1200"/>
              <a:buFont typeface="Arial"/>
              <a:buNone/>
              <a:defRPr sz="9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cxnSp>
        <p:nvCxnSpPr>
          <p:cNvPr id="81" name="Google Shape;81;p38"/>
          <p:cNvCxnSpPr/>
          <p:nvPr/>
        </p:nvCxnSpPr>
        <p:spPr>
          <a:xfrm rot="10800000">
            <a:off x="-72439" y="6421271"/>
            <a:ext cx="12264439" cy="0"/>
          </a:xfrm>
          <a:prstGeom prst="straightConnector1">
            <a:avLst/>
          </a:prstGeom>
          <a:noFill/>
          <a:ln w="9525" cap="flat" cmpd="sng">
            <a:solidFill>
              <a:srgbClr val="A5A5A5">
                <a:alpha val="40000"/>
              </a:srgbClr>
            </a:solidFill>
            <a:prstDash val="solid"/>
            <a:round/>
            <a:headEnd type="none" w="sm" len="sm"/>
            <a:tailEnd type="none" w="sm" len="sm"/>
          </a:ln>
        </p:spPr>
      </p:cxnSp>
      <p:sp>
        <p:nvSpPr>
          <p:cNvPr id="82" name="Google Shape;82;p38"/>
          <p:cNvSpPr txBox="1"/>
          <p:nvPr/>
        </p:nvSpPr>
        <p:spPr>
          <a:xfrm>
            <a:off x="5141259" y="6526835"/>
            <a:ext cx="1909482" cy="2307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900" b="0" i="0" u="none" strike="noStrike" cap="none">
                <a:solidFill>
                  <a:srgbClr val="EFEEFE"/>
                </a:solidFill>
                <a:latin typeface="Poppins"/>
                <a:ea typeface="Poppins"/>
                <a:cs typeface="Poppins"/>
                <a:sym typeface="Poppins"/>
              </a:rPr>
              <a:t>©2026 Moderne, Inc.</a:t>
            </a:r>
            <a:endParaRPr sz="900" b="0" i="0" u="none" strike="noStrike" cap="none">
              <a:solidFill>
                <a:srgbClr val="EFEEFE"/>
              </a:solidFill>
              <a:latin typeface="Poppins"/>
              <a:ea typeface="Poppins"/>
              <a:cs typeface="Poppins"/>
              <a:sym typeface="Poppins"/>
            </a:endParaRPr>
          </a:p>
        </p:txBody>
      </p:sp>
      <p:pic>
        <p:nvPicPr>
          <p:cNvPr id="83" name="Google Shape;83;p38" descr="Shape&#10;&#10;Description automatically generated with medium confidence"/>
          <p:cNvPicPr preferRelativeResize="0"/>
          <p:nvPr/>
        </p:nvPicPr>
        <p:blipFill rotWithShape="1">
          <a:blip r:embed="rId3">
            <a:alphaModFix/>
          </a:blip>
          <a:srcRect t="1" r="81307" b="-14127"/>
          <a:stretch/>
        </p:blipFill>
        <p:spPr>
          <a:xfrm>
            <a:off x="11592089" y="272005"/>
            <a:ext cx="431022" cy="393513"/>
          </a:xfrm>
          <a:prstGeom prst="rect">
            <a:avLst/>
          </a:prstGeom>
          <a:noFill/>
          <a:ln>
            <a:noFill/>
          </a:ln>
        </p:spPr>
      </p:pic>
      <p:sp>
        <p:nvSpPr>
          <p:cNvPr id="84" name="Google Shape;84;p38"/>
          <p:cNvSpPr txBox="1">
            <a:spLocks noGrp="1"/>
          </p:cNvSpPr>
          <p:nvPr>
            <p:ph type="body" idx="1"/>
          </p:nvPr>
        </p:nvSpPr>
        <p:spPr>
          <a:xfrm>
            <a:off x="523876" y="457384"/>
            <a:ext cx="7495862" cy="706158"/>
          </a:xfrm>
          <a:prstGeom prst="rect">
            <a:avLst/>
          </a:prstGeom>
          <a:noFill/>
          <a:ln>
            <a:noFill/>
          </a:ln>
        </p:spPr>
        <p:txBody>
          <a:bodyPr spcFirstLastPara="1" wrap="square" lIns="0" tIns="0" rIns="0" bIns="0" anchor="ctr" anchorCtr="0">
            <a:normAutofit/>
          </a:bodyPr>
          <a:lstStyle>
            <a:lvl1pPr marL="457200" lvl="0" indent="-228600" algn="l">
              <a:lnSpc>
                <a:spcPct val="100000"/>
              </a:lnSpc>
              <a:spcBef>
                <a:spcPts val="1000"/>
              </a:spcBef>
              <a:spcAft>
                <a:spcPts val="0"/>
              </a:spcAft>
              <a:buSzPts val="2800"/>
              <a:buNone/>
              <a:defRPr sz="3000">
                <a:solidFill>
                  <a:schemeClr val="dk1"/>
                </a:solidFill>
                <a:latin typeface="Poppins"/>
                <a:ea typeface="Poppins"/>
                <a:cs typeface="Poppins"/>
                <a:sym typeface="Poppins"/>
              </a:defRPr>
            </a:lvl1pPr>
            <a:lvl2pPr marL="914400" lvl="1" indent="-381000" algn="l">
              <a:lnSpc>
                <a:spcPct val="100000"/>
              </a:lnSpc>
              <a:spcBef>
                <a:spcPts val="500"/>
              </a:spcBef>
              <a:spcAft>
                <a:spcPts val="0"/>
              </a:spcAft>
              <a:buSzPts val="2400"/>
              <a:buChar char="•"/>
              <a:defRPr/>
            </a:lvl2pPr>
            <a:lvl3pPr marL="1371600" lvl="2" indent="-355600" algn="l">
              <a:lnSpc>
                <a:spcPct val="100000"/>
              </a:lnSpc>
              <a:spcBef>
                <a:spcPts val="500"/>
              </a:spcBef>
              <a:spcAft>
                <a:spcPts val="0"/>
              </a:spcAft>
              <a:buSzPts val="2000"/>
              <a:buChar char="•"/>
              <a:defRPr/>
            </a:lvl3pPr>
            <a:lvl4pPr marL="1828800" lvl="3" indent="-342900" algn="l">
              <a:lnSpc>
                <a:spcPct val="100000"/>
              </a:lnSpc>
              <a:spcBef>
                <a:spcPts val="500"/>
              </a:spcBef>
              <a:spcAft>
                <a:spcPts val="0"/>
              </a:spcAft>
              <a:buSzPts val="1800"/>
              <a:buChar char="•"/>
              <a:defRPr/>
            </a:lvl4pPr>
            <a:lvl5pPr marL="2286000" lvl="4" indent="-342900" algn="l">
              <a:lnSpc>
                <a:spcPct val="10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Three Column">
  <p:cSld name="5_Three Column">
    <p:bg>
      <p:bgPr>
        <a:solidFill>
          <a:schemeClr val="lt1"/>
        </a:solidFill>
        <a:effectLst/>
      </p:bgPr>
    </p:bg>
    <p:spTree>
      <p:nvGrpSpPr>
        <p:cNvPr id="1" name="Shape 85"/>
        <p:cNvGrpSpPr/>
        <p:nvPr/>
      </p:nvGrpSpPr>
      <p:grpSpPr>
        <a:xfrm>
          <a:off x="0" y="0"/>
          <a:ext cx="0" cy="0"/>
          <a:chOff x="0" y="0"/>
          <a:chExt cx="0" cy="0"/>
        </a:xfrm>
      </p:grpSpPr>
      <p:sp>
        <p:nvSpPr>
          <p:cNvPr id="86" name="Google Shape;86;p59"/>
          <p:cNvSpPr/>
          <p:nvPr/>
        </p:nvSpPr>
        <p:spPr>
          <a:xfrm>
            <a:off x="0" y="6421271"/>
            <a:ext cx="12192000" cy="436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grpSp>
        <p:nvGrpSpPr>
          <p:cNvPr id="87" name="Google Shape;87;p59"/>
          <p:cNvGrpSpPr/>
          <p:nvPr/>
        </p:nvGrpSpPr>
        <p:grpSpPr>
          <a:xfrm>
            <a:off x="4064087" y="1445960"/>
            <a:ext cx="4085857" cy="4975357"/>
            <a:chOff x="4064087" y="1445943"/>
            <a:chExt cx="4085857" cy="5435173"/>
          </a:xfrm>
        </p:grpSpPr>
        <p:cxnSp>
          <p:nvCxnSpPr>
            <p:cNvPr id="88" name="Google Shape;88;p59"/>
            <p:cNvCxnSpPr/>
            <p:nvPr/>
          </p:nvCxnSpPr>
          <p:spPr>
            <a:xfrm>
              <a:off x="4064087" y="1447216"/>
              <a:ext cx="0" cy="5433900"/>
            </a:xfrm>
            <a:prstGeom prst="straightConnector1">
              <a:avLst/>
            </a:prstGeom>
            <a:noFill/>
            <a:ln w="9525" cap="flat" cmpd="sng">
              <a:solidFill>
                <a:srgbClr val="A5A5A5">
                  <a:alpha val="40000"/>
                </a:srgbClr>
              </a:solidFill>
              <a:prstDash val="solid"/>
              <a:miter lim="800000"/>
              <a:headEnd type="none" w="sm" len="sm"/>
              <a:tailEnd type="none" w="sm" len="sm"/>
            </a:ln>
          </p:spPr>
        </p:cxnSp>
        <p:cxnSp>
          <p:nvCxnSpPr>
            <p:cNvPr id="89" name="Google Shape;89;p59"/>
            <p:cNvCxnSpPr/>
            <p:nvPr/>
          </p:nvCxnSpPr>
          <p:spPr>
            <a:xfrm>
              <a:off x="8149944" y="1445943"/>
              <a:ext cx="0" cy="5433900"/>
            </a:xfrm>
            <a:prstGeom prst="straightConnector1">
              <a:avLst/>
            </a:prstGeom>
            <a:noFill/>
            <a:ln w="9525" cap="flat" cmpd="sng">
              <a:solidFill>
                <a:srgbClr val="A5A5A5">
                  <a:alpha val="40000"/>
                </a:srgbClr>
              </a:solidFill>
              <a:prstDash val="solid"/>
              <a:miter lim="800000"/>
              <a:headEnd type="none" w="sm" len="sm"/>
              <a:tailEnd type="none" w="sm" len="sm"/>
            </a:ln>
          </p:spPr>
        </p:cxnSp>
      </p:grpSp>
      <p:sp>
        <p:nvSpPr>
          <p:cNvPr id="90" name="Google Shape;90;p59"/>
          <p:cNvSpPr txBox="1">
            <a:spLocks noGrp="1"/>
          </p:cNvSpPr>
          <p:nvPr>
            <p:ph type="sldNum" idx="12"/>
          </p:nvPr>
        </p:nvSpPr>
        <p:spPr>
          <a:xfrm>
            <a:off x="11073652" y="6459668"/>
            <a:ext cx="7305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cxnSp>
        <p:nvCxnSpPr>
          <p:cNvPr id="91" name="Google Shape;91;p59"/>
          <p:cNvCxnSpPr/>
          <p:nvPr/>
        </p:nvCxnSpPr>
        <p:spPr>
          <a:xfrm rot="10800000">
            <a:off x="-72300" y="6421271"/>
            <a:ext cx="12264300" cy="0"/>
          </a:xfrm>
          <a:prstGeom prst="straightConnector1">
            <a:avLst/>
          </a:prstGeom>
          <a:noFill/>
          <a:ln w="9525" cap="flat" cmpd="sng">
            <a:solidFill>
              <a:srgbClr val="A5A5A5">
                <a:alpha val="40000"/>
              </a:srgbClr>
            </a:solidFill>
            <a:prstDash val="solid"/>
            <a:miter lim="800000"/>
            <a:headEnd type="none" w="sm" len="sm"/>
            <a:tailEnd type="none" w="sm" len="sm"/>
          </a:ln>
        </p:spPr>
      </p:cxnSp>
      <p:sp>
        <p:nvSpPr>
          <p:cNvPr id="92" name="Google Shape;92;p59"/>
          <p:cNvSpPr txBox="1"/>
          <p:nvPr/>
        </p:nvSpPr>
        <p:spPr>
          <a:xfrm>
            <a:off x="5141259" y="6526835"/>
            <a:ext cx="19095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900" b="0" i="0" u="none" strike="noStrike" cap="none">
                <a:solidFill>
                  <a:srgbClr val="EFEEFE"/>
                </a:solidFill>
                <a:latin typeface="Poppins"/>
                <a:ea typeface="Poppins"/>
                <a:cs typeface="Poppins"/>
                <a:sym typeface="Poppins"/>
              </a:rPr>
              <a:t>©2026 Moderne, Inc.</a:t>
            </a:r>
            <a:endParaRPr sz="900" b="0" i="0" u="none" strike="noStrike" cap="none">
              <a:solidFill>
                <a:srgbClr val="EFEEFE"/>
              </a:solidFill>
              <a:latin typeface="Poppins"/>
              <a:ea typeface="Poppins"/>
              <a:cs typeface="Poppins"/>
              <a:sym typeface="Poppins"/>
            </a:endParaRPr>
          </a:p>
        </p:txBody>
      </p:sp>
      <p:cxnSp>
        <p:nvCxnSpPr>
          <p:cNvPr id="93" name="Google Shape;93;p59"/>
          <p:cNvCxnSpPr/>
          <p:nvPr/>
        </p:nvCxnSpPr>
        <p:spPr>
          <a:xfrm rot="10800000">
            <a:off x="-72300" y="2963640"/>
            <a:ext cx="12264300" cy="0"/>
          </a:xfrm>
          <a:prstGeom prst="straightConnector1">
            <a:avLst/>
          </a:prstGeom>
          <a:noFill/>
          <a:ln w="9525" cap="flat" cmpd="sng">
            <a:solidFill>
              <a:srgbClr val="A5A5A5">
                <a:alpha val="40000"/>
              </a:srgbClr>
            </a:solidFill>
            <a:prstDash val="solid"/>
            <a:miter lim="800000"/>
            <a:headEnd type="none" w="sm" len="sm"/>
            <a:tailEnd type="none" w="sm" len="sm"/>
          </a:ln>
        </p:spPr>
      </p:cxnSp>
      <p:cxnSp>
        <p:nvCxnSpPr>
          <p:cNvPr id="94" name="Google Shape;94;p59"/>
          <p:cNvCxnSpPr/>
          <p:nvPr/>
        </p:nvCxnSpPr>
        <p:spPr>
          <a:xfrm rot="10800000">
            <a:off x="-72300" y="1445824"/>
            <a:ext cx="12264300" cy="0"/>
          </a:xfrm>
          <a:prstGeom prst="straightConnector1">
            <a:avLst/>
          </a:prstGeom>
          <a:noFill/>
          <a:ln w="9525" cap="flat" cmpd="sng">
            <a:solidFill>
              <a:srgbClr val="A5A5A5">
                <a:alpha val="40000"/>
              </a:srgbClr>
            </a:solidFill>
            <a:prstDash val="solid"/>
            <a:miter lim="800000"/>
            <a:headEnd type="none" w="sm" len="sm"/>
            <a:tailEnd type="none" w="sm" len="sm"/>
          </a:ln>
        </p:spPr>
      </p:cxnSp>
      <p:pic>
        <p:nvPicPr>
          <p:cNvPr id="95" name="Google Shape;95;p59" descr="Shape&#10;&#10;Description automatically generated with medium confidence"/>
          <p:cNvPicPr preferRelativeResize="0"/>
          <p:nvPr/>
        </p:nvPicPr>
        <p:blipFill rotWithShape="1">
          <a:blip r:embed="rId2">
            <a:alphaModFix/>
          </a:blip>
          <a:srcRect r="81307" b="-14127"/>
          <a:stretch/>
        </p:blipFill>
        <p:spPr>
          <a:xfrm>
            <a:off x="11592089" y="272005"/>
            <a:ext cx="431021" cy="393513"/>
          </a:xfrm>
          <a:prstGeom prst="rect">
            <a:avLst/>
          </a:prstGeom>
          <a:noFill/>
          <a:ln>
            <a:noFill/>
          </a:ln>
        </p:spPr>
      </p:pic>
      <p:sp>
        <p:nvSpPr>
          <p:cNvPr id="96" name="Google Shape;96;p59"/>
          <p:cNvSpPr txBox="1">
            <a:spLocks noGrp="1"/>
          </p:cNvSpPr>
          <p:nvPr>
            <p:ph type="body" idx="1"/>
          </p:nvPr>
        </p:nvSpPr>
        <p:spPr>
          <a:xfrm>
            <a:off x="419944" y="2150921"/>
            <a:ext cx="2855100" cy="340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2000"/>
              <a:buNone/>
              <a:defRPr sz="2000">
                <a:solidFill>
                  <a:schemeClr val="dk1"/>
                </a:solidFill>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59"/>
          <p:cNvSpPr txBox="1">
            <a:spLocks noGrp="1"/>
          </p:cNvSpPr>
          <p:nvPr>
            <p:ph type="body" idx="2"/>
          </p:nvPr>
        </p:nvSpPr>
        <p:spPr>
          <a:xfrm>
            <a:off x="419944" y="1917637"/>
            <a:ext cx="2855100" cy="183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000"/>
              <a:buNone/>
              <a:defRPr sz="1000">
                <a:solidFill>
                  <a:schemeClr val="dk1"/>
                </a:solidFill>
                <a:latin typeface="Poppins"/>
                <a:ea typeface="Poppins"/>
                <a:cs typeface="Poppins"/>
                <a:sym typeface="Poppins"/>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59"/>
          <p:cNvSpPr txBox="1">
            <a:spLocks noGrp="1"/>
          </p:cNvSpPr>
          <p:nvPr>
            <p:ph type="body" idx="3"/>
          </p:nvPr>
        </p:nvSpPr>
        <p:spPr>
          <a:xfrm>
            <a:off x="4657492" y="2150921"/>
            <a:ext cx="2855100" cy="340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2000"/>
              <a:buNone/>
              <a:defRPr sz="2000">
                <a:solidFill>
                  <a:schemeClr val="dk1"/>
                </a:solidFill>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59"/>
          <p:cNvSpPr txBox="1">
            <a:spLocks noGrp="1"/>
          </p:cNvSpPr>
          <p:nvPr>
            <p:ph type="body" idx="4"/>
          </p:nvPr>
        </p:nvSpPr>
        <p:spPr>
          <a:xfrm>
            <a:off x="4657492" y="1917637"/>
            <a:ext cx="2855100" cy="183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000"/>
              <a:buNone/>
              <a:defRPr sz="1000">
                <a:solidFill>
                  <a:schemeClr val="dk1"/>
                </a:solidFill>
                <a:latin typeface="Poppins"/>
                <a:ea typeface="Poppins"/>
                <a:cs typeface="Poppins"/>
                <a:sym typeface="Poppins"/>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59"/>
          <p:cNvSpPr txBox="1">
            <a:spLocks noGrp="1"/>
          </p:cNvSpPr>
          <p:nvPr>
            <p:ph type="body" idx="5"/>
          </p:nvPr>
        </p:nvSpPr>
        <p:spPr>
          <a:xfrm>
            <a:off x="8736843" y="2148774"/>
            <a:ext cx="2855100" cy="340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2000"/>
              <a:buNone/>
              <a:defRPr sz="2000">
                <a:solidFill>
                  <a:schemeClr val="dk1"/>
                </a:solidFill>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59"/>
          <p:cNvSpPr txBox="1">
            <a:spLocks noGrp="1"/>
          </p:cNvSpPr>
          <p:nvPr>
            <p:ph type="body" idx="6"/>
          </p:nvPr>
        </p:nvSpPr>
        <p:spPr>
          <a:xfrm>
            <a:off x="8736843" y="1915490"/>
            <a:ext cx="2855100" cy="183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000"/>
              <a:buNone/>
              <a:defRPr sz="1000">
                <a:solidFill>
                  <a:schemeClr val="dk1"/>
                </a:solidFill>
                <a:latin typeface="Poppins"/>
                <a:ea typeface="Poppins"/>
                <a:cs typeface="Poppins"/>
                <a:sym typeface="Poppins"/>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59"/>
          <p:cNvSpPr txBox="1">
            <a:spLocks noGrp="1"/>
          </p:cNvSpPr>
          <p:nvPr>
            <p:ph type="body" idx="7"/>
          </p:nvPr>
        </p:nvSpPr>
        <p:spPr>
          <a:xfrm>
            <a:off x="523876" y="457384"/>
            <a:ext cx="7495800" cy="706200"/>
          </a:xfrm>
          <a:prstGeom prst="rect">
            <a:avLst/>
          </a:prstGeom>
          <a:noFill/>
          <a:ln>
            <a:noFill/>
          </a:ln>
        </p:spPr>
        <p:txBody>
          <a:bodyPr spcFirstLastPara="1" wrap="square" lIns="0" tIns="0" rIns="0" bIns="0" anchor="ctr" anchorCtr="0">
            <a:normAutofit/>
          </a:bodyPr>
          <a:lstStyle>
            <a:lvl1pPr marL="457200" lvl="0" indent="-228600" algn="l">
              <a:lnSpc>
                <a:spcPct val="100000"/>
              </a:lnSpc>
              <a:spcBef>
                <a:spcPts val="1000"/>
              </a:spcBef>
              <a:spcAft>
                <a:spcPts val="0"/>
              </a:spcAft>
              <a:buClr>
                <a:schemeClr val="dk1"/>
              </a:buClr>
              <a:buSzPts val="3000"/>
              <a:buNone/>
              <a:defRPr sz="3000">
                <a:solidFill>
                  <a:schemeClr val="dk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03" name="Google Shape;103;p59" descr="A white letter on a black background&#10;&#10;AI-generated content may be incorrect."/>
          <p:cNvPicPr preferRelativeResize="0"/>
          <p:nvPr/>
        </p:nvPicPr>
        <p:blipFill rotWithShape="1">
          <a:blip r:embed="rId3">
            <a:alphaModFix/>
          </a:blip>
          <a:srcRect/>
          <a:stretch/>
        </p:blipFill>
        <p:spPr>
          <a:xfrm>
            <a:off x="387849" y="6522297"/>
            <a:ext cx="1300872" cy="22956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2_Blank-Lavender">
  <p:cSld name="12_Blank-Lavender">
    <p:bg>
      <p:bgPr>
        <a:solidFill>
          <a:srgbClr val="F1EEFF"/>
        </a:solidFill>
        <a:effectLst/>
      </p:bgPr>
    </p:bg>
    <p:spTree>
      <p:nvGrpSpPr>
        <p:cNvPr id="1" name="Shape 104"/>
        <p:cNvGrpSpPr/>
        <p:nvPr/>
      </p:nvGrpSpPr>
      <p:grpSpPr>
        <a:xfrm>
          <a:off x="0" y="0"/>
          <a:ext cx="0" cy="0"/>
          <a:chOff x="0" y="0"/>
          <a:chExt cx="0" cy="0"/>
        </a:xfrm>
      </p:grpSpPr>
      <p:sp>
        <p:nvSpPr>
          <p:cNvPr id="105" name="Google Shape;105;p56"/>
          <p:cNvSpPr/>
          <p:nvPr/>
        </p:nvSpPr>
        <p:spPr>
          <a:xfrm>
            <a:off x="0" y="6421271"/>
            <a:ext cx="12192000" cy="436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06" name="Google Shape;106;p56"/>
          <p:cNvSpPr txBox="1">
            <a:spLocks noGrp="1"/>
          </p:cNvSpPr>
          <p:nvPr>
            <p:ph type="sldNum" idx="12"/>
          </p:nvPr>
        </p:nvSpPr>
        <p:spPr>
          <a:xfrm>
            <a:off x="11073652" y="6459668"/>
            <a:ext cx="7305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cxnSp>
        <p:nvCxnSpPr>
          <p:cNvPr id="107" name="Google Shape;107;p56"/>
          <p:cNvCxnSpPr/>
          <p:nvPr/>
        </p:nvCxnSpPr>
        <p:spPr>
          <a:xfrm rot="10800000">
            <a:off x="-72300" y="6421271"/>
            <a:ext cx="12264300" cy="0"/>
          </a:xfrm>
          <a:prstGeom prst="straightConnector1">
            <a:avLst/>
          </a:prstGeom>
          <a:noFill/>
          <a:ln w="9525" cap="flat" cmpd="sng">
            <a:solidFill>
              <a:srgbClr val="A5A5A5">
                <a:alpha val="40000"/>
              </a:srgbClr>
            </a:solidFill>
            <a:prstDash val="solid"/>
            <a:miter lim="800000"/>
            <a:headEnd type="none" w="sm" len="sm"/>
            <a:tailEnd type="none" w="sm" len="sm"/>
          </a:ln>
        </p:spPr>
      </p:cxnSp>
      <p:sp>
        <p:nvSpPr>
          <p:cNvPr id="108" name="Google Shape;108;p56"/>
          <p:cNvSpPr txBox="1"/>
          <p:nvPr/>
        </p:nvSpPr>
        <p:spPr>
          <a:xfrm>
            <a:off x="5141259" y="6526835"/>
            <a:ext cx="19095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900" b="0" i="0" u="none" strike="noStrike" cap="none">
                <a:solidFill>
                  <a:srgbClr val="EFEEFE"/>
                </a:solidFill>
                <a:latin typeface="Poppins"/>
                <a:ea typeface="Poppins"/>
                <a:cs typeface="Poppins"/>
                <a:sym typeface="Poppins"/>
              </a:rPr>
              <a:t>©2026 Moderne, Inc.</a:t>
            </a:r>
            <a:endParaRPr sz="900" b="0" i="0" u="none" strike="noStrike" cap="none">
              <a:solidFill>
                <a:srgbClr val="EFEEFE"/>
              </a:solidFill>
              <a:latin typeface="Poppins"/>
              <a:ea typeface="Poppins"/>
              <a:cs typeface="Poppins"/>
              <a:sym typeface="Poppins"/>
            </a:endParaRPr>
          </a:p>
        </p:txBody>
      </p:sp>
      <p:pic>
        <p:nvPicPr>
          <p:cNvPr id="109" name="Google Shape;109;p56" descr="Shape&#10;&#10;Description automatically generated with medium confidence"/>
          <p:cNvPicPr preferRelativeResize="0"/>
          <p:nvPr/>
        </p:nvPicPr>
        <p:blipFill rotWithShape="1">
          <a:blip r:embed="rId2">
            <a:alphaModFix/>
          </a:blip>
          <a:srcRect r="81307" b="-14127"/>
          <a:stretch/>
        </p:blipFill>
        <p:spPr>
          <a:xfrm>
            <a:off x="11592089" y="272005"/>
            <a:ext cx="431021" cy="393513"/>
          </a:xfrm>
          <a:prstGeom prst="rect">
            <a:avLst/>
          </a:prstGeom>
          <a:noFill/>
          <a:ln>
            <a:noFill/>
          </a:ln>
        </p:spPr>
      </p:pic>
      <p:sp>
        <p:nvSpPr>
          <p:cNvPr id="110" name="Google Shape;110;p56"/>
          <p:cNvSpPr txBox="1">
            <a:spLocks noGrp="1"/>
          </p:cNvSpPr>
          <p:nvPr>
            <p:ph type="body" idx="1"/>
          </p:nvPr>
        </p:nvSpPr>
        <p:spPr>
          <a:xfrm>
            <a:off x="523876" y="456114"/>
            <a:ext cx="7495800" cy="706200"/>
          </a:xfrm>
          <a:prstGeom prst="rect">
            <a:avLst/>
          </a:prstGeom>
          <a:noFill/>
          <a:ln>
            <a:noFill/>
          </a:ln>
        </p:spPr>
        <p:txBody>
          <a:bodyPr spcFirstLastPara="1" wrap="square" lIns="0" tIns="0" rIns="0" bIns="0" anchor="ctr" anchorCtr="0">
            <a:normAutofit/>
          </a:bodyPr>
          <a:lstStyle>
            <a:lvl1pPr marL="457200" lvl="0" indent="-228600" algn="l">
              <a:lnSpc>
                <a:spcPct val="100000"/>
              </a:lnSpc>
              <a:spcBef>
                <a:spcPts val="1000"/>
              </a:spcBef>
              <a:spcAft>
                <a:spcPts val="0"/>
              </a:spcAft>
              <a:buClr>
                <a:schemeClr val="dk1"/>
              </a:buClr>
              <a:buSzPts val="3000"/>
              <a:buNone/>
              <a:defRPr sz="3000">
                <a:solidFill>
                  <a:schemeClr val="dk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11" name="Google Shape;111;p56" descr="A white letter on a black background&#10;&#10;AI-generated content may be incorrect."/>
          <p:cNvPicPr preferRelativeResize="0"/>
          <p:nvPr/>
        </p:nvPicPr>
        <p:blipFill rotWithShape="1">
          <a:blip r:embed="rId3">
            <a:alphaModFix/>
          </a:blip>
          <a:srcRect/>
          <a:stretch/>
        </p:blipFill>
        <p:spPr>
          <a:xfrm>
            <a:off x="387849" y="6522297"/>
            <a:ext cx="1300872" cy="22956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6_Text-Bullets">
  <p:cSld name="6_Text-Bullets">
    <p:bg>
      <p:bgPr>
        <a:solidFill>
          <a:schemeClr val="lt1"/>
        </a:solidFill>
        <a:effectLst/>
      </p:bgPr>
    </p:bg>
    <p:spTree>
      <p:nvGrpSpPr>
        <p:cNvPr id="1" name="Shape 112"/>
        <p:cNvGrpSpPr/>
        <p:nvPr/>
      </p:nvGrpSpPr>
      <p:grpSpPr>
        <a:xfrm>
          <a:off x="0" y="0"/>
          <a:ext cx="0" cy="0"/>
          <a:chOff x="0" y="0"/>
          <a:chExt cx="0" cy="0"/>
        </a:xfrm>
      </p:grpSpPr>
      <p:sp>
        <p:nvSpPr>
          <p:cNvPr id="113" name="Google Shape;113;p57"/>
          <p:cNvSpPr/>
          <p:nvPr/>
        </p:nvSpPr>
        <p:spPr>
          <a:xfrm>
            <a:off x="0" y="6421271"/>
            <a:ext cx="12192000" cy="436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cxnSp>
        <p:nvCxnSpPr>
          <p:cNvPr id="114" name="Google Shape;114;p57"/>
          <p:cNvCxnSpPr>
            <a:endCxn id="113" idx="0"/>
          </p:cNvCxnSpPr>
          <p:nvPr/>
        </p:nvCxnSpPr>
        <p:spPr>
          <a:xfrm>
            <a:off x="6096000" y="1447271"/>
            <a:ext cx="0" cy="4974000"/>
          </a:xfrm>
          <a:prstGeom prst="straightConnector1">
            <a:avLst/>
          </a:prstGeom>
          <a:noFill/>
          <a:ln w="9525" cap="flat" cmpd="sng">
            <a:solidFill>
              <a:srgbClr val="A5A5A5">
                <a:alpha val="40000"/>
              </a:srgbClr>
            </a:solidFill>
            <a:prstDash val="solid"/>
            <a:miter lim="800000"/>
            <a:headEnd type="none" w="sm" len="sm"/>
            <a:tailEnd type="none" w="sm" len="sm"/>
          </a:ln>
        </p:spPr>
      </p:cxnSp>
      <p:sp>
        <p:nvSpPr>
          <p:cNvPr id="115" name="Google Shape;115;p57"/>
          <p:cNvSpPr txBox="1">
            <a:spLocks noGrp="1"/>
          </p:cNvSpPr>
          <p:nvPr>
            <p:ph type="sldNum" idx="12"/>
          </p:nvPr>
        </p:nvSpPr>
        <p:spPr>
          <a:xfrm>
            <a:off x="11073652" y="6459668"/>
            <a:ext cx="7305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cxnSp>
        <p:nvCxnSpPr>
          <p:cNvPr id="116" name="Google Shape;116;p57"/>
          <p:cNvCxnSpPr/>
          <p:nvPr/>
        </p:nvCxnSpPr>
        <p:spPr>
          <a:xfrm rot="10800000">
            <a:off x="-72300" y="6421271"/>
            <a:ext cx="12264300" cy="0"/>
          </a:xfrm>
          <a:prstGeom prst="straightConnector1">
            <a:avLst/>
          </a:prstGeom>
          <a:noFill/>
          <a:ln w="9525" cap="flat" cmpd="sng">
            <a:solidFill>
              <a:srgbClr val="A5A5A5">
                <a:alpha val="40000"/>
              </a:srgbClr>
            </a:solidFill>
            <a:prstDash val="solid"/>
            <a:miter lim="800000"/>
            <a:headEnd type="none" w="sm" len="sm"/>
            <a:tailEnd type="none" w="sm" len="sm"/>
          </a:ln>
        </p:spPr>
      </p:cxnSp>
      <p:sp>
        <p:nvSpPr>
          <p:cNvPr id="117" name="Google Shape;117;p57"/>
          <p:cNvSpPr txBox="1"/>
          <p:nvPr/>
        </p:nvSpPr>
        <p:spPr>
          <a:xfrm>
            <a:off x="5141259" y="6526835"/>
            <a:ext cx="19095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900" b="0" i="0" u="none" strike="noStrike" cap="none">
                <a:solidFill>
                  <a:srgbClr val="EFEEFE"/>
                </a:solidFill>
                <a:latin typeface="Poppins"/>
                <a:ea typeface="Poppins"/>
                <a:cs typeface="Poppins"/>
                <a:sym typeface="Poppins"/>
              </a:rPr>
              <a:t>©2026 Moderne, Inc.</a:t>
            </a:r>
            <a:endParaRPr sz="900" b="0" i="0" u="none" strike="noStrike" cap="none">
              <a:solidFill>
                <a:srgbClr val="EFEEFE"/>
              </a:solidFill>
              <a:latin typeface="Poppins"/>
              <a:ea typeface="Poppins"/>
              <a:cs typeface="Poppins"/>
              <a:sym typeface="Poppins"/>
            </a:endParaRPr>
          </a:p>
        </p:txBody>
      </p:sp>
      <p:cxnSp>
        <p:nvCxnSpPr>
          <p:cNvPr id="118" name="Google Shape;118;p57"/>
          <p:cNvCxnSpPr/>
          <p:nvPr/>
        </p:nvCxnSpPr>
        <p:spPr>
          <a:xfrm rot="10800000">
            <a:off x="-72300" y="1445824"/>
            <a:ext cx="12264300" cy="0"/>
          </a:xfrm>
          <a:prstGeom prst="straightConnector1">
            <a:avLst/>
          </a:prstGeom>
          <a:noFill/>
          <a:ln w="9525" cap="flat" cmpd="sng">
            <a:solidFill>
              <a:srgbClr val="A5A5A5">
                <a:alpha val="40000"/>
              </a:srgbClr>
            </a:solidFill>
            <a:prstDash val="solid"/>
            <a:miter lim="800000"/>
            <a:headEnd type="none" w="sm" len="sm"/>
            <a:tailEnd type="none" w="sm" len="sm"/>
          </a:ln>
        </p:spPr>
      </p:cxnSp>
      <p:pic>
        <p:nvPicPr>
          <p:cNvPr id="119" name="Google Shape;119;p57" descr="Shape&#10;&#10;Description automatically generated with medium confidence"/>
          <p:cNvPicPr preferRelativeResize="0"/>
          <p:nvPr/>
        </p:nvPicPr>
        <p:blipFill rotWithShape="1">
          <a:blip r:embed="rId2">
            <a:alphaModFix/>
          </a:blip>
          <a:srcRect r="81307" b="-14127"/>
          <a:stretch/>
        </p:blipFill>
        <p:spPr>
          <a:xfrm>
            <a:off x="11592089" y="272005"/>
            <a:ext cx="431021" cy="393513"/>
          </a:xfrm>
          <a:prstGeom prst="rect">
            <a:avLst/>
          </a:prstGeom>
          <a:noFill/>
          <a:ln>
            <a:noFill/>
          </a:ln>
        </p:spPr>
      </p:pic>
      <p:sp>
        <p:nvSpPr>
          <p:cNvPr id="120" name="Google Shape;120;p57"/>
          <p:cNvSpPr txBox="1">
            <a:spLocks noGrp="1"/>
          </p:cNvSpPr>
          <p:nvPr>
            <p:ph type="body" idx="1"/>
          </p:nvPr>
        </p:nvSpPr>
        <p:spPr>
          <a:xfrm>
            <a:off x="419944" y="2242490"/>
            <a:ext cx="4983900" cy="36153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800"/>
              <a:buNone/>
              <a:defRPr sz="1800">
                <a:solidFill>
                  <a:schemeClr val="dk1"/>
                </a:solidFill>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57"/>
          <p:cNvSpPr txBox="1">
            <a:spLocks noGrp="1"/>
          </p:cNvSpPr>
          <p:nvPr>
            <p:ph type="body" idx="2"/>
          </p:nvPr>
        </p:nvSpPr>
        <p:spPr>
          <a:xfrm>
            <a:off x="419944" y="2009207"/>
            <a:ext cx="2855100" cy="183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rgbClr val="2E42FF"/>
              </a:buClr>
              <a:buSzPts val="1000"/>
              <a:buNone/>
              <a:defRPr sz="1000">
                <a:solidFill>
                  <a:srgbClr val="2E42FF"/>
                </a:solidFill>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57"/>
          <p:cNvSpPr txBox="1">
            <a:spLocks noGrp="1"/>
          </p:cNvSpPr>
          <p:nvPr>
            <p:ph type="body" idx="3"/>
          </p:nvPr>
        </p:nvSpPr>
        <p:spPr>
          <a:xfrm>
            <a:off x="6760782" y="2242490"/>
            <a:ext cx="5011200" cy="3615300"/>
          </a:xfrm>
          <a:prstGeom prst="rect">
            <a:avLst/>
          </a:prstGeom>
          <a:noFill/>
          <a:ln>
            <a:noFill/>
          </a:ln>
        </p:spPr>
        <p:txBody>
          <a:bodyPr spcFirstLastPara="1" wrap="square" lIns="91425" tIns="45700" rIns="91425" bIns="45700" anchor="t" anchorCtr="0">
            <a:normAutofit/>
          </a:bodyPr>
          <a:lstStyle>
            <a:lvl1pPr marL="457200" lvl="0" indent="-317500" algn="l">
              <a:lnSpc>
                <a:spcPct val="100000"/>
              </a:lnSpc>
              <a:spcBef>
                <a:spcPts val="1000"/>
              </a:spcBef>
              <a:spcAft>
                <a:spcPts val="0"/>
              </a:spcAft>
              <a:buClr>
                <a:srgbClr val="2E42FF"/>
              </a:buClr>
              <a:buSzPts val="1400"/>
              <a:buFont typeface="Arial"/>
              <a:buChar char="•"/>
              <a:defRPr sz="1400">
                <a:solidFill>
                  <a:schemeClr val="dk1"/>
                </a:solidFill>
              </a:defRPr>
            </a:lvl1pPr>
            <a:lvl2pPr marL="914400" lvl="1" indent="-304800" algn="ctr">
              <a:lnSpc>
                <a:spcPct val="100000"/>
              </a:lnSpc>
              <a:spcBef>
                <a:spcPts val="500"/>
              </a:spcBef>
              <a:spcAft>
                <a:spcPts val="0"/>
              </a:spcAft>
              <a:buClr>
                <a:schemeClr val="lt1"/>
              </a:buClr>
              <a:buSzPts val="1200"/>
              <a:buChar char="•"/>
              <a:defRPr sz="1200">
                <a:solidFill>
                  <a:schemeClr val="lt1"/>
                </a:solidFill>
              </a:defRPr>
            </a:lvl2pPr>
            <a:lvl3pPr marL="1371600" lvl="2" indent="-304800" algn="ctr">
              <a:lnSpc>
                <a:spcPct val="100000"/>
              </a:lnSpc>
              <a:spcBef>
                <a:spcPts val="500"/>
              </a:spcBef>
              <a:spcAft>
                <a:spcPts val="0"/>
              </a:spcAft>
              <a:buClr>
                <a:schemeClr val="lt1"/>
              </a:buClr>
              <a:buSzPts val="1200"/>
              <a:buChar char="•"/>
              <a:defRPr sz="1200">
                <a:solidFill>
                  <a:schemeClr val="lt1"/>
                </a:solidFill>
              </a:defRPr>
            </a:lvl3pPr>
            <a:lvl4pPr marL="1828800" lvl="3" indent="-304800" algn="ctr">
              <a:lnSpc>
                <a:spcPct val="100000"/>
              </a:lnSpc>
              <a:spcBef>
                <a:spcPts val="500"/>
              </a:spcBef>
              <a:spcAft>
                <a:spcPts val="0"/>
              </a:spcAft>
              <a:buClr>
                <a:schemeClr val="lt1"/>
              </a:buClr>
              <a:buSzPts val="1200"/>
              <a:buChar char="•"/>
              <a:defRPr sz="1200">
                <a:solidFill>
                  <a:schemeClr val="lt1"/>
                </a:solidFill>
              </a:defRPr>
            </a:lvl4pPr>
            <a:lvl5pPr marL="2286000" lvl="4" indent="-304800" algn="ctr">
              <a:lnSpc>
                <a:spcPct val="10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3" name="Google Shape;123;p57"/>
          <p:cNvSpPr txBox="1">
            <a:spLocks noGrp="1"/>
          </p:cNvSpPr>
          <p:nvPr>
            <p:ph type="body" idx="4"/>
          </p:nvPr>
        </p:nvSpPr>
        <p:spPr>
          <a:xfrm>
            <a:off x="523876" y="457384"/>
            <a:ext cx="7495800" cy="706200"/>
          </a:xfrm>
          <a:prstGeom prst="rect">
            <a:avLst/>
          </a:prstGeom>
          <a:noFill/>
          <a:ln>
            <a:noFill/>
          </a:ln>
        </p:spPr>
        <p:txBody>
          <a:bodyPr spcFirstLastPara="1" wrap="square" lIns="0" tIns="0" rIns="0" bIns="0" anchor="ctr" anchorCtr="0">
            <a:normAutofit/>
          </a:bodyPr>
          <a:lstStyle>
            <a:lvl1pPr marL="457200" lvl="0" indent="-228600" algn="l">
              <a:lnSpc>
                <a:spcPct val="100000"/>
              </a:lnSpc>
              <a:spcBef>
                <a:spcPts val="1000"/>
              </a:spcBef>
              <a:spcAft>
                <a:spcPts val="0"/>
              </a:spcAft>
              <a:buClr>
                <a:schemeClr val="dk1"/>
              </a:buClr>
              <a:buSzPts val="3000"/>
              <a:buNone/>
              <a:defRPr sz="3000">
                <a:solidFill>
                  <a:schemeClr val="dk1"/>
                </a:solidFill>
                <a:latin typeface="Poppins"/>
                <a:ea typeface="Poppins"/>
                <a:cs typeface="Poppins"/>
                <a:sym typeface="Poppins"/>
              </a:defRPr>
            </a:lvl1pPr>
            <a:lvl2pPr marL="914400" lvl="1" indent="-381000" algn="l">
              <a:lnSpc>
                <a:spcPct val="100000"/>
              </a:lnSpc>
              <a:spcBef>
                <a:spcPts val="500"/>
              </a:spcBef>
              <a:spcAft>
                <a:spcPts val="0"/>
              </a:spcAft>
              <a:buClr>
                <a:schemeClr val="dk1"/>
              </a:buClr>
              <a:buSzPts val="2400"/>
              <a:buChar char="•"/>
              <a:defRPr/>
            </a:lvl2pPr>
            <a:lvl3pPr marL="1371600" lvl="2" indent="-355600" algn="l">
              <a:lnSpc>
                <a:spcPct val="100000"/>
              </a:lnSpc>
              <a:spcBef>
                <a:spcPts val="500"/>
              </a:spcBef>
              <a:spcAft>
                <a:spcPts val="0"/>
              </a:spcAft>
              <a:buClr>
                <a:schemeClr val="dk1"/>
              </a:buClr>
              <a:buSzPts val="20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24" name="Google Shape;124;p57" descr="A white letter on a black background&#10;&#10;AI-generated content may be incorrect."/>
          <p:cNvPicPr preferRelativeResize="0"/>
          <p:nvPr/>
        </p:nvPicPr>
        <p:blipFill rotWithShape="1">
          <a:blip r:embed="rId3">
            <a:alphaModFix/>
          </a:blip>
          <a:srcRect/>
          <a:stretch/>
        </p:blipFill>
        <p:spPr>
          <a:xfrm>
            <a:off x="387849" y="6522297"/>
            <a:ext cx="1300872" cy="22956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Poppins"/>
                <a:ea typeface="Poppins"/>
                <a:cs typeface="Poppins"/>
                <a:sym typeface="Poppins"/>
              </a:defRPr>
            </a:lvl1pPr>
            <a:lvl2pPr marL="914400" marR="0" lvl="1"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Poppins"/>
                <a:ea typeface="Poppins"/>
                <a:cs typeface="Poppins"/>
                <a:sym typeface="Poppins"/>
              </a:defRPr>
            </a:lvl2pPr>
            <a:lvl3pPr marL="1371600" marR="0" lvl="2"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98F"/>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98F"/>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98F"/>
                </a:solidFill>
                <a:latin typeface="Poppins"/>
                <a:ea typeface="Poppins"/>
                <a:cs typeface="Poppins"/>
                <a:sym typeface="Poppins"/>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98F"/>
                </a:solidFill>
                <a:latin typeface="Poppins"/>
                <a:ea typeface="Poppins"/>
                <a:cs typeface="Poppins"/>
                <a:sym typeface="Poppins"/>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98F"/>
                </a:solidFill>
                <a:latin typeface="Poppins"/>
                <a:ea typeface="Poppins"/>
                <a:cs typeface="Poppins"/>
                <a:sym typeface="Poppins"/>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98F"/>
                </a:solidFill>
                <a:latin typeface="Poppins"/>
                <a:ea typeface="Poppins"/>
                <a:cs typeface="Poppins"/>
                <a:sym typeface="Poppins"/>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98F"/>
                </a:solidFill>
                <a:latin typeface="Poppins"/>
                <a:ea typeface="Poppins"/>
                <a:cs typeface="Poppins"/>
                <a:sym typeface="Poppins"/>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98F"/>
                </a:solidFill>
                <a:latin typeface="Poppins"/>
                <a:ea typeface="Poppins"/>
                <a:cs typeface="Poppins"/>
                <a:sym typeface="Poppins"/>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98F"/>
                </a:solidFill>
                <a:latin typeface="Poppins"/>
                <a:ea typeface="Poppins"/>
                <a:cs typeface="Poppins"/>
                <a:sym typeface="Poppins"/>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98F"/>
                </a:solidFill>
                <a:latin typeface="Poppins"/>
                <a:ea typeface="Poppins"/>
                <a:cs typeface="Poppins"/>
                <a:sym typeface="Poppins"/>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98F"/>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 Id="rId16" Type="http://schemas.openxmlformats.org/officeDocument/2006/relationships/image" Target="../media/image21.png"/><Relationship Id="rId17" Type="http://schemas.openxmlformats.org/officeDocument/2006/relationships/image" Target="../media/image22.pn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 Id="rId22" Type="http://schemas.openxmlformats.org/officeDocument/2006/relationships/image" Target="../media/image27.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2.png"/><Relationship Id="rId28"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
          <p:cNvSpPr txBox="1">
            <a:spLocks noGrp="1"/>
          </p:cNvSpPr>
          <p:nvPr>
            <p:ph type="body" idx="1"/>
          </p:nvPr>
        </p:nvSpPr>
        <p:spPr>
          <a:xfrm>
            <a:off x="523875" y="2907370"/>
            <a:ext cx="4084702" cy="19467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3000"/>
              <a:buNone/>
            </a:pPr>
            <a:r>
              <a:rPr lang="en-US" sz="3600" dirty="0"/>
              <a:t>{{Customer}} and Moderne</a:t>
            </a:r>
            <a:endParaRPr sz="3600" dirty="0"/>
          </a:p>
        </p:txBody>
      </p:sp>
      <p:sp>
        <p:nvSpPr>
          <p:cNvPr id="131" name="Google Shape;131;p1"/>
          <p:cNvSpPr txBox="1">
            <a:spLocks noGrp="1"/>
          </p:cNvSpPr>
          <p:nvPr>
            <p:ph type="body" idx="3"/>
          </p:nvPr>
        </p:nvSpPr>
        <p:spPr>
          <a:xfrm>
            <a:off x="523876" y="6012180"/>
            <a:ext cx="4388660" cy="528207"/>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lt1"/>
              </a:buClr>
              <a:buSzPts val="1200"/>
              <a:buNone/>
            </a:pPr>
            <a:r>
              <a:rPr lang="en-US" dirty="0"/>
              <a:t>Proof of value, {{Month Year}}</a:t>
            </a:r>
            <a:endParaRPr dirty="0"/>
          </a:p>
        </p:txBody>
      </p:sp>
      <p:grpSp>
        <p:nvGrpSpPr>
          <p:cNvPr id="132" name="Google Shape;132;p1"/>
          <p:cNvGrpSpPr/>
          <p:nvPr/>
        </p:nvGrpSpPr>
        <p:grpSpPr>
          <a:xfrm>
            <a:off x="10042748" y="306453"/>
            <a:ext cx="2034531" cy="424628"/>
            <a:chOff x="5453618" y="-754380"/>
            <a:chExt cx="2034531" cy="424628"/>
          </a:xfrm>
        </p:grpSpPr>
        <p:sp>
          <p:nvSpPr>
            <p:cNvPr id="133" name="Google Shape;133;p1"/>
            <p:cNvSpPr/>
            <p:nvPr/>
          </p:nvSpPr>
          <p:spPr>
            <a:xfrm>
              <a:off x="5649428" y="-754380"/>
              <a:ext cx="1642912" cy="424628"/>
            </a:xfrm>
            <a:prstGeom prst="roundRect">
              <a:avLst>
                <a:gd name="adj" fmla="val 50000"/>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 name="Google Shape;134;p1"/>
            <p:cNvSpPr txBox="1"/>
            <p:nvPr/>
          </p:nvSpPr>
          <p:spPr>
            <a:xfrm>
              <a:off x="5453618" y="-711323"/>
              <a:ext cx="2034531"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600" b="1" i="0" u="none" strike="noStrike" cap="none">
                  <a:solidFill>
                    <a:schemeClr val="lt1"/>
                  </a:solidFill>
                  <a:latin typeface="Poppins SemiBold"/>
                  <a:ea typeface="Poppins SemiBold"/>
                  <a:cs typeface="Poppins SemiBold"/>
                  <a:sym typeface="Poppins SemiBold"/>
                </a:rPr>
                <a:t>moderne.ai</a:t>
              </a:r>
              <a:endParaRPr sz="1200" b="1" i="0" u="none" strike="noStrike" cap="none">
                <a:solidFill>
                  <a:schemeClr val="lt1"/>
                </a:solidFill>
                <a:latin typeface="Poppins SemiBold"/>
                <a:ea typeface="Poppins SemiBold"/>
                <a:cs typeface="Poppins SemiBold"/>
                <a:sym typeface="Poppins Semi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Every number in this deck comes from {{N}} repositories worked on at once.</a:t>
            </a:r>
            <a:endParaRPr sz="3200" dirty="0"/>
          </a:p>
        </p:txBody>
      </p:sp>
      <p:graphicFrame>
        <p:nvGraphicFramePr>
          <p:cNvPr id="8" name="Results table"/>
          <p:cNvGraphicFramePr>
            <a:graphicFrameLocks noGrp="1"/>
          </p:cNvGraphicFramePr>
          <p:nvPr/>
        </p:nvGraphicFramePr>
        <p:xfrm>
          <a:off x="1069848" y="2377440"/>
          <a:ext cx="10058400" cy="2286000"/>
        </p:xfrm>
        <a:graphic>
          <a:graphicData uri="http://schemas.openxmlformats.org/drawingml/2006/table">
            <a:tbl>
              <a:tblPr firstRow="1" bandRow="1">
                <a:tableStyleId>{5C22544A-7EE6-4342-B048-85BDC9FD1C3A}</a:tableStyleId>
              </a:tblPr>
              <a:tblGrid>
                <a:gridCol w="3657600"/>
                <a:gridCol w="2011680"/>
                <a:gridCol w="2194560"/>
                <a:gridCol w="2194560"/>
              </a:tblGrid>
              <a:tr h="457200">
                <a:tc>
                  <a:txBody>
                    <a:bodyPr/>
                    <a:lstStyle/>
                    <a:p>
                      <a:r>
                        <a:rPr sz="1400" b="1"/>
                        <a:t>Language</a:t>
                      </a:r>
                    </a:p>
                  </a:txBody>
                  <a:tcPr/>
                </a:tc>
                <a:tc>
                  <a:txBody>
                    <a:bodyPr/>
                    <a:lstStyle/>
                    <a:p>
                      <a:r>
                        <a:rPr sz="1400" b="1"/>
                        <a:t>Repositories</a:t>
                      </a:r>
                    </a:p>
                  </a:txBody>
                  <a:tcPr/>
                </a:tc>
                <a:tc>
                  <a:txBody>
                    <a:bodyPr/>
                    <a:lstStyle/>
                    <a:p>
                      <a:r>
                        <a:rPr sz="1400" b="1"/>
                        <a:t>Lines of code</a:t>
                      </a:r>
                    </a:p>
                  </a:txBody>
                  <a:tcPr/>
                </a:tc>
                <a:tc>
                  <a:txBody>
                    <a:bodyPr/>
                    <a:lstStyle/>
                    <a:p>
                      <a:r>
                        <a:rPr sz="1400" b="1"/>
                        <a:t>Share of the code</a:t>
                      </a:r>
                    </a:p>
                  </a:txBody>
                  <a:tcPr/>
                </a:tc>
              </a:tr>
              <a:tr h="457200">
                <a:tc>
                  <a:txBody>
                    <a:bodyPr/>
                    <a:lstStyle/>
                    <a:p>
                      <a:r>
                        <a:rPr sz="1400" b="0"/>
                        <a:t>{{Java}}</a:t>
                      </a:r>
                    </a:p>
                  </a:txBody>
                  <a:tcPr/>
                </a:tc>
                <a:tc>
                  <a:txBody>
                    <a:bodyPr/>
                    <a:lstStyle/>
                    <a:p>
                      <a:r>
                        <a:rPr sz="1400" b="0"/>
                        <a:t>{{n}}</a:t>
                      </a:r>
                    </a:p>
                  </a:txBody>
                  <a:tcPr/>
                </a:tc>
                <a:tc>
                  <a:txBody>
                    <a:bodyPr/>
                    <a:lstStyle/>
                    <a:p>
                      <a:r>
                        <a:rPr sz="1400" b="0"/>
                        <a:t>{{lines}}</a:t>
                      </a:r>
                    </a:p>
                  </a:txBody>
                  <a:tcPr/>
                </a:tc>
                <a:tc>
                  <a:txBody>
                    <a:bodyPr/>
                    <a:lstStyle/>
                    <a:p>
                      <a:r>
                        <a:rPr sz="1400" b="0"/>
                        <a:t>{{p}}%</a:t>
                      </a:r>
                    </a:p>
                  </a:txBody>
                  <a:tcPr/>
                </a:tc>
              </a:tr>
              <a:tr h="457200">
                <a:tc>
                  <a:txBody>
                    <a:bodyPr/>
                    <a:lstStyle/>
                    <a:p>
                      <a:r>
                        <a:rPr sz="1400" b="0"/>
                        <a:t>{{Kotlin}}</a:t>
                      </a:r>
                    </a:p>
                  </a:txBody>
                  <a:tcPr/>
                </a:tc>
                <a:tc>
                  <a:txBody>
                    <a:bodyPr/>
                    <a:lstStyle/>
                    <a:p>
                      <a:r>
                        <a:rPr sz="1400" b="0"/>
                        <a:t>{{n}}</a:t>
                      </a:r>
                    </a:p>
                  </a:txBody>
                  <a:tcPr/>
                </a:tc>
                <a:tc>
                  <a:txBody>
                    <a:bodyPr/>
                    <a:lstStyle/>
                    <a:p>
                      <a:r>
                        <a:rPr sz="1400" b="0"/>
                        <a:t>{{lines}}</a:t>
                      </a:r>
                    </a:p>
                  </a:txBody>
                  <a:tcPr/>
                </a:tc>
                <a:tc>
                  <a:txBody>
                    <a:bodyPr/>
                    <a:lstStyle/>
                    <a:p>
                      <a:r>
                        <a:rPr sz="1400" b="0"/>
                        <a:t>{{p}}%</a:t>
                      </a:r>
                    </a:p>
                  </a:txBody>
                  <a:tcPr/>
                </a:tc>
              </a:tr>
              <a:tr h="457200">
                <a:tc>
                  <a:txBody>
                    <a:bodyPr/>
                    <a:lstStyle/>
                    <a:p>
                      <a:r>
                        <a:rPr sz="1400" b="0"/>
                        <a:t>{{YAML and other data formats}}</a:t>
                      </a:r>
                    </a:p>
                  </a:txBody>
                  <a:tcPr/>
                </a:tc>
                <a:tc>
                  <a:txBody>
                    <a:bodyPr/>
                    <a:lstStyle/>
                    <a:p>
                      <a:r>
                        <a:rPr sz="1400" b="0"/>
                        <a:t>{{n}}</a:t>
                      </a:r>
                    </a:p>
                  </a:txBody>
                  <a:tcPr/>
                </a:tc>
                <a:tc>
                  <a:txBody>
                    <a:bodyPr/>
                    <a:lstStyle/>
                    <a:p>
                      <a:r>
                        <a:rPr sz="1400" b="0"/>
                        <a:t>{{lines}}</a:t>
                      </a:r>
                    </a:p>
                  </a:txBody>
                  <a:tcPr/>
                </a:tc>
                <a:tc>
                  <a:txBody>
                    <a:bodyPr/>
                    <a:lstStyle/>
                    <a:p>
                      <a:r>
                        <a:rPr sz="1400" b="0"/>
                        <a:t>{{p}}%</a:t>
                      </a:r>
                    </a:p>
                  </a:txBody>
                  <a:tcPr/>
                </a:tc>
              </a:tr>
              <a:tr h="457200">
                <a:tc>
                  <a:txBody>
                    <a:bodyPr/>
                    <a:lstStyle/>
                    <a:p>
                      <a:r>
                        <a:rPr sz="1400" b="0"/>
                        <a:t>All</a:t>
                      </a:r>
                    </a:p>
                  </a:txBody>
                  <a:tcPr/>
                </a:tc>
                <a:tc>
                  <a:txBody>
                    <a:bodyPr/>
                    <a:lstStyle/>
                    <a:p>
                      <a:r>
                        <a:rPr sz="1400" b="0"/>
                        <a:t>{{N}}</a:t>
                      </a:r>
                    </a:p>
                  </a:txBody>
                  <a:tcPr/>
                </a:tc>
                <a:tc>
                  <a:txBody>
                    <a:bodyPr/>
                    <a:lstStyle/>
                    <a:p>
                      <a:r>
                        <a:rPr sz="1400" b="0"/>
                        <a:t>{{LOC}}</a:t>
                      </a:r>
                    </a:p>
                  </a:txBody>
                  <a:tcPr/>
                </a:tc>
                <a:tc>
                  <a:txBody>
                    <a:bodyPr/>
                    <a:lstStyle/>
                    <a:p>
                      <a:r>
                        <a:rPr sz="1400" b="0"/>
                        <a:t>100%</a:t>
                      </a:r>
                    </a:p>
                  </a:txBody>
                  <a:tcPr/>
                </a:tc>
              </a:tr>
            </a:tbl>
          </a:graphicData>
        </a:graphic>
      </p:graphicFrame>
    </p:spTree>
    <p:extLst>
      <p:ext uri="{BB962C8B-B14F-4D97-AF65-F5344CB8AC3E}">
        <p14:creationId xmlns:p14="http://schemas.microsoft.com/office/powerpoint/2010/main" val="2559062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The first prompt was deliberately ordinary.</a:t>
            </a:r>
            <a:endParaRPr sz="3200" dirty="0"/>
          </a:p>
        </p:txBody>
      </p:sp>
      <p:sp>
        <p:nvSpPr>
          <p:cNvPr id="8" name="Command"/>
          <p:cNvSpPr/>
          <p:nvPr/>
        </p:nvSpPr>
        <p:spPr>
          <a:xfrm>
            <a:off x="1069848" y="3200400"/>
            <a:ext cx="5394960" cy="1124712"/>
          </a:xfrm>
          <a:prstGeom prst="roundRect">
            <a:avLst>
              <a:gd name="adj" fmla="val 4000"/>
            </a:avLst>
          </a:prstGeom>
          <a:solidFill>
            <a:srgbClr val="1E23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300">
                <a:solidFill>
                  <a:srgbClr val="7ED39A"/>
                </a:solidFill>
                <a:latin typeface="Courier New"/>
              </a:rPr>
              <a:t>$ </a:t>
            </a:r>
            <a:r>
              <a:rPr sz="1300">
                <a:solidFill>
                  <a:srgbClr val="E6E9EF"/>
                </a:solidFill>
                <a:latin typeface="Courier New"/>
              </a:rPr>
              <a:t>mod {{agent}} chat ./quality \</a:t>
            </a:r>
          </a:p>
          <a:p>
            <a:pPr algn="l"/>
            <a:r>
              <a:rPr sz="1300">
                <a:solidFill>
                  <a:srgbClr val="E6E9EF"/>
                </a:solidFill>
                <a:latin typeface="Courier New"/>
              </a:rPr>
              <a:t>    --org "{{org}}" \</a:t>
            </a:r>
          </a:p>
          <a:p>
            <a:pPr algn="l"/>
            <a:r>
              <a:rPr sz="1300">
                <a:solidFill>
                  <a:srgbClr val="E6E9EF"/>
                </a:solidFill>
                <a:latin typeface="Courier New"/>
              </a:rPr>
              <a:t>    --prompt "Fix code quality issues"</a:t>
            </a:r>
          </a:p>
        </p:txBody>
      </p:sp>
      <p:sp>
        <p:nvSpPr>
          <p:cNvPr id="9" name="Screenshot placeholder"/>
          <p:cNvSpPr/>
          <p:nvPr/>
        </p:nvSpPr>
        <p:spPr>
          <a:xfrm>
            <a:off x="6784848" y="2377440"/>
            <a:ext cx="4343400" cy="3749039"/>
          </a:xfrm>
          <a:prstGeom prst="roundRect">
            <a:avLst>
              <a:gd name="adj" fmla="val 3000"/>
            </a:avLst>
          </a:prstGeom>
          <a:solidFill>
            <a:srgbClr val="F2F4F8"/>
          </a:solidFill>
          <a:ln w="19050">
            <a:solidFill>
              <a:srgbClr val="9AA3B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a:solidFill>
                  <a:srgbClr val="5B6375"/>
                </a:solidFill>
              </a:rPr>
              <a:t>{{screenshot: the step's window at its first turn, where the agent searches for a recipe instead of opening files}}</a:t>
            </a:r>
          </a:p>
        </p:txBody>
      </p:sp>
    </p:spTree>
    <p:extLst>
      <p:ext uri="{BB962C8B-B14F-4D97-AF65-F5344CB8AC3E}">
        <p14:creationId xmlns:p14="http://schemas.microsoft.com/office/powerpoint/2010/main" val="2559062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That one prompt fixed {{files}} files in {{n}} of {{N}} repositories, and a recipe made every change.</a:t>
            </a:r>
            <a:endParaRPr sz="3200" dirty="0"/>
          </a:p>
        </p:txBody>
      </p:sp>
      <p:graphicFrame>
        <p:nvGraphicFramePr>
          <p:cNvPr id="8" name="Results table"/>
          <p:cNvGraphicFramePr>
            <a:graphicFrameLocks noGrp="1"/>
          </p:cNvGraphicFramePr>
          <p:nvPr/>
        </p:nvGraphicFramePr>
        <p:xfrm>
          <a:off x="1069848" y="2377440"/>
          <a:ext cx="10058400" cy="2286000"/>
        </p:xfrm>
        <a:graphic>
          <a:graphicData uri="http://schemas.openxmlformats.org/drawingml/2006/table">
            <a:tbl>
              <a:tblPr firstRow="1" bandRow="1">
                <a:tableStyleId>{5C22544A-7EE6-4342-B048-85BDC9FD1C3A}</a:tableStyleId>
              </a:tblPr>
              <a:tblGrid>
                <a:gridCol w="5852160"/>
                <a:gridCol w="2194560"/>
                <a:gridCol w="2011680"/>
              </a:tblGrid>
              <a:tr h="457200">
                <a:tc>
                  <a:txBody>
                    <a:bodyPr/>
                    <a:lstStyle/>
                    <a:p>
                      <a:r>
                        <a:rPr sz="1400" b="1"/>
                        <a:t>What happened</a:t>
                      </a:r>
                    </a:p>
                  </a:txBody>
                  <a:tcPr/>
                </a:tc>
                <a:tc>
                  <a:txBody>
                    <a:bodyPr/>
                    <a:lstStyle/>
                    <a:p>
                      <a:r>
                        <a:rPr sz="1400" b="1"/>
                        <a:t>Repositories</a:t>
                      </a:r>
                    </a:p>
                  </a:txBody>
                  <a:tcPr/>
                </a:tc>
                <a:tc>
                  <a:txBody>
                    <a:bodyPr/>
                    <a:lstStyle/>
                    <a:p>
                      <a:r>
                        <a:rPr sz="1400" b="1"/>
                        <a:t>Files</a:t>
                      </a:r>
                    </a:p>
                  </a:txBody>
                  <a:tcPr/>
                </a:tc>
              </a:tr>
              <a:tr h="457200">
                <a:tc>
                  <a:txBody>
                    <a:bodyPr/>
                    <a:lstStyle/>
                    <a:p>
                      <a:r>
                        <a:rPr sz="1400" b="0"/>
                        <a:t>{{org.openrewrite.staticanalysis.CommonStaticAnalysis}}</a:t>
                      </a:r>
                    </a:p>
                  </a:txBody>
                  <a:tcPr/>
                </a:tc>
                <a:tc>
                  <a:txBody>
                    <a:bodyPr/>
                    <a:lstStyle/>
                    <a:p>
                      <a:r>
                        <a:rPr sz="1400" b="0"/>
                        <a:t>{{n}} of {{N}}</a:t>
                      </a:r>
                    </a:p>
                  </a:txBody>
                  <a:tcPr/>
                </a:tc>
                <a:tc>
                  <a:txBody>
                    <a:bodyPr/>
                    <a:lstStyle/>
                    <a:p>
                      <a:r>
                        <a:rPr sz="1400" b="0"/>
                        <a:t>{{files}}</a:t>
                      </a:r>
                    </a:p>
                  </a:txBody>
                  <a:tcPr/>
                </a:tc>
              </a:tr>
              <a:tr h="457200">
                <a:tc>
                  <a:txBody>
                    <a:bodyPr/>
                    <a:lstStyle/>
                    <a:p>
                      <a:r>
                        <a:rPr sz="1400" b="0"/>
                        <a:t>{{another recipe the step ran}}</a:t>
                      </a:r>
                    </a:p>
                  </a:txBody>
                  <a:tcPr/>
                </a:tc>
                <a:tc>
                  <a:txBody>
                    <a:bodyPr/>
                    <a:lstStyle/>
                    <a:p>
                      <a:r>
                        <a:rPr sz="1400" b="0"/>
                        <a:t>{{n}} of {{N}}</a:t>
                      </a:r>
                    </a:p>
                  </a:txBody>
                  <a:tcPr/>
                </a:tc>
                <a:tc>
                  <a:txBody>
                    <a:bodyPr/>
                    <a:lstStyle/>
                    <a:p>
                      <a:r>
                        <a:rPr sz="1400" b="0"/>
                        <a:t>{{files}}</a:t>
                      </a:r>
                    </a:p>
                  </a:txBody>
                  <a:tcPr/>
                </a:tc>
              </a:tr>
              <a:tr h="457200">
                <a:tc>
                  <a:txBody>
                    <a:bodyPr/>
                    <a:lstStyle/>
                    <a:p>
                      <a:r>
                        <a:rPr sz="1400" b="0"/>
                        <a:t>Built and passed their own tests after the change</a:t>
                      </a:r>
                    </a:p>
                  </a:txBody>
                  <a:tcPr/>
                </a:tc>
                <a:tc>
                  <a:txBody>
                    <a:bodyPr/>
                    <a:lstStyle/>
                    <a:p>
                      <a:r>
                        <a:rPr sz="1400" b="0"/>
                        <a:t>{{k}} of {{n}}</a:t>
                      </a:r>
                    </a:p>
                  </a:txBody>
                  <a:tcPr/>
                </a:tc>
                <a:tc>
                  <a:txBody>
                    <a:bodyPr/>
                    <a:lstStyle/>
                    <a:p>
                      <a:r>
                        <a:rPr sz="1400" b="0"/>
                        <a:t/>
                      </a:r>
                    </a:p>
                  </a:txBody>
                  <a:tcPr/>
                </a:tc>
              </a:tr>
              <a:tr h="457200">
                <a:tc>
                  <a:txBody>
                    <a:bodyPr/>
                    <a:lstStyle/>
                    <a:p>
                      <a:r>
                        <a:rPr sz="1400" b="0"/>
                        <a:t>Pull requests opened</a:t>
                      </a:r>
                    </a:p>
                  </a:txBody>
                  <a:tcPr/>
                </a:tc>
                <a:tc>
                  <a:txBody>
                    <a:bodyPr/>
                    <a:lstStyle/>
                    <a:p>
                      <a:r>
                        <a:rPr sz="1400" b="0"/>
                        <a:t>{{p}}</a:t>
                      </a:r>
                    </a:p>
                  </a:txBody>
                  <a:tcPr/>
                </a:tc>
                <a:tc>
                  <a:txBody>
                    <a:bodyPr/>
                    <a:lstStyle/>
                    <a:p>
                      <a:r>
                        <a:rPr sz="1400" b="0"/>
                        <a:t/>
                      </a:r>
                    </a:p>
                  </a:txBody>
                  <a:tcPr/>
                </a:tc>
              </a:tr>
            </a:tbl>
          </a:graphicData>
        </a:graphic>
      </p:graphicFrame>
    </p:spTree>
    <p:extLst>
      <p:ext uri="{BB962C8B-B14F-4D97-AF65-F5344CB8AC3E}">
        <p14:creationId xmlns:p14="http://schemas.microsoft.com/office/powerpoint/2010/main" val="2559062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The same prompt, asked never to stop, is a factory.</a:t>
            </a:r>
            <a:endParaRPr sz="3200" dirty="0"/>
          </a:p>
        </p:txBody>
      </p:sp>
      <p:sp>
        <p:nvSpPr>
          <p:cNvPr id="8" name="Command"/>
          <p:cNvSpPr/>
          <p:nvPr/>
        </p:nvSpPr>
        <p:spPr>
          <a:xfrm>
            <a:off x="1069848" y="2697480"/>
            <a:ext cx="5394960" cy="2606040"/>
          </a:xfrm>
          <a:prstGeom prst="roundRect">
            <a:avLst>
              <a:gd name="adj" fmla="val 4000"/>
            </a:avLst>
          </a:prstGeom>
          <a:solidFill>
            <a:srgbClr val="1E23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200">
                <a:solidFill>
                  <a:srgbClr val="7ED39A"/>
                </a:solidFill>
                <a:latin typeface="Courier New"/>
              </a:rPr>
              <a:t>$ </a:t>
            </a:r>
            <a:r>
              <a:rPr sz="1200">
                <a:solidFill>
                  <a:srgbClr val="E6E9EF"/>
                </a:solidFill>
                <a:latin typeface="Courier New"/>
              </a:rPr>
              <a:t>mod {{agent}} chat ./quality-factory \</a:t>
            </a:r>
          </a:p>
          <a:p>
            <a:pPr algn="l"/>
            <a:r>
              <a:rPr sz="1200">
                <a:solidFill>
                  <a:srgbClr val="E6E9EF"/>
                </a:solidFill>
                <a:latin typeface="Courier New"/>
              </a:rPr>
              <a:t>    --org "{{org}}" \</a:t>
            </a:r>
          </a:p>
          <a:p>
            <a:pPr algn="l"/>
            <a:r>
              <a:rPr sz="1200">
                <a:solidFill>
                  <a:srgbClr val="E6E9EF"/>
                </a:solidFill>
                <a:latin typeface="Courier New"/>
              </a:rPr>
              <a:t>    --prompt "Be on guard for code quality issues</a:t>
            </a:r>
          </a:p>
          <a:p>
            <a:pPr algn="l"/>
            <a:r>
              <a:rPr sz="1200">
                <a:solidFill>
                  <a:srgbClr val="E6E9EF"/>
                </a:solidFill>
                <a:latin typeface="Courier New"/>
              </a:rPr>
              <a:t>      perpetually, fixing them as you find them"</a:t>
            </a:r>
          </a:p>
          <a:p>
            <a:pPr algn="l"/>
            <a:r>
              <a:rPr sz="1200">
                <a:solidFill>
                  <a:srgbClr val="E6E9EF"/>
                </a:solidFill>
                <a:latin typeface="Courier New"/>
              </a:rPr>
              <a:t/>
            </a:r>
          </a:p>
          <a:p>
            <a:pPr algn="l"/>
            <a:r>
              <a:rPr sz="1200">
                <a:solidFill>
                  <a:srgbClr val="8A93A6"/>
                </a:solidFill>
                <a:latin typeface="Courier New"/>
              </a:rPr>
              <a:t># when nobody is watching, from a scheduler:</a:t>
            </a:r>
          </a:p>
          <a:p>
            <a:pPr algn="l"/>
            <a:r>
              <a:rPr sz="1200">
                <a:solidFill>
                  <a:srgbClr val="E6E9EF"/>
                </a:solidFill>
                <a:latin typeface="Courier New"/>
              </a:rPr>
              <a:t>0 2 * * * mod {{agent}} chat ./quality-factory \</a:t>
            </a:r>
          </a:p>
          <a:p>
            <a:pPr algn="l"/>
            <a:r>
              <a:rPr sz="1200">
                <a:solidFill>
                  <a:srgbClr val="E6E9EF"/>
                </a:solidFill>
                <a:latin typeface="Courier New"/>
              </a:rPr>
              <a:t>    --org "{{org}}" --unattended \</a:t>
            </a:r>
          </a:p>
          <a:p>
            <a:pPr algn="l"/>
            <a:r>
              <a:rPr sz="1200">
                <a:solidFill>
                  <a:srgbClr val="E6E9EF"/>
                </a:solidFill>
                <a:latin typeface="Courier New"/>
              </a:rPr>
              <a:t>    --prompt "$(cat quality-factory.prompt)"</a:t>
            </a:r>
          </a:p>
        </p:txBody>
      </p:sp>
      <p:sp>
        <p:nvSpPr>
          <p:cNvPr id="9" name="Screenshot placeholder"/>
          <p:cNvSpPr/>
          <p:nvPr/>
        </p:nvSpPr>
        <p:spPr>
          <a:xfrm>
            <a:off x="6784848" y="2377440"/>
            <a:ext cx="4343400" cy="3749039"/>
          </a:xfrm>
          <a:prstGeom prst="roundRect">
            <a:avLst>
              <a:gd name="adj" fmla="val 3000"/>
            </a:avLst>
          </a:prstGeom>
          <a:solidFill>
            <a:srgbClr val="F2F4F8"/>
          </a:solidFill>
          <a:ln w="19050">
            <a:solidFill>
              <a:srgbClr val="9AA3B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a:solidFill>
                  <a:srgbClr val="5B6375"/>
                </a:solidFill>
              </a:rPr>
              <a:t>{{screenshot: the factory's window on its second pass, finding what the first pass left}}</a:t>
            </a:r>
          </a:p>
        </p:txBody>
      </p:sp>
    </p:spTree>
    <p:extLst>
      <p:ext uri="{BB962C8B-B14F-4D97-AF65-F5344CB8AC3E}">
        <p14:creationId xmlns:p14="http://schemas.microsoft.com/office/powerpoint/2010/main" val="2559062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Where no recipe covered a fix, the factory wrote one, so the next pass is deterministic.</a:t>
            </a:r>
            <a:endParaRPr sz="3200" dirty="0"/>
          </a:p>
        </p:txBody>
      </p:sp>
      <p:graphicFrame>
        <p:nvGraphicFramePr>
          <p:cNvPr id="8" name="Results table"/>
          <p:cNvGraphicFramePr>
            <a:graphicFrameLocks noGrp="1"/>
          </p:cNvGraphicFramePr>
          <p:nvPr/>
        </p:nvGraphicFramePr>
        <p:xfrm>
          <a:off x="1069848" y="2377440"/>
          <a:ext cx="10058400" cy="1828800"/>
        </p:xfrm>
        <a:graphic>
          <a:graphicData uri="http://schemas.openxmlformats.org/drawingml/2006/table">
            <a:tbl>
              <a:tblPr firstRow="1" bandRow="1">
                <a:tableStyleId>{5C22544A-7EE6-4342-B048-85BDC9FD1C3A}</a:tableStyleId>
              </a:tblPr>
              <a:tblGrid>
                <a:gridCol w="3108960"/>
                <a:gridCol w="4023360"/>
                <a:gridCol w="2103120"/>
                <a:gridCol w="822960"/>
              </a:tblGrid>
              <a:tr h="457200">
                <a:tc>
                  <a:txBody>
                    <a:bodyPr/>
                    <a:lstStyle/>
                    <a:p>
                      <a:r>
                        <a:rPr sz="1400" b="1"/>
                        <a:t>Recipe written</a:t>
                      </a:r>
                    </a:p>
                  </a:txBody>
                  <a:tcPr/>
                </a:tc>
                <a:tc>
                  <a:txBody>
                    <a:bodyPr/>
                    <a:lstStyle/>
                    <a:p>
                      <a:r>
                        <a:rPr sz="1400" b="1"/>
                        <a:t>What it does</a:t>
                      </a:r>
                    </a:p>
                  </a:txBody>
                  <a:tcPr/>
                </a:tc>
                <a:tc>
                  <a:txBody>
                    <a:bodyPr/>
                    <a:lstStyle/>
                    <a:p>
                      <a:r>
                        <a:rPr sz="1400" b="1"/>
                        <a:t>Repositories it reached</a:t>
                      </a:r>
                    </a:p>
                  </a:txBody>
                  <a:tcPr/>
                </a:tc>
                <a:tc>
                  <a:txBody>
                    <a:bodyPr/>
                    <a:lstStyle/>
                    <a:p>
                      <a:r>
                        <a:rPr sz="1400" b="1"/>
                        <a:t>Pass</a:t>
                      </a:r>
                    </a:p>
                  </a:txBody>
                  <a:tcPr/>
                </a:tc>
              </a:tr>
              <a:tr h="457200">
                <a:tc>
                  <a:txBody>
                    <a:bodyPr/>
                    <a:lstStyle/>
                    <a:p>
                      <a:r>
                        <a:rPr sz="1400" b="0"/>
                        <a:t>{{org.example.FixOne}}</a:t>
                      </a:r>
                    </a:p>
                  </a:txBody>
                  <a:tcPr/>
                </a:tc>
                <a:tc>
                  <a:txBody>
                    <a:bodyPr/>
                    <a:lstStyle/>
                    <a:p>
                      <a:r>
                        <a:rPr sz="1400" b="0"/>
                        <a:t>{{one sentence}}</a:t>
                      </a:r>
                    </a:p>
                  </a:txBody>
                  <a:tcPr/>
                </a:tc>
                <a:tc>
                  <a:txBody>
                    <a:bodyPr/>
                    <a:lstStyle/>
                    <a:p>
                      <a:r>
                        <a:rPr sz="1400" b="0"/>
                        <a:t>{{n}} of {{N}}</a:t>
                      </a:r>
                    </a:p>
                  </a:txBody>
                  <a:tcPr/>
                </a:tc>
                <a:tc>
                  <a:txBody>
                    <a:bodyPr/>
                    <a:lstStyle/>
                    <a:p>
                      <a:r>
                        <a:rPr sz="1400" b="0"/>
                        <a:t>{{1}}</a:t>
                      </a:r>
                    </a:p>
                  </a:txBody>
                  <a:tcPr/>
                </a:tc>
              </a:tr>
              <a:tr h="457200">
                <a:tc>
                  <a:txBody>
                    <a:bodyPr/>
                    <a:lstStyle/>
                    <a:p>
                      <a:r>
                        <a:rPr sz="1400" b="0"/>
                        <a:t>{{org.example.FixTwo}}</a:t>
                      </a:r>
                    </a:p>
                  </a:txBody>
                  <a:tcPr/>
                </a:tc>
                <a:tc>
                  <a:txBody>
                    <a:bodyPr/>
                    <a:lstStyle/>
                    <a:p>
                      <a:r>
                        <a:rPr sz="1400" b="0"/>
                        <a:t>{{one sentence}}</a:t>
                      </a:r>
                    </a:p>
                  </a:txBody>
                  <a:tcPr/>
                </a:tc>
                <a:tc>
                  <a:txBody>
                    <a:bodyPr/>
                    <a:lstStyle/>
                    <a:p>
                      <a:r>
                        <a:rPr sz="1400" b="0"/>
                        <a:t>{{n}} of {{N}}</a:t>
                      </a:r>
                    </a:p>
                  </a:txBody>
                  <a:tcPr/>
                </a:tc>
                <a:tc>
                  <a:txBody>
                    <a:bodyPr/>
                    <a:lstStyle/>
                    <a:p>
                      <a:r>
                        <a:rPr sz="1400" b="0"/>
                        <a:t>{{1}}</a:t>
                      </a:r>
                    </a:p>
                  </a:txBody>
                  <a:tcPr/>
                </a:tc>
              </a:tr>
              <a:tr h="457200">
                <a:tc>
                  <a:txBody>
                    <a:bodyPr/>
                    <a:lstStyle/>
                    <a:p>
                      <a:r>
                        <a:rPr sz="1400" b="0"/>
                        <a:t>{{org.example.FixThree}}</a:t>
                      </a:r>
                    </a:p>
                  </a:txBody>
                  <a:tcPr/>
                </a:tc>
                <a:tc>
                  <a:txBody>
                    <a:bodyPr/>
                    <a:lstStyle/>
                    <a:p>
                      <a:r>
                        <a:rPr sz="1400" b="0"/>
                        <a:t>{{one sentence}}</a:t>
                      </a:r>
                    </a:p>
                  </a:txBody>
                  <a:tcPr/>
                </a:tc>
                <a:tc>
                  <a:txBody>
                    <a:bodyPr/>
                    <a:lstStyle/>
                    <a:p>
                      <a:r>
                        <a:rPr sz="1400" b="0"/>
                        <a:t>{{n}} of {{N}}</a:t>
                      </a:r>
                    </a:p>
                  </a:txBody>
                  <a:tcPr/>
                </a:tc>
                <a:tc>
                  <a:txBody>
                    <a:bodyPr/>
                    <a:lstStyle/>
                    <a:p>
                      <a:r>
                        <a:rPr sz="1400" b="0"/>
                        <a:t>{{2}}</a:t>
                      </a:r>
                    </a:p>
                  </a:txBody>
                  <a:tcPr/>
                </a:tc>
              </a:tr>
            </a:tbl>
          </a:graphicData>
        </a:graphic>
      </p:graphicFrame>
      <p:sp>
        <p:nvSpPr>
          <p:cNvPr id="9" name="Caption"/>
          <p:cNvSpPr txBox="1"/>
          <p:nvPr/>
        </p:nvSpPr>
        <p:spPr>
          <a:xfrm>
            <a:off x="1069848" y="5577839"/>
            <a:ext cx="10058400" cy="548640"/>
          </a:xfrm>
          <a:prstGeom prst="rect">
            <a:avLst/>
          </a:prstGeom>
          <a:noFill/>
        </p:spPr>
        <p:txBody>
          <a:bodyPr wrap="square">
            <a:spAutoFit/>
          </a:bodyPr>
          <a:lstStyle/>
          <a:p>
            <a:r>
              <a:rPr sz="1400">
                <a:solidFill>
                  <a:srgbClr val="5B6375"/>
                </a:solidFill>
              </a:rPr>
              <a:t>Pass 1: {{duration}}, {{files}} files changed in {{n}} repositories.  Pass 2: {{duration}}, {{files}} files changed in {{n}} repositories.</a:t>
            </a:r>
          </a:p>
        </p:txBody>
      </p:sp>
    </p:spTree>
    <p:extLst>
      <p:ext uri="{BB962C8B-B14F-4D97-AF65-F5344CB8AC3E}">
        <p14:creationId xmlns:p14="http://schemas.microsoft.com/office/powerpoint/2010/main" val="2559062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{{n}} repositories moved to Spring Boot {{version}}, each verified by its own build.</a:t>
            </a:r>
            <a:endParaRPr sz="3200" dirty="0"/>
          </a:p>
        </p:txBody>
      </p:sp>
      <p:sp>
        <p:nvSpPr>
          <p:cNvPr id="8" name="Command"/>
          <p:cNvSpPr/>
          <p:nvPr/>
        </p:nvSpPr>
        <p:spPr>
          <a:xfrm>
            <a:off x="1069848" y="2377440"/>
            <a:ext cx="10058400" cy="877824"/>
          </a:xfrm>
          <a:prstGeom prst="roundRect">
            <a:avLst>
              <a:gd name="adj" fmla="val 4000"/>
            </a:avLst>
          </a:prstGeom>
          <a:solidFill>
            <a:srgbClr val="1E23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300">
                <a:solidFill>
                  <a:srgbClr val="7ED39A"/>
                </a:solidFill>
                <a:latin typeface="Courier New"/>
              </a:rPr>
              <a:t>$ </a:t>
            </a:r>
            <a:r>
              <a:rPr sz="1300">
                <a:solidFill>
                  <a:srgbClr val="E6E9EF"/>
                </a:solidFill>
                <a:latin typeface="Courier New"/>
              </a:rPr>
              <a:t>mod {{agent}} chat ./spring-boot --org "{{org}}" \</a:t>
            </a:r>
          </a:p>
          <a:p>
            <a:pPr algn="l"/>
            <a:r>
              <a:rPr sz="1300">
                <a:solidFill>
                  <a:srgbClr val="E6E9EF"/>
                </a:solidFill>
                <a:latin typeface="Courier New"/>
              </a:rPr>
              <a:t>    --prompt "Keep every repository on the latest Spring Boot release"</a:t>
            </a:r>
          </a:p>
        </p:txBody>
      </p:sp>
      <p:graphicFrame>
        <p:nvGraphicFramePr>
          <p:cNvPr id="9" name="Results table"/>
          <p:cNvGraphicFramePr>
            <a:graphicFrameLocks noGrp="1"/>
          </p:cNvGraphicFramePr>
          <p:nvPr/>
        </p:nvGraphicFramePr>
        <p:xfrm>
          <a:off x="1069848" y="3566160"/>
          <a:ext cx="10058400" cy="2057400"/>
        </p:xfrm>
        <a:graphic>
          <a:graphicData uri="http://schemas.openxmlformats.org/drawingml/2006/table">
            <a:tbl>
              <a:tblPr firstRow="1" bandRow="1">
                <a:tableStyleId>{5C22544A-7EE6-4342-B048-85BDC9FD1C3A}</a:tableStyleId>
              </a:tblPr>
              <a:tblGrid>
                <a:gridCol w="3657600"/>
                <a:gridCol w="3200400"/>
                <a:gridCol w="3200400"/>
              </a:tblGrid>
              <a:tr h="411480">
                <a:tc>
                  <a:txBody>
                    <a:bodyPr/>
                    <a:lstStyle/>
                    <a:p>
                      <a:r>
                        <a:rPr sz="1400" b="1"/>
                        <a:t>Spring Boot line</a:t>
                      </a:r>
                    </a:p>
                  </a:txBody>
                  <a:tcPr/>
                </a:tc>
                <a:tc>
                  <a:txBody>
                    <a:bodyPr/>
                    <a:lstStyle/>
                    <a:p>
                      <a:r>
                        <a:rPr sz="1400" b="1"/>
                        <a:t>Repositories before</a:t>
                      </a:r>
                    </a:p>
                  </a:txBody>
                  <a:tcPr/>
                </a:tc>
                <a:tc>
                  <a:txBody>
                    <a:bodyPr/>
                    <a:lstStyle/>
                    <a:p>
                      <a:r>
                        <a:rPr sz="1400" b="1"/>
                        <a:t>Repositories after</a:t>
                      </a:r>
                    </a:p>
                  </a:txBody>
                  <a:tcPr/>
                </a:tc>
              </a:tr>
              <a:tr h="411480">
                <a:tc>
                  <a:txBody>
                    <a:bodyPr/>
                    <a:lstStyle/>
                    <a:p>
                      <a:r>
                        <a:rPr sz="1400" b="0"/>
                        <a:t>{{2.x}}</a:t>
                      </a:r>
                    </a:p>
                  </a:txBody>
                  <a:tcPr/>
                </a:tc>
                <a:tc>
                  <a:txBody>
                    <a:bodyPr/>
                    <a:lstStyle/>
                    <a:p>
                      <a:r>
                        <a:rPr sz="1400" b="0"/>
                        <a:t>{{n}}</a:t>
                      </a:r>
                    </a:p>
                  </a:txBody>
                  <a:tcPr/>
                </a:tc>
                <a:tc>
                  <a:txBody>
                    <a:bodyPr/>
                    <a:lstStyle/>
                    <a:p>
                      <a:r>
                        <a:rPr sz="1400" b="0"/>
                        <a:t>{{n}}</a:t>
                      </a:r>
                    </a:p>
                  </a:txBody>
                  <a:tcPr/>
                </a:tc>
              </a:tr>
              <a:tr h="411480">
                <a:tc>
                  <a:txBody>
                    <a:bodyPr/>
                    <a:lstStyle/>
                    <a:p>
                      <a:r>
                        <a:rPr sz="1400" b="0"/>
                        <a:t>{{3.x}}</a:t>
                      </a:r>
                    </a:p>
                  </a:txBody>
                  <a:tcPr/>
                </a:tc>
                <a:tc>
                  <a:txBody>
                    <a:bodyPr/>
                    <a:lstStyle/>
                    <a:p>
                      <a:r>
                        <a:rPr sz="1400" b="0"/>
                        <a:t>{{n}}</a:t>
                      </a:r>
                    </a:p>
                  </a:txBody>
                  <a:tcPr/>
                </a:tc>
                <a:tc>
                  <a:txBody>
                    <a:bodyPr/>
                    <a:lstStyle/>
                    <a:p>
                      <a:r>
                        <a:rPr sz="1400" b="0"/>
                        <a:t>{{n}}</a:t>
                      </a:r>
                    </a:p>
                  </a:txBody>
                  <a:tcPr/>
                </a:tc>
              </a:tr>
              <a:tr h="411480">
                <a:tc>
                  <a:txBody>
                    <a:bodyPr/>
                    <a:lstStyle/>
                    <a:p>
                      <a:r>
                        <a:rPr sz="1400" b="0"/>
                        <a:t>{{latest}}</a:t>
                      </a:r>
                    </a:p>
                  </a:txBody>
                  <a:tcPr/>
                </a:tc>
                <a:tc>
                  <a:txBody>
                    <a:bodyPr/>
                    <a:lstStyle/>
                    <a:p>
                      <a:r>
                        <a:rPr sz="1400" b="0"/>
                        <a:t>{{n}}</a:t>
                      </a:r>
                    </a:p>
                  </a:txBody>
                  <a:tcPr/>
                </a:tc>
                <a:tc>
                  <a:txBody>
                    <a:bodyPr/>
                    <a:lstStyle/>
                    <a:p>
                      <a:r>
                        <a:rPr sz="1400" b="0"/>
                        <a:t>{{n}}</a:t>
                      </a:r>
                    </a:p>
                  </a:txBody>
                  <a:tcPr/>
                </a:tc>
              </a:tr>
              <a:tr h="411480">
                <a:tc>
                  <a:txBody>
                    <a:bodyPr/>
                    <a:lstStyle/>
                    <a:p>
                      <a:r>
                        <a:rPr sz="1400" b="0"/>
                        <a:t>Built and passed their own tests</a:t>
                      </a:r>
                    </a:p>
                  </a:txBody>
                  <a:tcPr/>
                </a:tc>
                <a:tc>
                  <a:txBody>
                    <a:bodyPr/>
                    <a:lstStyle/>
                    <a:p>
                      <a:r>
                        <a:rPr sz="1400" b="0"/>
                        <a:t/>
                      </a:r>
                    </a:p>
                  </a:txBody>
                  <a:tcPr/>
                </a:tc>
                <a:tc>
                  <a:txBody>
                    <a:bodyPr/>
                    <a:lstStyle/>
                    <a:p>
                      <a:r>
                        <a:rPr sz="1400" b="0"/>
                        <a:t>{{k}} of {{n}} changed</a:t>
                      </a:r>
                    </a:p>
                  </a:txBody>
                  <a:tcPr/>
                </a:tc>
              </a:tr>
            </a:tbl>
          </a:graphicData>
        </a:graphic>
      </p:graphicFrame>
    </p:spTree>
    <p:extLst>
      <p:ext uri="{BB962C8B-B14F-4D97-AF65-F5344CB8AC3E}">
        <p14:creationId xmlns:p14="http://schemas.microsoft.com/office/powerpoint/2010/main" val="2559062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{{f}} vulnerable dependencies fixed everywhere in one run, {{t}}% of them transitive.</a:t>
            </a:r>
            <a:endParaRPr sz="3200" dirty="0"/>
          </a:p>
        </p:txBody>
      </p:sp>
      <p:sp>
        <p:nvSpPr>
          <p:cNvPr id="8" name="Command"/>
          <p:cNvSpPr/>
          <p:nvPr/>
        </p:nvSpPr>
        <p:spPr>
          <a:xfrm>
            <a:off x="1069848" y="2377440"/>
            <a:ext cx="10058400" cy="1124712"/>
          </a:xfrm>
          <a:prstGeom prst="roundRect">
            <a:avLst>
              <a:gd name="adj" fmla="val 4000"/>
            </a:avLst>
          </a:prstGeom>
          <a:solidFill>
            <a:srgbClr val="1E23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300">
                <a:solidFill>
                  <a:srgbClr val="7ED39A"/>
                </a:solidFill>
                <a:latin typeface="Courier New"/>
              </a:rPr>
              <a:t>$ </a:t>
            </a:r>
            <a:r>
              <a:rPr sz="1300">
                <a:solidFill>
                  <a:srgbClr val="E6E9EF"/>
                </a:solidFill>
                <a:latin typeface="Courier New"/>
              </a:rPr>
              <a:t>mod {{agent}} chat ./vulnerabilities --org "{{org}}" \</a:t>
            </a:r>
          </a:p>
          <a:p>
            <a:pPr algn="l"/>
            <a:r>
              <a:rPr sz="1300">
                <a:solidFill>
                  <a:srgbClr val="E6E9EF"/>
                </a:solidFill>
                <a:latin typeface="Courier New"/>
              </a:rPr>
              <a:t>    --prompt "Watch for newly disclosed vulnerabilities that affect this code</a:t>
            </a:r>
          </a:p>
          <a:p>
            <a:pPr algn="l"/>
            <a:r>
              <a:rPr sz="1300">
                <a:solidFill>
                  <a:srgbClr val="E6E9EF"/>
                </a:solidFill>
                <a:latin typeface="Courier New"/>
              </a:rPr>
              <a:t>      and fix them everywhere"</a:t>
            </a:r>
          </a:p>
        </p:txBody>
      </p:sp>
      <p:graphicFrame>
        <p:nvGraphicFramePr>
          <p:cNvPr id="9" name="Results table"/>
          <p:cNvGraphicFramePr>
            <a:graphicFrameLocks noGrp="1"/>
          </p:cNvGraphicFramePr>
          <p:nvPr/>
        </p:nvGraphicFramePr>
        <p:xfrm>
          <a:off x="1069848" y="3813048"/>
          <a:ext cx="10058400" cy="1645920"/>
        </p:xfrm>
        <a:graphic>
          <a:graphicData uri="http://schemas.openxmlformats.org/drawingml/2006/table">
            <a:tbl>
              <a:tblPr firstRow="1" bandRow="1">
                <a:tableStyleId>{5C22544A-7EE6-4342-B048-85BDC9FD1C3A}</a:tableStyleId>
              </a:tblPr>
              <a:tblGrid>
                <a:gridCol w="2194560"/>
                <a:gridCol w="3291840"/>
                <a:gridCol w="1371600"/>
                <a:gridCol w="1645920"/>
                <a:gridCol w="1554480"/>
              </a:tblGrid>
              <a:tr h="411480">
                <a:tc>
                  <a:txBody>
                    <a:bodyPr/>
                    <a:lstStyle/>
                    <a:p>
                      <a:r>
                        <a:rPr sz="1400" b="1"/>
                        <a:t>CVE</a:t>
                      </a:r>
                    </a:p>
                  </a:txBody>
                  <a:tcPr/>
                </a:tc>
                <a:tc>
                  <a:txBody>
                    <a:bodyPr/>
                    <a:lstStyle/>
                    <a:p>
                      <a:r>
                        <a:rPr sz="1400" b="1"/>
                        <a:t>Artifact</a:t>
                      </a:r>
                    </a:p>
                  </a:txBody>
                  <a:tcPr/>
                </a:tc>
                <a:tc>
                  <a:txBody>
                    <a:bodyPr/>
                    <a:lstStyle/>
                    <a:p>
                      <a:r>
                        <a:rPr sz="1400" b="1"/>
                        <a:t>Severity</a:t>
                      </a:r>
                    </a:p>
                  </a:txBody>
                  <a:tcPr/>
                </a:tc>
                <a:tc>
                  <a:txBody>
                    <a:bodyPr/>
                    <a:lstStyle/>
                    <a:p>
                      <a:r>
                        <a:rPr sz="1400" b="1"/>
                        <a:t>Repositories</a:t>
                      </a:r>
                    </a:p>
                  </a:txBody>
                  <a:tcPr/>
                </a:tc>
                <a:tc>
                  <a:txBody>
                    <a:bodyPr/>
                    <a:lstStyle/>
                    <a:p>
                      <a:r>
                        <a:rPr sz="1400" b="1"/>
                        <a:t>Fixed version</a:t>
                      </a:r>
                    </a:p>
                  </a:txBody>
                  <a:tcPr/>
                </a:tc>
              </a:tr>
              <a:tr h="411480">
                <a:tc>
                  <a:txBody>
                    <a:bodyPr/>
                    <a:lstStyle/>
                    <a:p>
                      <a:r>
                        <a:rPr sz="1400" b="0"/>
                        <a:t>{{CVE-2026-0000}}</a:t>
                      </a:r>
                    </a:p>
                  </a:txBody>
                  <a:tcPr/>
                </a:tc>
                <a:tc>
                  <a:txBody>
                    <a:bodyPr/>
                    <a:lstStyle/>
                    <a:p>
                      <a:r>
                        <a:rPr sz="1400" b="0"/>
                        <a:t>{{group:artifact}}</a:t>
                      </a:r>
                    </a:p>
                  </a:txBody>
                  <a:tcPr/>
                </a:tc>
                <a:tc>
                  <a:txBody>
                    <a:bodyPr/>
                    <a:lstStyle/>
                    <a:p>
                      <a:r>
                        <a:rPr sz="1400" b="0"/>
                        <a:t>{{critical}}</a:t>
                      </a:r>
                    </a:p>
                  </a:txBody>
                  <a:tcPr/>
                </a:tc>
                <a:tc>
                  <a:txBody>
                    <a:bodyPr/>
                    <a:lstStyle/>
                    <a:p>
                      <a:r>
                        <a:rPr sz="1400" b="0"/>
                        <a:t>{{n}} of {{N}}</a:t>
                      </a:r>
                    </a:p>
                  </a:txBody>
                  <a:tcPr/>
                </a:tc>
                <a:tc>
                  <a:txBody>
                    <a:bodyPr/>
                    <a:lstStyle/>
                    <a:p>
                      <a:r>
                        <a:rPr sz="1400" b="0"/>
                        <a:t>{{version}}</a:t>
                      </a:r>
                    </a:p>
                  </a:txBody>
                  <a:tcPr/>
                </a:tc>
              </a:tr>
              <a:tr h="411480">
                <a:tc>
                  <a:txBody>
                    <a:bodyPr/>
                    <a:lstStyle/>
                    <a:p>
                      <a:r>
                        <a:rPr sz="1400" b="0"/>
                        <a:t>{{CVE-2026-0000}}</a:t>
                      </a:r>
                    </a:p>
                  </a:txBody>
                  <a:tcPr/>
                </a:tc>
                <a:tc>
                  <a:txBody>
                    <a:bodyPr/>
                    <a:lstStyle/>
                    <a:p>
                      <a:r>
                        <a:rPr sz="1400" b="0"/>
                        <a:t>{{group:artifact}}</a:t>
                      </a:r>
                    </a:p>
                  </a:txBody>
                  <a:tcPr/>
                </a:tc>
                <a:tc>
                  <a:txBody>
                    <a:bodyPr/>
                    <a:lstStyle/>
                    <a:p>
                      <a:r>
                        <a:rPr sz="1400" b="0"/>
                        <a:t>{{high}}</a:t>
                      </a:r>
                    </a:p>
                  </a:txBody>
                  <a:tcPr/>
                </a:tc>
                <a:tc>
                  <a:txBody>
                    <a:bodyPr/>
                    <a:lstStyle/>
                    <a:p>
                      <a:r>
                        <a:rPr sz="1400" b="0"/>
                        <a:t>{{n}} of {{N}}</a:t>
                      </a:r>
                    </a:p>
                  </a:txBody>
                  <a:tcPr/>
                </a:tc>
                <a:tc>
                  <a:txBody>
                    <a:bodyPr/>
                    <a:lstStyle/>
                    <a:p>
                      <a:r>
                        <a:rPr sz="1400" b="0"/>
                        <a:t>{{version}}</a:t>
                      </a:r>
                    </a:p>
                  </a:txBody>
                  <a:tcPr/>
                </a:tc>
              </a:tr>
              <a:tr h="411480">
                <a:tc>
                  <a:txBody>
                    <a:bodyPr/>
                    <a:lstStyle/>
                    <a:p>
                      <a:r>
                        <a:rPr sz="1400" b="0"/>
                        <a:t>{{CVE-2026-0000}}</a:t>
                      </a:r>
                    </a:p>
                  </a:txBody>
                  <a:tcPr/>
                </a:tc>
                <a:tc>
                  <a:txBody>
                    <a:bodyPr/>
                    <a:lstStyle/>
                    <a:p>
                      <a:r>
                        <a:rPr sz="1400" b="0"/>
                        <a:t>{{group:artifact}}</a:t>
                      </a:r>
                    </a:p>
                  </a:txBody>
                  <a:tcPr/>
                </a:tc>
                <a:tc>
                  <a:txBody>
                    <a:bodyPr/>
                    <a:lstStyle/>
                    <a:p>
                      <a:r>
                        <a:rPr sz="1400" b="0"/>
                        <a:t>{{high}}</a:t>
                      </a:r>
                    </a:p>
                  </a:txBody>
                  <a:tcPr/>
                </a:tc>
                <a:tc>
                  <a:txBody>
                    <a:bodyPr/>
                    <a:lstStyle/>
                    <a:p>
                      <a:r>
                        <a:rPr sz="1400" b="0"/>
                        <a:t>{{n}} of {{N}}</a:t>
                      </a:r>
                    </a:p>
                  </a:txBody>
                  <a:tcPr/>
                </a:tc>
                <a:tc>
                  <a:txBody>
                    <a:bodyPr/>
                    <a:lstStyle/>
                    <a:p>
                      <a:r>
                        <a:rPr sz="1400" b="0"/>
                        <a:t>{{version}}</a:t>
                      </a:r>
                    </a:p>
                  </a:txBody>
                  <a:tcPr/>
                </a:tc>
              </a:tr>
            </a:tbl>
          </a:graphicData>
        </a:graphic>
      </p:graphicFrame>
    </p:spTree>
    <p:extLst>
      <p:ext uri="{BB962C8B-B14F-4D97-AF65-F5344CB8AC3E}">
        <p14:creationId xmlns:p14="http://schemas.microsoft.com/office/powerpoint/2010/main" val="2559062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Asked a question no recipe could answer, the agent wrote the recipe that answers it.</a:t>
            </a:r>
            <a:endParaRPr sz="3200" dirty="0"/>
          </a:p>
        </p:txBody>
      </p:sp>
      <p:sp>
        <p:nvSpPr>
          <p:cNvPr id="8" name="Command"/>
          <p:cNvSpPr/>
          <p:nvPr/>
        </p:nvSpPr>
        <p:spPr>
          <a:xfrm>
            <a:off x="1069848" y="2377440"/>
            <a:ext cx="10058400" cy="877824"/>
          </a:xfrm>
          <a:prstGeom prst="roundRect">
            <a:avLst>
              <a:gd name="adj" fmla="val 4000"/>
            </a:avLst>
          </a:prstGeom>
          <a:solidFill>
            <a:srgbClr val="1E23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l"/>
            <a:r>
              <a:rPr sz="1300">
                <a:solidFill>
                  <a:srgbClr val="7ED39A"/>
                </a:solidFill>
                <a:latin typeface="Courier New"/>
              </a:rPr>
              <a:t>$ </a:t>
            </a:r>
            <a:r>
              <a:rPr sz="1300">
                <a:solidFill>
                  <a:srgbClr val="E6E9EF"/>
                </a:solidFill>
                <a:latin typeface="Courier New"/>
              </a:rPr>
              <a:t>mod {{agent}} chat ./data-flow --org "{{org}}" \</a:t>
            </a:r>
          </a:p>
          <a:p>
            <a:pPr algn="l"/>
            <a:r>
              <a:rPr sz="1300">
                <a:solidFill>
                  <a:srgbClr val="E6E9EF"/>
                </a:solidFill>
                <a:latin typeface="Courier New"/>
              </a:rPr>
              <a:t>    --prompt "Build what it takes to answer where data flows through this code"</a:t>
            </a:r>
          </a:p>
        </p:txBody>
      </p:sp>
      <p:graphicFrame>
        <p:nvGraphicFramePr>
          <p:cNvPr id="9" name="Results table"/>
          <p:cNvGraphicFramePr>
            <a:graphicFrameLocks noGrp="1"/>
          </p:cNvGraphicFramePr>
          <p:nvPr/>
        </p:nvGraphicFramePr>
        <p:xfrm>
          <a:off x="1069848" y="3566160"/>
          <a:ext cx="10058400" cy="2057400"/>
        </p:xfrm>
        <a:graphic>
          <a:graphicData uri="http://schemas.openxmlformats.org/drawingml/2006/table">
            <a:tbl>
              <a:tblPr firstRow="1" bandRow="1">
                <a:tableStyleId>{5C22544A-7EE6-4342-B048-85BDC9FD1C3A}</a:tableStyleId>
              </a:tblPr>
              <a:tblGrid>
                <a:gridCol w="2743200"/>
                <a:gridCol w="7315200"/>
              </a:tblGrid>
              <a:tr h="411480">
                <a:tc>
                  <a:txBody>
                    <a:bodyPr/>
                    <a:lstStyle/>
                    <a:p>
                      <a:r>
                        <a:rPr sz="1400" b="1"/>
                        <a:t>Question</a:t>
                      </a:r>
                    </a:p>
                  </a:txBody>
                  <a:tcPr/>
                </a:tc>
                <a:tc>
                  <a:txBody>
                    <a:bodyPr/>
                    <a:lstStyle/>
                    <a:p>
                      <a:r>
                        <a:rPr sz="1400" b="1"/>
                        <a:t>{{The question, in plain words}}</a:t>
                      </a:r>
                    </a:p>
                  </a:txBody>
                  <a:tcPr/>
                </a:tc>
              </a:tr>
              <a:tr h="411480">
                <a:tc>
                  <a:txBody>
                    <a:bodyPr/>
                    <a:lstStyle/>
                    <a:p>
                      <a:r>
                        <a:rPr sz="1400" b="0"/>
                        <a:t>Answer</a:t>
                      </a:r>
                    </a:p>
                  </a:txBody>
                  <a:tcPr/>
                </a:tc>
                <a:tc>
                  <a:txBody>
                    <a:bodyPr/>
                    <a:lstStyle/>
                    <a:p>
                      <a:r>
                        <a:rPr sz="1400" b="0"/>
                        <a:t>{{n}} flows in {{m}} repositories, through {{library}}</a:t>
                      </a:r>
                    </a:p>
                  </a:txBody>
                  <a:tcPr/>
                </a:tc>
              </a:tr>
              <a:tr h="411480">
                <a:tc>
                  <a:txBody>
                    <a:bodyPr/>
                    <a:lstStyle/>
                    <a:p>
                      <a:r>
                        <a:rPr sz="1400" b="0"/>
                        <a:t>Recipe it wrote</a:t>
                      </a:r>
                    </a:p>
                  </a:txBody>
                  <a:tcPr/>
                </a:tc>
                <a:tc>
                  <a:txBody>
                    <a:bodyPr/>
                    <a:lstStyle/>
                    <a:p>
                      <a:r>
                        <a:rPr sz="1400" b="0"/>
                        <a:t>{{org.example.FindFlowOfX}}</a:t>
                      </a:r>
                    </a:p>
                  </a:txBody>
                  <a:tcPr/>
                </a:tc>
              </a:tr>
              <a:tr h="411480">
                <a:tc>
                  <a:txBody>
                    <a:bodyPr/>
                    <a:lstStyle/>
                    <a:p>
                      <a:r>
                        <a:rPr sz="1400" b="0"/>
                        <a:t>Data table</a:t>
                      </a:r>
                    </a:p>
                  </a:txBody>
                  <a:tcPr/>
                </a:tc>
                <a:tc>
                  <a:txBody>
                    <a:bodyPr/>
                    <a:lstStyle/>
                    <a:p>
                      <a:r>
                        <a:rPr sz="1400" b="0"/>
                        <a:t>{{TableName}}, run again any time over every repository</a:t>
                      </a:r>
                    </a:p>
                  </a:txBody>
                  <a:tcPr/>
                </a:tc>
              </a:tr>
              <a:tr h="411480">
                <a:tc>
                  <a:txBody>
                    <a:bodyPr/>
                    <a:lstStyle/>
                    <a:p>
                      <a:r>
                        <a:rPr sz="1400" b="0"/>
                        <a:t>Where it falls short</a:t>
                      </a:r>
                    </a:p>
                  </a:txBody>
                  <a:tcPr/>
                </a:tc>
                <a:tc>
                  <a:txBody>
                    <a:bodyPr/>
                    <a:lstStyle/>
                    <a:p>
                      <a:r>
                        <a:rPr sz="1400" b="0"/>
                        <a:t>{{one sentence}}</a:t>
                      </a:r>
                    </a:p>
                  </a:txBody>
                  <a:tcPr/>
                </a:tc>
              </a:tr>
            </a:tbl>
          </a:graphicData>
        </a:graphic>
      </p:graphicFrame>
    </p:spTree>
    <p:extLst>
      <p:ext uri="{BB962C8B-B14F-4D97-AF65-F5344CB8AC3E}">
        <p14:creationId xmlns:p14="http://schemas.microsoft.com/office/powerpoint/2010/main" val="2559062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The agent gets better at this work by writing recipes, not by changing the model.</a:t>
            </a:r>
            <a:endParaRPr sz="3200" dirty="0"/>
          </a:p>
        </p:txBody>
      </p:sp>
      <p:sp>
        <p:nvSpPr>
          <p:cNvPr id="8" name="Rounded Rectangle 7"/>
          <p:cNvSpPr/>
          <p:nvPr/>
        </p:nvSpPr>
        <p:spPr>
          <a:xfrm>
            <a:off x="1069848" y="2651760"/>
            <a:ext cx="1600200" cy="914400"/>
          </a:xfrm>
          <a:prstGeom prst="roundRect">
            <a:avLst/>
          </a:prstGeom>
          <a:solidFill>
            <a:srgbClr val="E8ECF6"/>
          </a:solidFill>
          <a:ln w="15875">
            <a:solidFill>
              <a:srgbClr val="1F2A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A5A"/>
                </a:solidFill>
              </a:rPr>
              <a:t>An objective</a:t>
            </a:r>
          </a:p>
        </p:txBody>
      </p:sp>
      <p:sp>
        <p:nvSpPr>
          <p:cNvPr id="9" name="Right Arrow 8"/>
          <p:cNvSpPr/>
          <p:nvPr/>
        </p:nvSpPr>
        <p:spPr>
          <a:xfrm>
            <a:off x="2724912" y="2926080"/>
            <a:ext cx="404622" cy="365760"/>
          </a:xfrm>
          <a:prstGeom prst="rightArrow">
            <a:avLst/>
          </a:prstGeom>
          <a:solidFill>
            <a:srgbClr val="3B4C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A5A"/>
                </a:solidFill>
              </a:rPr>
              <a:t/>
            </a:r>
          </a:p>
        </p:txBody>
      </p:sp>
      <p:sp>
        <p:nvSpPr>
          <p:cNvPr id="10" name="Rounded Rectangle 9"/>
          <p:cNvSpPr/>
          <p:nvPr/>
        </p:nvSpPr>
        <p:spPr>
          <a:xfrm>
            <a:off x="3184398" y="2651760"/>
            <a:ext cx="1600200" cy="914400"/>
          </a:xfrm>
          <a:prstGeom prst="roundRect">
            <a:avLst/>
          </a:prstGeom>
          <a:solidFill>
            <a:srgbClr val="E8ECF6"/>
          </a:solidFill>
          <a:ln w="15875">
            <a:solidFill>
              <a:srgbClr val="1F2A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A5A"/>
                </a:solidFill>
              </a:rPr>
              <a:t>Search the code</a:t>
            </a:r>
          </a:p>
        </p:txBody>
      </p:sp>
      <p:sp>
        <p:nvSpPr>
          <p:cNvPr id="11" name="Right Arrow 10"/>
          <p:cNvSpPr/>
          <p:nvPr/>
        </p:nvSpPr>
        <p:spPr>
          <a:xfrm>
            <a:off x="4839462" y="2926080"/>
            <a:ext cx="404622" cy="365760"/>
          </a:xfrm>
          <a:prstGeom prst="rightArrow">
            <a:avLst/>
          </a:prstGeom>
          <a:solidFill>
            <a:srgbClr val="3B4C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A5A"/>
                </a:solidFill>
              </a:rPr>
              <a:t/>
            </a:r>
          </a:p>
        </p:txBody>
      </p:sp>
      <p:sp>
        <p:nvSpPr>
          <p:cNvPr id="12" name="Rounded Rectangle 11"/>
          <p:cNvSpPr/>
          <p:nvPr/>
        </p:nvSpPr>
        <p:spPr>
          <a:xfrm>
            <a:off x="5298948" y="2651760"/>
            <a:ext cx="1600200" cy="914400"/>
          </a:xfrm>
          <a:prstGeom prst="roundRect">
            <a:avLst/>
          </a:prstGeom>
          <a:solidFill>
            <a:srgbClr val="E8ECF6"/>
          </a:solidFill>
          <a:ln w="15875">
            <a:solidFill>
              <a:srgbClr val="1F2A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A5A"/>
                </a:solidFill>
              </a:rPr>
              <a:t>Run a recipe</a:t>
            </a:r>
          </a:p>
        </p:txBody>
      </p:sp>
      <p:sp>
        <p:nvSpPr>
          <p:cNvPr id="13" name="Right Arrow 12"/>
          <p:cNvSpPr/>
          <p:nvPr/>
        </p:nvSpPr>
        <p:spPr>
          <a:xfrm>
            <a:off x="6954012" y="2926080"/>
            <a:ext cx="404622" cy="365760"/>
          </a:xfrm>
          <a:prstGeom prst="rightArrow">
            <a:avLst/>
          </a:prstGeom>
          <a:solidFill>
            <a:srgbClr val="3B4C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A5A"/>
                </a:solidFill>
              </a:rPr>
              <a:t/>
            </a:r>
          </a:p>
        </p:txBody>
      </p:sp>
      <p:sp>
        <p:nvSpPr>
          <p:cNvPr id="14" name="Rounded Rectangle 13"/>
          <p:cNvSpPr/>
          <p:nvPr/>
        </p:nvSpPr>
        <p:spPr>
          <a:xfrm>
            <a:off x="7413498" y="2651760"/>
            <a:ext cx="1600200" cy="914400"/>
          </a:xfrm>
          <a:prstGeom prst="roundRect">
            <a:avLst/>
          </a:prstGeom>
          <a:solidFill>
            <a:srgbClr val="E8ECF6"/>
          </a:solidFill>
          <a:ln w="15875">
            <a:solidFill>
              <a:srgbClr val="1F2A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A5A"/>
                </a:solidFill>
              </a:rPr>
              <a:t>Find what it missed</a:t>
            </a:r>
          </a:p>
        </p:txBody>
      </p:sp>
      <p:sp>
        <p:nvSpPr>
          <p:cNvPr id="15" name="Right Arrow 14"/>
          <p:cNvSpPr/>
          <p:nvPr/>
        </p:nvSpPr>
        <p:spPr>
          <a:xfrm>
            <a:off x="9068562" y="2926080"/>
            <a:ext cx="404622" cy="365760"/>
          </a:xfrm>
          <a:prstGeom prst="rightArrow">
            <a:avLst/>
          </a:prstGeom>
          <a:solidFill>
            <a:srgbClr val="3B4C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A5A"/>
                </a:solidFill>
              </a:rPr>
              <a:t/>
            </a:r>
          </a:p>
        </p:txBody>
      </p:sp>
      <p:sp>
        <p:nvSpPr>
          <p:cNvPr id="16" name="Rounded Rectangle 15"/>
          <p:cNvSpPr/>
          <p:nvPr/>
        </p:nvSpPr>
        <p:spPr>
          <a:xfrm>
            <a:off x="9528048" y="2651760"/>
            <a:ext cx="1600200" cy="914400"/>
          </a:xfrm>
          <a:prstGeom prst="roundRect">
            <a:avLst/>
          </a:prstGeom>
          <a:solidFill>
            <a:srgbClr val="E8ECF6"/>
          </a:solidFill>
          <a:ln w="15875">
            <a:solidFill>
              <a:srgbClr val="1F2A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A5A"/>
                </a:solidFill>
              </a:rPr>
              <a:t>Write the recipe</a:t>
            </a:r>
          </a:p>
        </p:txBody>
      </p:sp>
      <p:sp>
        <p:nvSpPr>
          <p:cNvPr id="17" name="Left Arrow 16"/>
          <p:cNvSpPr/>
          <p:nvPr/>
        </p:nvSpPr>
        <p:spPr>
          <a:xfrm>
            <a:off x="1869948" y="3886200"/>
            <a:ext cx="8458200" cy="777240"/>
          </a:xfrm>
          <a:prstGeom prst="leftArrow">
            <a:avLst>
              <a:gd name="adj1" fmla="val 60000"/>
              <a:gd name="adj2" fmla="val 50000"/>
            </a:avLst>
          </a:prstGeom>
          <a:solidFill>
            <a:srgbClr val="F2F4F8"/>
          </a:solidFill>
          <a:ln w="15875">
            <a:solidFill>
              <a:srgbClr val="9AA3B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F2A5A"/>
                </a:solidFill>
              </a:rPr>
              <a:t>The recipe runs everywhere, and the next pass starts with it</a:t>
            </a:r>
          </a:p>
        </p:txBody>
      </p:sp>
      <p:sp>
        <p:nvSpPr>
          <p:cNvPr id="18" name="Caption"/>
          <p:cNvSpPr txBox="1"/>
          <p:nvPr/>
        </p:nvSpPr>
        <p:spPr>
          <a:xfrm>
            <a:off x="1069848" y="4937760"/>
            <a:ext cx="10058400" cy="548640"/>
          </a:xfrm>
          <a:prstGeom prst="rect">
            <a:avLst/>
          </a:prstGeom>
          <a:noFill/>
        </p:spPr>
        <p:txBody>
          <a:bodyPr wrap="square">
            <a:spAutoFit/>
          </a:bodyPr>
          <a:lstStyle/>
          <a:p>
            <a:r>
              <a:rPr sz="1600">
                <a:solidFill>
                  <a:srgbClr val="1F2A5A"/>
                </a:solidFill>
              </a:rPr>
              <a:t>Recipes it could reach for: {{marketplace}} when the proof of value started, {{marketplace + w}} when it ended.</a:t>
            </a:r>
          </a:p>
        </p:txBody>
      </p:sp>
    </p:spTree>
    <p:extLst>
      <p:ext uri="{BB962C8B-B14F-4D97-AF65-F5344CB8AC3E}">
        <p14:creationId xmlns:p14="http://schemas.microsoft.com/office/powerpoint/2010/main" val="2559062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The proof of value took {{hours}} of a person's time and {{dollars}} of agent usage.</a:t>
            </a:r>
            <a:endParaRPr sz="3200" dirty="0"/>
          </a:p>
        </p:txBody>
      </p:sp>
      <p:graphicFrame>
        <p:nvGraphicFramePr>
          <p:cNvPr id="8" name="Results table"/>
          <p:cNvGraphicFramePr>
            <a:graphicFrameLocks noGrp="1"/>
          </p:cNvGraphicFramePr>
          <p:nvPr/>
        </p:nvGraphicFramePr>
        <p:xfrm>
          <a:off x="1069848" y="2377440"/>
          <a:ext cx="10058400" cy="2743200"/>
        </p:xfrm>
        <a:graphic>
          <a:graphicData uri="http://schemas.openxmlformats.org/drawingml/2006/table">
            <a:tbl>
              <a:tblPr firstRow="1" bandRow="1">
                <a:tableStyleId>{5C22544A-7EE6-4342-B048-85BDC9FD1C3A}</a:tableStyleId>
              </a:tblPr>
              <a:tblGrid>
                <a:gridCol w="3474720"/>
                <a:gridCol w="1828800"/>
                <a:gridCol w="4754880"/>
              </a:tblGrid>
              <a:tr h="457200">
                <a:tc>
                  <a:txBody>
                    <a:bodyPr/>
                    <a:lstStyle/>
                    <a:p>
                      <a:r>
                        <a:rPr sz="1400" b="1"/>
                        <a:t>Measure</a:t>
                      </a:r>
                    </a:p>
                  </a:txBody>
                  <a:tcPr/>
                </a:tc>
                <a:tc>
                  <a:txBody>
                    <a:bodyPr/>
                    <a:lstStyle/>
                    <a:p>
                      <a:r>
                        <a:rPr sz="1400" b="1"/>
                        <a:t>Value</a:t>
                      </a:r>
                    </a:p>
                  </a:txBody>
                  <a:tcPr/>
                </a:tc>
                <a:tc>
                  <a:txBody>
                    <a:bodyPr/>
                    <a:lstStyle/>
                    <a:p>
                      <a:r>
                        <a:rPr sz="1400" b="1"/>
                        <a:t>Where it comes from</a:t>
                      </a:r>
                    </a:p>
                  </a:txBody>
                  <a:tcPr/>
                </a:tc>
              </a:tr>
              <a:tr h="457200">
                <a:tc>
                  <a:txBody>
                    <a:bodyPr/>
                    <a:lstStyle/>
                    <a:p>
                      <a:r>
                        <a:rPr sz="1400" b="0"/>
                        <a:t>Agent usage</a:t>
                      </a:r>
                    </a:p>
                  </a:txBody>
                  <a:tcPr/>
                </a:tc>
                <a:tc>
                  <a:txBody>
                    <a:bodyPr/>
                    <a:lstStyle/>
                    <a:p>
                      <a:r>
                        <a:rPr sz="1400" b="0"/>
                        <a:t>{{dollars}}</a:t>
                      </a:r>
                    </a:p>
                  </a:txBody>
                  <a:tcPr/>
                </a:tc>
                <a:tc>
                  <a:txBody>
                    <a:bodyPr/>
                    <a:lstStyle/>
                    <a:p>
                      <a:r>
                        <a:rPr sz="1400" b="0"/>
                        <a:t>The agents' own usage reports: this session and each step</a:t>
                      </a:r>
                    </a:p>
                  </a:txBody>
                  <a:tcPr/>
                </a:tc>
              </a:tr>
              <a:tr h="457200">
                <a:tc>
                  <a:txBody>
                    <a:bodyPr/>
                    <a:lstStyle/>
                    <a:p>
                      <a:r>
                        <a:rPr sz="1400" b="0"/>
                        <a:t>Wall-clock time</a:t>
                      </a:r>
                    </a:p>
                  </a:txBody>
                  <a:tcPr/>
                </a:tc>
                <a:tc>
                  <a:txBody>
                    <a:bodyPr/>
                    <a:lstStyle/>
                    <a:p>
                      <a:r>
                        <a:rPr sz="1400" b="0"/>
                        <a:t>{{hours:minutes}}</a:t>
                      </a:r>
                    </a:p>
                  </a:txBody>
                  <a:tcPr/>
                </a:tc>
                <a:tc>
                  <a:txBody>
                    <a:bodyPr/>
                    <a:lstStyle/>
                    <a:p>
                      <a:r>
                        <a:rPr sz="1400" b="0"/>
                        <a:t>This session's start to the filled deck</a:t>
                      </a:r>
                    </a:p>
                  </a:txBody>
                  <a:tcPr/>
                </a:tc>
              </a:tr>
              <a:tr h="457200">
                <a:tc>
                  <a:txBody>
                    <a:bodyPr/>
                    <a:lstStyle/>
                    <a:p>
                      <a:r>
                        <a:rPr sz="1400" b="0"/>
                        <a:t>A person's time</a:t>
                      </a:r>
                    </a:p>
                  </a:txBody>
                  <a:tcPr/>
                </a:tc>
                <a:tc>
                  <a:txBody>
                    <a:bodyPr/>
                    <a:lstStyle/>
                    <a:p>
                      <a:r>
                        <a:rPr sz="1400" b="0"/>
                        <a:t>{{hours}}</a:t>
                      </a:r>
                    </a:p>
                  </a:txBody>
                  <a:tcPr/>
                </a:tc>
                <a:tc>
                  <a:txBody>
                    <a:bodyPr/>
                    <a:lstStyle/>
                    <a:p>
                      <a:r>
                        <a:rPr sz="1400" b="0"/>
                        <a:t>Time spent watching, steering and reviewing</a:t>
                      </a:r>
                    </a:p>
                  </a:txBody>
                  <a:tcPr/>
                </a:tc>
              </a:tr>
              <a:tr h="457200">
                <a:tc>
                  <a:txBody>
                    <a:bodyPr/>
                    <a:lstStyle/>
                    <a:p>
                      <a:r>
                        <a:rPr sz="1400" b="0"/>
                        <a:t>Developer time the recipes report saving</a:t>
                      </a:r>
                    </a:p>
                  </a:txBody>
                  <a:tcPr/>
                </a:tc>
                <a:tc>
                  <a:txBody>
                    <a:bodyPr/>
                    <a:lstStyle/>
                    <a:p>
                      <a:r>
                        <a:rPr sz="1400" b="0"/>
                        <a:t>{{saved}} hours</a:t>
                      </a:r>
                    </a:p>
                  </a:txBody>
                  <a:tcPr/>
                </a:tc>
                <a:tc>
                  <a:txBody>
                    <a:bodyPr/>
                    <a:lstStyle/>
                    <a:p>
                      <a:r>
                        <a:rPr sz="1400" b="0"/>
                        <a:t>The 'saved by using recipes' line of each mod run</a:t>
                      </a:r>
                    </a:p>
                  </a:txBody>
                  <a:tcPr/>
                </a:tc>
              </a:tr>
              <a:tr h="457200">
                <a:tc>
                  <a:txBody>
                    <a:bodyPr/>
                    <a:lstStyle/>
                    <a:p>
                      <a:r>
                        <a:rPr sz="1400" b="0"/>
                        <a:t>Running the {{w}} recipes it wrote again</a:t>
                      </a:r>
                    </a:p>
                  </a:txBody>
                  <a:tcPr/>
                </a:tc>
                <a:tc>
                  <a:txBody>
                    <a:bodyPr/>
                    <a:lstStyle/>
                    <a:p>
                      <a:r>
                        <a:rPr sz="1400" b="0"/>
                        <a:t>No model usage</a:t>
                      </a:r>
                    </a:p>
                  </a:txBody>
                  <a:tcPr/>
                </a:tc>
                <a:tc>
                  <a:txBody>
                    <a:bodyPr/>
                    <a:lstStyle/>
                    <a:p>
                      <a:r>
                        <a:rPr sz="1400" b="0"/>
                        <a:t>A recipe run needs compute, not a model</a:t>
                      </a:r>
                    </a:p>
                  </a:txBody>
                  <a:tcPr/>
                </a:tc>
              </a:tr>
            </a:tbl>
          </a:graphicData>
        </a:graphic>
      </p:graphicFrame>
    </p:spTree>
    <p:extLst>
      <p:ext uri="{BB962C8B-B14F-4D97-AF65-F5344CB8AC3E}">
        <p14:creationId xmlns:p14="http://schemas.microsoft.com/office/powerpoint/2010/main" val="255906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What {{Customer}} keeps running.</a:t>
            </a:r>
            <a:endParaRPr sz="3200" dirty="0"/>
          </a:p>
        </p:txBody>
      </p:sp>
      <p:graphicFrame>
        <p:nvGraphicFramePr>
          <p:cNvPr id="8" name="Results table"/>
          <p:cNvGraphicFramePr>
            <a:graphicFrameLocks noGrp="1"/>
          </p:cNvGraphicFramePr>
          <p:nvPr/>
        </p:nvGraphicFramePr>
        <p:xfrm>
          <a:off x="1069848" y="2377440"/>
          <a:ext cx="10058400" cy="2286000"/>
        </p:xfrm>
        <a:graphic>
          <a:graphicData uri="http://schemas.openxmlformats.org/drawingml/2006/table">
            <a:tbl>
              <a:tblPr firstRow="1" bandRow="1">
                <a:tableStyleId>{5C22544A-7EE6-4342-B048-85BDC9FD1C3A}</a:tableStyleId>
              </a:tblPr>
              <a:tblGrid>
                <a:gridCol w="6035040"/>
                <a:gridCol w="2011680"/>
                <a:gridCol w="2011680"/>
              </a:tblGrid>
              <a:tr h="457200">
                <a:tc>
                  <a:txBody>
                    <a:bodyPr/>
                    <a:lstStyle/>
                    <a:p>
                      <a:r>
                        <a:rPr sz="1400" b="1"/>
                        <a:t>Prompt</a:t>
                      </a:r>
                    </a:p>
                  </a:txBody>
                  <a:tcPr/>
                </a:tc>
                <a:tc>
                  <a:txBody>
                    <a:bodyPr/>
                    <a:lstStyle/>
                    <a:p>
                      <a:r>
                        <a:rPr sz="1400" b="1"/>
                        <a:t>Owner</a:t>
                      </a:r>
                    </a:p>
                  </a:txBody>
                  <a:tcPr/>
                </a:tc>
                <a:tc>
                  <a:txBody>
                    <a:bodyPr/>
                    <a:lstStyle/>
                    <a:p>
                      <a:r>
                        <a:rPr sz="1400" b="1"/>
                        <a:t>Machine</a:t>
                      </a:r>
                    </a:p>
                  </a:txBody>
                  <a:tcPr/>
                </a:tc>
              </a:tr>
              <a:tr h="457200">
                <a:tc>
                  <a:txBody>
                    <a:bodyPr/>
                    <a:lstStyle/>
                    <a:p>
                      <a:r>
                        <a:rPr sz="1400" b="0"/>
                        <a:t>Be on guard for code quality issues perpetually, fixing them as you find them</a:t>
                      </a:r>
                    </a:p>
                  </a:txBody>
                  <a:tcPr/>
                </a:tc>
                <a:tc>
                  <a:txBody>
                    <a:bodyPr/>
                    <a:lstStyle/>
                    <a:p>
                      <a:r>
                        <a:rPr sz="1400" b="0"/>
                        <a:t>{{owner}}</a:t>
                      </a:r>
                    </a:p>
                  </a:txBody>
                  <a:tcPr/>
                </a:tc>
                <a:tc>
                  <a:txBody>
                    <a:bodyPr/>
                    <a:lstStyle/>
                    <a:p>
                      <a:r>
                        <a:rPr sz="1400" b="0"/>
                        <a:t>{{machine}}</a:t>
                      </a:r>
                    </a:p>
                  </a:txBody>
                  <a:tcPr/>
                </a:tc>
              </a:tr>
              <a:tr h="457200">
                <a:tc>
                  <a:txBody>
                    <a:bodyPr/>
                    <a:lstStyle/>
                    <a:p>
                      <a:r>
                        <a:rPr sz="1400" b="0"/>
                        <a:t>Keep every repository on the latest Spring Boot release</a:t>
                      </a:r>
                    </a:p>
                  </a:txBody>
                  <a:tcPr/>
                </a:tc>
                <a:tc>
                  <a:txBody>
                    <a:bodyPr/>
                    <a:lstStyle/>
                    <a:p>
                      <a:r>
                        <a:rPr sz="1400" b="0"/>
                        <a:t>{{owner}}</a:t>
                      </a:r>
                    </a:p>
                  </a:txBody>
                  <a:tcPr/>
                </a:tc>
                <a:tc>
                  <a:txBody>
                    <a:bodyPr/>
                    <a:lstStyle/>
                    <a:p>
                      <a:r>
                        <a:rPr sz="1400" b="0"/>
                        <a:t>{{machine}}</a:t>
                      </a:r>
                    </a:p>
                  </a:txBody>
                  <a:tcPr/>
                </a:tc>
              </a:tr>
              <a:tr h="457200">
                <a:tc>
                  <a:txBody>
                    <a:bodyPr/>
                    <a:lstStyle/>
                    <a:p>
                      <a:r>
                        <a:rPr sz="1400" b="0"/>
                        <a:t>Watch for newly disclosed vulnerabilities and fix them everywhere</a:t>
                      </a:r>
                    </a:p>
                  </a:txBody>
                  <a:tcPr/>
                </a:tc>
                <a:tc>
                  <a:txBody>
                    <a:bodyPr/>
                    <a:lstStyle/>
                    <a:p>
                      <a:r>
                        <a:rPr sz="1400" b="0"/>
                        <a:t>{{owner}}</a:t>
                      </a:r>
                    </a:p>
                  </a:txBody>
                  <a:tcPr/>
                </a:tc>
                <a:tc>
                  <a:txBody>
                    <a:bodyPr/>
                    <a:lstStyle/>
                    <a:p>
                      <a:r>
                        <a:rPr sz="1400" b="0"/>
                        <a:t>{{machine}}</a:t>
                      </a:r>
                    </a:p>
                  </a:txBody>
                  <a:tcPr/>
                </a:tc>
              </a:tr>
              <a:tr h="457200">
                <a:tc>
                  <a:txBody>
                    <a:bodyPr/>
                    <a:lstStyle/>
                    <a:p>
                      <a:r>
                        <a:rPr sz="1400" b="0"/>
                        <a:t>{{An objective in the customer's own words}}</a:t>
                      </a:r>
                    </a:p>
                  </a:txBody>
                  <a:tcPr/>
                </a:tc>
                <a:tc>
                  <a:txBody>
                    <a:bodyPr/>
                    <a:lstStyle/>
                    <a:p>
                      <a:r>
                        <a:rPr sz="1400" b="0"/>
                        <a:t>{{owner}}</a:t>
                      </a:r>
                    </a:p>
                  </a:txBody>
                  <a:tcPr/>
                </a:tc>
                <a:tc>
                  <a:txBody>
                    <a:bodyPr/>
                    <a:lstStyle/>
                    <a:p>
                      <a:r>
                        <a:rPr sz="1400" b="0"/>
                        <a:t>{{machine}}</a:t>
                      </a:r>
                    </a:p>
                  </a:txBody>
                  <a:tcPr/>
                </a:tc>
              </a:tr>
            </a:tbl>
          </a:graphicData>
        </a:graphic>
      </p:graphicFrame>
    </p:spTree>
    <p:extLst>
      <p:ext uri="{BB962C8B-B14F-4D97-AF65-F5344CB8AC3E}">
        <p14:creationId xmlns:p14="http://schemas.microsoft.com/office/powerpoint/2010/main" val="2559062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B899C5-2B6A-C7BC-CA03-EB59B7C349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7" name="Google Shape;141;g3cab610c926_0_105">
            <a:extLst>
              <a:ext uri="{FF2B5EF4-FFF2-40B4-BE49-F238E27FC236}">
                <a16:creationId xmlns:a16="http://schemas.microsoft.com/office/drawing/2014/main" id="{2948A9B0-0CC4-2A7E-7134-313DE33E1C2A}"/>
              </a:ext>
            </a:extLst>
          </p:cNvPr>
          <p:cNvSpPr txBox="1">
            <a:spLocks noGrp="1"/>
          </p:cNvSpPr>
          <p:nvPr>
            <p:ph type="body" idx="1"/>
          </p:nvPr>
        </p:nvSpPr>
        <p:spPr>
          <a:xfrm>
            <a:off x="557838" y="437403"/>
            <a:ext cx="10107313" cy="1904145"/>
          </a:xfrm>
          <a:prstGeom prst="rect">
            <a:avLst/>
          </a:prstGeom>
          <a:noFill/>
          <a:ln>
            <a:noFill/>
          </a:ln>
        </p:spPr>
        <p:txBody>
          <a:bodyPr spcFirstLastPara="1" wrap="square" lIns="0" tIns="0" rIns="0" bIns="0" anchor="ctr" anchorCtr="0">
            <a:noAutofit/>
          </a:bodyPr>
          <a:lstStyle/>
          <a:p>
            <a:pPr marL="457200" lvl="0" indent="-228600" algn="l" rtl="0">
              <a:lnSpc>
                <a:spcPct val="100000"/>
              </a:lnSpc>
              <a:spcBef>
                <a:spcPts val="1000"/>
              </a:spcBef>
              <a:spcAft>
                <a:spcPts val="0"/>
              </a:spcAft>
              <a:buClr>
                <a:schemeClr val="dk1"/>
              </a:buClr>
              <a:buSzPts val="3000"/>
              <a:buNone/>
            </a:pPr>
            <a:r>
              <a:rPr lang="en-US" sz="3200" dirty="0"/>
              <a:t>Used by the companies running the world's largest codebases.</a:t>
            </a:r>
            <a:endParaRPr sz="3200" dirty="0"/>
          </a:p>
        </p:txBody>
      </p:sp>
      <p:pic>
        <p:nvPicPr>
          <p:cNvPr id="8" name="Picture 7" descr="01-allstate.png"/>
          <p:cNvPicPr>
            <a:picLocks noChangeAspect="1"/>
          </p:cNvPicPr>
          <p:nvPr/>
        </p:nvPicPr>
        <p:blipFill>
          <a:blip r:embed="rId3"/>
          <a:stretch>
            <a:fillRect/>
          </a:stretch>
        </p:blipFill>
        <p:spPr>
          <a:xfrm>
            <a:off x="1298448" y="2578780"/>
            <a:ext cx="1554480" cy="347126"/>
          </a:xfrm>
          <a:prstGeom prst="rect">
            <a:avLst/>
          </a:prstGeom>
        </p:spPr>
      </p:pic>
      <p:pic>
        <p:nvPicPr>
          <p:cNvPr id="9" name="Picture 8" descr="02-american-express.png"/>
          <p:cNvPicPr>
            <a:picLocks noChangeAspect="1"/>
          </p:cNvPicPr>
          <p:nvPr/>
        </p:nvPicPr>
        <p:blipFill>
          <a:blip r:embed="rId4"/>
          <a:stretch>
            <a:fillRect/>
          </a:stretch>
        </p:blipFill>
        <p:spPr>
          <a:xfrm>
            <a:off x="3310128" y="2540413"/>
            <a:ext cx="1554480" cy="423860"/>
          </a:xfrm>
          <a:prstGeom prst="rect">
            <a:avLst/>
          </a:prstGeom>
        </p:spPr>
      </p:pic>
      <p:pic>
        <p:nvPicPr>
          <p:cNvPr id="10" name="Picture 9" descr="03-bank-of-america.png"/>
          <p:cNvPicPr>
            <a:picLocks noChangeAspect="1"/>
          </p:cNvPicPr>
          <p:nvPr/>
        </p:nvPicPr>
        <p:blipFill>
          <a:blip r:embed="rId5"/>
          <a:stretch>
            <a:fillRect/>
          </a:stretch>
        </p:blipFill>
        <p:spPr>
          <a:xfrm>
            <a:off x="5321808" y="2674619"/>
            <a:ext cx="1554480" cy="155448"/>
          </a:xfrm>
          <a:prstGeom prst="rect">
            <a:avLst/>
          </a:prstGeom>
        </p:spPr>
      </p:pic>
      <p:pic>
        <p:nvPicPr>
          <p:cNvPr id="11" name="Picture 10" descr="04-billtrust.png"/>
          <p:cNvPicPr>
            <a:picLocks noChangeAspect="1"/>
          </p:cNvPicPr>
          <p:nvPr/>
        </p:nvPicPr>
        <p:blipFill>
          <a:blip r:embed="rId6"/>
          <a:stretch>
            <a:fillRect/>
          </a:stretch>
        </p:blipFill>
        <p:spPr>
          <a:xfrm>
            <a:off x="7333488" y="2596895"/>
            <a:ext cx="1554480" cy="310896"/>
          </a:xfrm>
          <a:prstGeom prst="rect">
            <a:avLst/>
          </a:prstGeom>
        </p:spPr>
      </p:pic>
      <p:pic>
        <p:nvPicPr>
          <p:cNvPr id="12" name="Picture 11" descr="05-bny.png"/>
          <p:cNvPicPr>
            <a:picLocks noChangeAspect="1"/>
          </p:cNvPicPr>
          <p:nvPr/>
        </p:nvPicPr>
        <p:blipFill>
          <a:blip r:embed="rId7"/>
          <a:stretch>
            <a:fillRect/>
          </a:stretch>
        </p:blipFill>
        <p:spPr>
          <a:xfrm>
            <a:off x="9345168" y="2583537"/>
            <a:ext cx="1554480" cy="337613"/>
          </a:xfrm>
          <a:prstGeom prst="rect">
            <a:avLst/>
          </a:prstGeom>
        </p:spPr>
      </p:pic>
      <p:pic>
        <p:nvPicPr>
          <p:cNvPr id="13" name="Picture 12" descr="06-boats-group.png"/>
          <p:cNvPicPr>
            <a:picLocks noChangeAspect="1"/>
          </p:cNvPicPr>
          <p:nvPr/>
        </p:nvPicPr>
        <p:blipFill>
          <a:blip r:embed="rId8"/>
          <a:stretch>
            <a:fillRect/>
          </a:stretch>
        </p:blipFill>
        <p:spPr>
          <a:xfrm>
            <a:off x="1298448" y="3353447"/>
            <a:ext cx="1554480" cy="297408"/>
          </a:xfrm>
          <a:prstGeom prst="rect">
            <a:avLst/>
          </a:prstGeom>
        </p:spPr>
      </p:pic>
      <p:pic>
        <p:nvPicPr>
          <p:cNvPr id="14" name="Picture 13" descr="07-cambridge.png"/>
          <p:cNvPicPr>
            <a:picLocks noChangeAspect="1"/>
          </p:cNvPicPr>
          <p:nvPr/>
        </p:nvPicPr>
        <p:blipFill>
          <a:blip r:embed="rId9"/>
          <a:stretch>
            <a:fillRect/>
          </a:stretch>
        </p:blipFill>
        <p:spPr>
          <a:xfrm>
            <a:off x="3310128" y="3360208"/>
            <a:ext cx="1554480" cy="283887"/>
          </a:xfrm>
          <a:prstGeom prst="rect">
            <a:avLst/>
          </a:prstGeom>
        </p:spPr>
      </p:pic>
      <p:pic>
        <p:nvPicPr>
          <p:cNvPr id="15" name="Picture 14" descr="08-capital-one.png"/>
          <p:cNvPicPr>
            <a:picLocks noChangeAspect="1"/>
          </p:cNvPicPr>
          <p:nvPr/>
        </p:nvPicPr>
        <p:blipFill>
          <a:blip r:embed="rId10"/>
          <a:stretch>
            <a:fillRect/>
          </a:stretch>
        </p:blipFill>
        <p:spPr>
          <a:xfrm>
            <a:off x="5461836" y="3273552"/>
            <a:ext cx="1274424" cy="457199"/>
          </a:xfrm>
          <a:prstGeom prst="rect">
            <a:avLst/>
          </a:prstGeom>
        </p:spPr>
      </p:pic>
      <p:pic>
        <p:nvPicPr>
          <p:cNvPr id="16" name="Picture 15" descr="09-choice-hotels.png"/>
          <p:cNvPicPr>
            <a:picLocks noChangeAspect="1"/>
          </p:cNvPicPr>
          <p:nvPr/>
        </p:nvPicPr>
        <p:blipFill>
          <a:blip r:embed="rId11"/>
          <a:stretch>
            <a:fillRect/>
          </a:stretch>
        </p:blipFill>
        <p:spPr>
          <a:xfrm>
            <a:off x="7333488" y="3306082"/>
            <a:ext cx="1554480" cy="392139"/>
          </a:xfrm>
          <a:prstGeom prst="rect">
            <a:avLst/>
          </a:prstGeom>
        </p:spPr>
      </p:pic>
      <p:pic>
        <p:nvPicPr>
          <p:cNvPr id="17" name="Picture 16" descr="10-colruyt.png"/>
          <p:cNvPicPr>
            <a:picLocks noChangeAspect="1"/>
          </p:cNvPicPr>
          <p:nvPr/>
        </p:nvPicPr>
        <p:blipFill>
          <a:blip r:embed="rId12"/>
          <a:stretch>
            <a:fillRect/>
          </a:stretch>
        </p:blipFill>
        <p:spPr>
          <a:xfrm>
            <a:off x="9345168" y="3406129"/>
            <a:ext cx="1554480" cy="192045"/>
          </a:xfrm>
          <a:prstGeom prst="rect">
            <a:avLst/>
          </a:prstGeom>
        </p:spPr>
      </p:pic>
      <p:pic>
        <p:nvPicPr>
          <p:cNvPr id="18" name="Picture 17" descr="11-corpay.png"/>
          <p:cNvPicPr>
            <a:picLocks noChangeAspect="1"/>
          </p:cNvPicPr>
          <p:nvPr/>
        </p:nvPicPr>
        <p:blipFill>
          <a:blip r:embed="rId13"/>
          <a:stretch>
            <a:fillRect/>
          </a:stretch>
        </p:blipFill>
        <p:spPr>
          <a:xfrm>
            <a:off x="1298448" y="4065540"/>
            <a:ext cx="1554480" cy="372838"/>
          </a:xfrm>
          <a:prstGeom prst="rect">
            <a:avLst/>
          </a:prstGeom>
        </p:spPr>
      </p:pic>
      <p:pic>
        <p:nvPicPr>
          <p:cNvPr id="19" name="Picture 18" descr="12-desjardins.png"/>
          <p:cNvPicPr>
            <a:picLocks noChangeAspect="1"/>
          </p:cNvPicPr>
          <p:nvPr/>
        </p:nvPicPr>
        <p:blipFill>
          <a:blip r:embed="rId14"/>
          <a:stretch>
            <a:fillRect/>
          </a:stretch>
        </p:blipFill>
        <p:spPr>
          <a:xfrm>
            <a:off x="3310128" y="4083742"/>
            <a:ext cx="1554480" cy="336435"/>
          </a:xfrm>
          <a:prstGeom prst="rect">
            <a:avLst/>
          </a:prstGeom>
        </p:spPr>
      </p:pic>
      <p:pic>
        <p:nvPicPr>
          <p:cNvPr id="20" name="Picture 19" descr="13-federated-insurance.png"/>
          <p:cNvPicPr>
            <a:picLocks noChangeAspect="1"/>
          </p:cNvPicPr>
          <p:nvPr/>
        </p:nvPicPr>
        <p:blipFill>
          <a:blip r:embed="rId15"/>
          <a:stretch>
            <a:fillRect/>
          </a:stretch>
        </p:blipFill>
        <p:spPr>
          <a:xfrm>
            <a:off x="5321808" y="4064467"/>
            <a:ext cx="1554480" cy="374984"/>
          </a:xfrm>
          <a:prstGeom prst="rect">
            <a:avLst/>
          </a:prstGeom>
        </p:spPr>
      </p:pic>
      <p:pic>
        <p:nvPicPr>
          <p:cNvPr id="21" name="Picture 20" descr="14-glencore.png"/>
          <p:cNvPicPr>
            <a:picLocks noChangeAspect="1"/>
          </p:cNvPicPr>
          <p:nvPr/>
        </p:nvPicPr>
        <p:blipFill>
          <a:blip r:embed="rId16"/>
          <a:stretch>
            <a:fillRect/>
          </a:stretch>
        </p:blipFill>
        <p:spPr>
          <a:xfrm>
            <a:off x="7333488" y="4114368"/>
            <a:ext cx="1554480" cy="275183"/>
          </a:xfrm>
          <a:prstGeom prst="rect">
            <a:avLst/>
          </a:prstGeom>
        </p:spPr>
      </p:pic>
      <p:pic>
        <p:nvPicPr>
          <p:cNvPr id="22" name="Picture 21" descr="15-grubhub.png"/>
          <p:cNvPicPr>
            <a:picLocks noChangeAspect="1"/>
          </p:cNvPicPr>
          <p:nvPr/>
        </p:nvPicPr>
        <p:blipFill>
          <a:blip r:embed="rId17"/>
          <a:stretch>
            <a:fillRect/>
          </a:stretch>
        </p:blipFill>
        <p:spPr>
          <a:xfrm>
            <a:off x="9345168" y="4089609"/>
            <a:ext cx="1554480" cy="324700"/>
          </a:xfrm>
          <a:prstGeom prst="rect">
            <a:avLst/>
          </a:prstGeom>
        </p:spPr>
      </p:pic>
      <p:pic>
        <p:nvPicPr>
          <p:cNvPr id="23" name="Picture 22" descr="16-happen-bank.png"/>
          <p:cNvPicPr>
            <a:picLocks noChangeAspect="1"/>
          </p:cNvPicPr>
          <p:nvPr/>
        </p:nvPicPr>
        <p:blipFill>
          <a:blip r:embed="rId18"/>
          <a:stretch>
            <a:fillRect/>
          </a:stretch>
        </p:blipFill>
        <p:spPr>
          <a:xfrm>
            <a:off x="1298448" y="4788674"/>
            <a:ext cx="1554480" cy="426186"/>
          </a:xfrm>
          <a:prstGeom prst="rect">
            <a:avLst/>
          </a:prstGeom>
        </p:spPr>
      </p:pic>
      <p:pic>
        <p:nvPicPr>
          <p:cNvPr id="24" name="Picture 23" descr="17-lombard-odier.png"/>
          <p:cNvPicPr>
            <a:picLocks noChangeAspect="1"/>
          </p:cNvPicPr>
          <p:nvPr/>
        </p:nvPicPr>
        <p:blipFill>
          <a:blip r:embed="rId19"/>
          <a:stretch>
            <a:fillRect/>
          </a:stretch>
        </p:blipFill>
        <p:spPr>
          <a:xfrm>
            <a:off x="3310128" y="4856193"/>
            <a:ext cx="1554480" cy="291148"/>
          </a:xfrm>
          <a:prstGeom prst="rect">
            <a:avLst/>
          </a:prstGeom>
        </p:spPr>
      </p:pic>
      <p:pic>
        <p:nvPicPr>
          <p:cNvPr id="25" name="Picture 24" descr="18-medhost.png"/>
          <p:cNvPicPr>
            <a:picLocks noChangeAspect="1"/>
          </p:cNvPicPr>
          <p:nvPr/>
        </p:nvPicPr>
        <p:blipFill>
          <a:blip r:embed="rId20"/>
          <a:stretch>
            <a:fillRect/>
          </a:stretch>
        </p:blipFill>
        <p:spPr>
          <a:xfrm>
            <a:off x="5321808" y="4902641"/>
            <a:ext cx="1554480" cy="198252"/>
          </a:xfrm>
          <a:prstGeom prst="rect">
            <a:avLst/>
          </a:prstGeom>
        </p:spPr>
      </p:pic>
      <p:pic>
        <p:nvPicPr>
          <p:cNvPr id="26" name="Picture 25" descr="19-morgan-stanley.png"/>
          <p:cNvPicPr>
            <a:picLocks noChangeAspect="1"/>
          </p:cNvPicPr>
          <p:nvPr/>
        </p:nvPicPr>
        <p:blipFill>
          <a:blip r:embed="rId21"/>
          <a:stretch>
            <a:fillRect/>
          </a:stretch>
        </p:blipFill>
        <p:spPr>
          <a:xfrm>
            <a:off x="7333488" y="4885528"/>
            <a:ext cx="1554480" cy="232478"/>
          </a:xfrm>
          <a:prstGeom prst="rect">
            <a:avLst/>
          </a:prstGeom>
        </p:spPr>
      </p:pic>
      <p:pic>
        <p:nvPicPr>
          <p:cNvPr id="27" name="Picture 26" descr="20-onetrust.png"/>
          <p:cNvPicPr>
            <a:picLocks noChangeAspect="1"/>
          </p:cNvPicPr>
          <p:nvPr/>
        </p:nvPicPr>
        <p:blipFill>
          <a:blip r:embed="rId22"/>
          <a:stretch>
            <a:fillRect/>
          </a:stretch>
        </p:blipFill>
        <p:spPr>
          <a:xfrm>
            <a:off x="9345168" y="4874831"/>
            <a:ext cx="1554480" cy="253872"/>
          </a:xfrm>
          <a:prstGeom prst="rect">
            <a:avLst/>
          </a:prstGeom>
        </p:spPr>
      </p:pic>
      <p:pic>
        <p:nvPicPr>
          <p:cNvPr id="28" name="Picture 27" descr="21-sap.png"/>
          <p:cNvPicPr>
            <a:picLocks noChangeAspect="1"/>
          </p:cNvPicPr>
          <p:nvPr/>
        </p:nvPicPr>
        <p:blipFill>
          <a:blip r:embed="rId23"/>
          <a:stretch>
            <a:fillRect/>
          </a:stretch>
        </p:blipFill>
        <p:spPr>
          <a:xfrm>
            <a:off x="1613870" y="5522975"/>
            <a:ext cx="923635" cy="457199"/>
          </a:xfrm>
          <a:prstGeom prst="rect">
            <a:avLst/>
          </a:prstGeom>
        </p:spPr>
      </p:pic>
      <p:pic>
        <p:nvPicPr>
          <p:cNvPr id="29" name="Picture 28" descr="22-soundhound.png"/>
          <p:cNvPicPr>
            <a:picLocks noChangeAspect="1"/>
          </p:cNvPicPr>
          <p:nvPr/>
        </p:nvPicPr>
        <p:blipFill>
          <a:blip r:embed="rId24"/>
          <a:stretch>
            <a:fillRect/>
          </a:stretch>
        </p:blipFill>
        <p:spPr>
          <a:xfrm>
            <a:off x="3310128" y="5667175"/>
            <a:ext cx="1554480" cy="168799"/>
          </a:xfrm>
          <a:prstGeom prst="rect">
            <a:avLst/>
          </a:prstGeom>
        </p:spPr>
      </p:pic>
      <p:pic>
        <p:nvPicPr>
          <p:cNvPr id="30" name="Picture 29" descr="23-squarespace.png"/>
          <p:cNvPicPr>
            <a:picLocks noChangeAspect="1"/>
          </p:cNvPicPr>
          <p:nvPr/>
        </p:nvPicPr>
        <p:blipFill>
          <a:blip r:embed="rId25"/>
          <a:stretch>
            <a:fillRect/>
          </a:stretch>
        </p:blipFill>
        <p:spPr>
          <a:xfrm>
            <a:off x="5321808" y="5639123"/>
            <a:ext cx="1554479" cy="224903"/>
          </a:xfrm>
          <a:prstGeom prst="rect">
            <a:avLst/>
          </a:prstGeom>
        </p:spPr>
      </p:pic>
      <p:pic>
        <p:nvPicPr>
          <p:cNvPr id="31" name="Picture 30" descr="24-sunbit.png"/>
          <p:cNvPicPr>
            <a:picLocks noChangeAspect="1"/>
          </p:cNvPicPr>
          <p:nvPr/>
        </p:nvPicPr>
        <p:blipFill>
          <a:blip r:embed="rId26"/>
          <a:stretch>
            <a:fillRect/>
          </a:stretch>
        </p:blipFill>
        <p:spPr>
          <a:xfrm>
            <a:off x="7333488" y="5530841"/>
            <a:ext cx="1554480" cy="441468"/>
          </a:xfrm>
          <a:prstGeom prst="rect">
            <a:avLst/>
          </a:prstGeom>
        </p:spPr>
      </p:pic>
      <p:pic>
        <p:nvPicPr>
          <p:cNvPr id="32" name="Picture 31" descr="25-tiaa.png"/>
          <p:cNvPicPr>
            <a:picLocks noChangeAspect="1"/>
          </p:cNvPicPr>
          <p:nvPr/>
        </p:nvPicPr>
        <p:blipFill>
          <a:blip r:embed="rId27"/>
          <a:stretch>
            <a:fillRect/>
          </a:stretch>
        </p:blipFill>
        <p:spPr>
          <a:xfrm>
            <a:off x="9345168" y="5544311"/>
            <a:ext cx="1554480" cy="414528"/>
          </a:xfrm>
          <a:prstGeom prst="rect">
            <a:avLst/>
          </a:prstGeom>
        </p:spPr>
      </p:pic>
    </p:spTree>
    <p:extLst>
      <p:ext uri="{BB962C8B-B14F-4D97-AF65-F5344CB8AC3E}">
        <p14:creationId xmlns:p14="http://schemas.microsoft.com/office/powerpoint/2010/main" val="2559062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3"/>
          <p:cNvSpPr txBox="1">
            <a:spLocks noGrp="1"/>
          </p:cNvSpPr>
          <p:nvPr>
            <p:ph type="sldNum" idx="12"/>
          </p:nvPr>
        </p:nvSpPr>
        <p:spPr>
          <a:xfrm>
            <a:off x="11073652" y="6459668"/>
            <a:ext cx="7305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32</a:t>
            </a:fld>
            <a:endParaRPr/>
          </a:p>
        </p:txBody>
      </p:sp>
      <p:sp>
        <p:nvSpPr>
          <p:cNvPr id="454" name="Google Shape;454;p3"/>
          <p:cNvSpPr txBox="1">
            <a:spLocks noGrp="1"/>
          </p:cNvSpPr>
          <p:nvPr>
            <p:ph type="body" idx="1"/>
          </p:nvPr>
        </p:nvSpPr>
        <p:spPr>
          <a:xfrm>
            <a:off x="3088353" y="2964424"/>
            <a:ext cx="5943000" cy="19161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1000"/>
              </a:spcBef>
              <a:spcAft>
                <a:spcPts val="0"/>
              </a:spcAft>
              <a:buClr>
                <a:schemeClr val="lt1"/>
              </a:buClr>
              <a:buSzPts val="1400"/>
              <a:buNone/>
            </a:pPr>
            <a:r>
              <a:rPr lang="en-US"/>
              <a:t>THANK YOU!</a:t>
            </a:r>
            <a:endParaRPr/>
          </a:p>
        </p:txBody>
      </p:sp>
    </p:spTree>
  </p:cSld>
  <p:clrMapOvr>
    <a:masterClrMapping/>
  </p:clrMapOvr>
</p:sld>
</file>

<file path=ppt/theme/theme1.xml><?xml version="1.0" encoding="utf-8"?>
<a:theme xmlns:a="http://schemas.openxmlformats.org/drawingml/2006/main" name="1_Office Theme">
  <a:themeElements>
    <a:clrScheme name="Moderne Brand 2025">
      <a:dk1>
        <a:srgbClr val="041834"/>
      </a:dk1>
      <a:lt1>
        <a:srgbClr val="FFFFFF"/>
      </a:lt1>
      <a:dk2>
        <a:srgbClr val="041834"/>
      </a:dk2>
      <a:lt2>
        <a:srgbClr val="FFFFFF"/>
      </a:lt2>
      <a:accent1>
        <a:srgbClr val="041834"/>
      </a:accent1>
      <a:accent2>
        <a:srgbClr val="85FE99"/>
      </a:accent2>
      <a:accent3>
        <a:srgbClr val="283AF7"/>
      </a:accent3>
      <a:accent4>
        <a:srgbClr val="F8F8FF"/>
      </a:accent4>
      <a:accent5>
        <a:srgbClr val="E7B136"/>
      </a:accent5>
      <a:accent6>
        <a:srgbClr val="D3D3E3"/>
      </a:accent6>
      <a:hlink>
        <a:srgbClr val="2E42FF"/>
      </a:hlink>
      <a:folHlink>
        <a:srgbClr val="D3D3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8356</TotalTime>
  <Words>980</Words>
  <Application>Microsoft Macintosh PowerPoint</Application>
  <PresentationFormat>Widescreen</PresentationFormat>
  <Paragraphs>124</Paragraphs>
  <Slides>32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Poppins SemiBold</vt:lpstr>
      <vt:lpstr>Poppins</vt:lpstr>
      <vt:lpstr>Calibri</vt:lpstr>
      <vt:lpstr>Arial</vt:lpstr>
      <vt:lpstr>GeistMono NF</vt:lpstr>
      <vt:lpstr>Poppins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Jeff Hunt</dc:creator>
  <cp:lastModifiedBy>jonathan@moderne.io</cp:lastModifiedBy>
  <cp:revision>85</cp:revision>
  <dcterms:created xsi:type="dcterms:W3CDTF">2023-05-24T18:52:14Z</dcterms:created>
  <dcterms:modified xsi:type="dcterms:W3CDTF">2026-10-06T10:29:42Z</dcterms:modified>
</cp:coreProperties>
</file>
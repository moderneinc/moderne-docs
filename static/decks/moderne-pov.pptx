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4"/>
  </p:notesMasterIdLst>
  <p:sldIdLst>
    <p:sldId id="256" r:id="rId2"/>
    <p:sldId id="331" r:id="rId60"/>
    <p:sldId id="291" r:id="rId4"/>
    <p:sldId id="316" r:id="rId11"/>
    <p:sldId id="326" r:id="rId16"/>
    <p:sldId id="332" r:id="rId61"/>
    <p:sldId id="333" r:id="rId62"/>
    <p:sldId id="334" r:id="rId63"/>
    <p:sldId id="335" r:id="rId64"/>
    <p:sldId id="336" r:id="rId65"/>
    <p:sldId id="337" r:id="rId66"/>
    <p:sldId id="329" r:id="rId25"/>
    <p:sldId id="338" r:id="rId67"/>
    <p:sldId id="290" r:id="rId33"/>
  </p:sldIdLst>
  <p:sldSz cx="12192000" cy="6858000"/>
  <p:notesSz cx="6858000" cy="9144000"/>
  <p:embeddedFontLst>
    <p:embeddedFont>
      <p:font typeface="GeistMono NF" panose="02000009000000000000" pitchFamily="49" charset="77"/>
      <p:regular r:id="rId35"/>
      <p:bold r:id="rId36"/>
    </p:embeddedFont>
    <p:embeddedFont>
      <p:font typeface="Poppins" pitchFamily="2" charset="77"/>
      <p:regular r:id="rId37"/>
      <p:bold r:id="rId38"/>
      <p:italic r:id="rId39"/>
      <p:boldItalic r:id="rId40"/>
    </p:embeddedFont>
    <p:embeddedFont>
      <p:font typeface="Poppins Light" pitchFamily="2" charset="77"/>
      <p:regular r:id="rId41"/>
      <p:italic r:id="rId42"/>
    </p:embeddedFont>
    <p:embeddedFont>
      <p:font typeface="Poppins SemiBold" pitchFamily="2" charset="77"/>
      <p:regular r:id="rId43"/>
      <p:bold r:id="rId44"/>
      <p:italic r:id="rId45"/>
      <p:boldItalic r:id="rId4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5" roundtripDataSignature="AMtx7miHaWeIs9kDtpsUKo9q8YlmhkOgH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277"/>
    <p:restoredTop sz="94803"/>
  </p:normalViewPr>
  <p:slideViewPr>
    <p:cSldViewPr snapToGrid="0">
      <p:cViewPr varScale="1">
        <p:scale>
          <a:sx n="149" d="100"/>
          <a:sy n="149" d="100"/>
        </p:scale>
        <p:origin x="200" y="2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4" Type="http://schemas.openxmlformats.org/officeDocument/2006/relationships/slide" Target="slides/slide3.xml"/><Relationship Id="rId11" Type="http://schemas.openxmlformats.org/officeDocument/2006/relationships/slide" Target="slides/slide4.xml"/><Relationship Id="rId16" Type="http://schemas.openxmlformats.org/officeDocument/2006/relationships/slide" Target="slides/slide5.xml"/><Relationship Id="rId25" Type="http://schemas.openxmlformats.org/officeDocument/2006/relationships/slide" Target="slides/slide12.xml"/><Relationship Id="rId33" Type="http://schemas.openxmlformats.org/officeDocument/2006/relationships/slide" Target="slides/slide14.xml"/><Relationship Id="rId34" Type="http://schemas.openxmlformats.org/officeDocument/2006/relationships/notesMaster" Target="notesMasters/notesMaster1.xml"/><Relationship Id="rId35" Type="http://schemas.openxmlformats.org/officeDocument/2006/relationships/font" Target="fonts/font1.fntdata"/><Relationship Id="rId36" Type="http://schemas.openxmlformats.org/officeDocument/2006/relationships/font" Target="fonts/font2.fntdata"/><Relationship Id="rId37" Type="http://schemas.openxmlformats.org/officeDocument/2006/relationships/font" Target="fonts/font3.fntdata"/><Relationship Id="rId38" Type="http://schemas.openxmlformats.org/officeDocument/2006/relationships/font" Target="fonts/font4.fntdata"/><Relationship Id="rId39" Type="http://schemas.openxmlformats.org/officeDocument/2006/relationships/font" Target="fonts/font5.fntdata"/><Relationship Id="rId40" Type="http://schemas.openxmlformats.org/officeDocument/2006/relationships/font" Target="fonts/font6.fntdata"/><Relationship Id="rId41" Type="http://schemas.openxmlformats.org/officeDocument/2006/relationships/font" Target="fonts/font7.fntdata"/><Relationship Id="rId42" Type="http://schemas.openxmlformats.org/officeDocument/2006/relationships/font" Target="fonts/font8.fntdata"/><Relationship Id="rId43" Type="http://schemas.openxmlformats.org/officeDocument/2006/relationships/font" Target="fonts/font9.fntdata"/><Relationship Id="rId44" Type="http://schemas.openxmlformats.org/officeDocument/2006/relationships/font" Target="fonts/font10.fntdata"/><Relationship Id="rId45" Type="http://schemas.openxmlformats.org/officeDocument/2006/relationships/font" Target="fonts/font11.fntdata"/><Relationship Id="rId46" Type="http://schemas.openxmlformats.org/officeDocument/2006/relationships/font" Target="fonts/font12.fntdata"/><Relationship Id="rId55" Type="http://customschemas.google.com/relationships/presentationmetadata" Target="metadata"/><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 Id="rId60" Type="http://schemas.openxmlformats.org/officeDocument/2006/relationships/slide" Target="slides/slide2.xml"/><Relationship Id="rId61" Type="http://schemas.openxmlformats.org/officeDocument/2006/relationships/slide" Target="slides/slide6.xml"/><Relationship Id="rId62" Type="http://schemas.openxmlformats.org/officeDocument/2006/relationships/slide" Target="slides/slide7.xml"/><Relationship Id="rId63" Type="http://schemas.openxmlformats.org/officeDocument/2006/relationships/slide" Target="slides/slide8.xml"/><Relationship Id="rId64" Type="http://schemas.openxmlformats.org/officeDocument/2006/relationships/slide" Target="slides/slide9.xml"/><Relationship Id="rId65" Type="http://schemas.openxmlformats.org/officeDocument/2006/relationships/slide" Target="slides/slide10.xml"/><Relationship Id="rId66" Type="http://schemas.openxmlformats.org/officeDocument/2006/relationships/slide" Target="slides/slide11.xml"/><Relationship Id="rId67"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HOW TO FILL IN THIS DECK (read this before anything else)</a:t>
            </a:r>
          </a:p>
          <a:p/>
          <a:p>
            <a:r>
              <a:t>This deck reports a Moderne proof of value to the customer's leadership. Every slide has one headline sentence and one visual. The notes on each slide say what the number is, how to measure it with mod, and what visual to attach.</a:t>
            </a:r>
          </a:p>
          <a:p/>
          <a:p>
            <a:r>
              <a:t>- Replace every {{placeholder}} with what you measured. Keep each headline one sentence.</a:t>
            </a:r>
          </a:p>
          <a:p>
            <a:r>
              <a:t>- A shape named "Screenshot placeholder" marks where a picture goes. Replace it with a screenshot at the same position and size, cropped to the content: the session's own transcript, Moderne's web UI or a terminal.</a:t>
            </a:r>
          </a:p>
          <a:p>
            <a:r>
              <a:t>- A table keeps its header row. Replace the placeholder rows; delete rows you do not need.</a:t>
            </a:r>
          </a:p>
          <a:p>
            <a:r>
              <a:t>- Leave a slide out rather than guess. Delete the slide when you cannot measure what it needs.</a:t>
            </a:r>
          </a:p>
          <a:p>
            <a:r>
              <a:t>- Every number must trace to a changeset id, a data table or a session. Write that trace into the slide's notes under "Source:" as you fill it in.</a:t>
            </a:r>
          </a:p>
          <a:p>
            <a:r>
              <a:t>- Keep the look: do not add slides, change fonts or move the headline.</a:t>
            </a:r>
          </a:p>
          <a:p/>
          <a:p>
            <a:r>
              <a:t>Title slide: replace {{Customer}} with the customer's name and {{Month Year}} with the month the proof of value ran.</a:t>
            </a:r>
          </a:p>
          <a:p/>
          <a:p>
            <a:r>
              <a:t>Source:</a:t>
            </a:r>
          </a:p>
        </p:txBody>
      </p:sp>
      <p:sp>
        <p:nvSpPr>
          <p:cNvPr id="127" name="Google Shape;127;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the main transformation of the proof of value as one recipe run over the whole organization.</a:t>
            </a:r>
          </a:p>
          <a:p/>
          <a:p>
            <a:r>
              <a:t>How to measure it:</a:t>
            </a:r>
          </a:p>
          <a:p>
            <a:r>
              <a:t>- Run the recipe the objective calls for over the organization, never over a part of it you picked out: `mod run moderne://&lt;organization&gt; --recipe &lt;recipe id&gt;`. The run is a changeset; keep its id.</a:t>
            </a:r>
          </a:p>
          <a:p>
            <a:r>
              <a:t>- Files and repositories changed come from `mod study moderne://changeset/&lt;id&gt; --repositories` and the SourcesFileResults data table. The duration is the run's own.</a:t>
            </a:r>
          </a:p>
          <a:p>
            <a:r>
              <a:t>- Name the recipe in the notes. The screenshot is the changeset in Moderne or the terminal summary of the run.</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the size of the organization the proof of value ran on, by language.</a:t>
            </a:r>
          </a:p>
          <a:p/>
          <a:p>
            <a:r>
              <a:t>How to measure it:</a:t>
            </a:r>
          </a:p>
          <a:p>
            <a:r>
              <a:t>- The repository count is the organization's, from `mod config moderne organizations show --json`.</a:t>
            </a:r>
          </a:p>
          <a:p>
            <a:r>
              <a:t>- Run the language composition recipe over the organization: `mod run moderne://&lt;organization&gt; --recipe org.openrewrite.LanguageComposition`. It changes nothing.</a:t>
            </a:r>
          </a:p>
          <a:p>
            <a:r>
              <a:t>- Read its data table with `mod study moderne://changeset/&lt;id&gt; --data-table LanguageCompositionPerRepository --sql "..."`, summing lines of code by language, and fill the table one row per language that holds more than a few percent of the estate. Fold the rest into one row.</a:t>
            </a:r>
          </a:p>
          <a:p>
            <a:r>
              <a:t>- {{P}}% and {{language}} in the headline are the largest language's share.</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the proof of value's argument, with the customer's own repository count in it. The figure stays as it is.</a:t>
            </a:r>
          </a:p>
          <a:p/>
          <a:p>
            <a:r>
              <a:t>Replace {{N}} with the repository count from the estate slide and {{100/N}} with the share one repository is of it, rounded to one decimal.</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nothing to measure. The diagram stays as it is.</a:t>
            </a:r>
          </a:p>
          <a:p/>
          <a:p>
            <a:r>
              <a:t>Say in one sentence, when presenting, that a recipe is a deterministic program over the Lossless Semantic Tree of every repository, so the same change lands the same way everywhere.</a:t>
            </a:r>
          </a:p>
          <a:p/>
          <a:p>
            <a:r>
              <a:t>Source: none needed.</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the command this session was started with and a screenshot of the agent's first turn.</a:t>
            </a:r>
          </a:p>
          <a:p/>
          <a:p>
            <a:r>
              <a:t>- Put the agent you are (claude, codex, copilot, ...) and the organization's name in the command on the left. Keep the prompt shortened to its first words.</a:t>
            </a:r>
          </a:p>
          <a:p>
            <a:r>
              <a:t>- The screenshot on the right is the start of this session: the prompt, followed by the first mod commands the agent ran, such as `mod search moderne://...` or `mod config recipes search`.</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one type-aware search over the whole organization and what it found.</a:t>
            </a:r>
          </a:p>
          <a:p/>
          <a:p>
            <a:r>
              <a:t>How to measure it:</a:t>
            </a:r>
          </a:p>
          <a:p>
            <a:r>
              <a:t>- Pick the question that the proof of value's objective turns on, such as which Spring Boot line each repository runs, where a vulnerable dependency range is resolved, or every caller of an API: `mod search moderne://&lt;organization&gt; "dependency:org.springframework.boot:spring-boot" --output=summary`.</a:t>
            </a:r>
          </a:p>
          <a:p>
            <a:r>
              <a:t>- Write the question in plain words in the headline, the match and repository counts from the summary, and the time the search took.</a:t>
            </a:r>
          </a:p>
          <a:p>
            <a:r>
              <a:t>- The screenshot is the search and its summary, from your terminal or from the code search page in Moderne.</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9"/>
        <p:cNvGrpSpPr/>
        <p:nvPr/>
      </p:nvGrpSpPr>
      <p:grpSpPr>
        <a:xfrm>
          <a:off x="0" y="0"/>
          <a:ext cx="0" cy="0"/>
          <a:chOff x="0" y="0"/>
          <a:chExt cx="0" cy="0"/>
        </a:xfrm>
      </p:grpSpPr>
      <p:sp>
        <p:nvSpPr>
          <p:cNvPr id="450" name="Google Shape;450;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Nothing to fill in.</a:t>
            </a:r>
          </a:p>
        </p:txBody>
      </p:sp>
      <p:sp>
        <p:nvSpPr>
          <p:cNvPr id="451" name="Google Shape;451;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what happened when the changed repositories were built and tested, and what the agent did about failures.</a:t>
            </a:r>
          </a:p>
          <a:p/>
          <a:p>
            <a:r>
              <a:t>How to measure it:</a:t>
            </a:r>
          </a:p>
          <a:p>
            <a:r>
              <a:t>- Sync the changeset's repositories (`mod git sync moderne . --changeset &lt;id&gt; --with-sources`) and run each repository's own compile and test commands, from `mod exec . MODERNE_BUILD_TOOL_COMPILE --dry-run --json` and MODERNE_BUILD_TOOL_CHECK.</a:t>
            </a:r>
          </a:p>
          <a:p>
            <a:r>
              <a:t>- Compare against a build of each repository's base commit, so that a failure that was already there is not counted against the change.</a:t>
            </a:r>
          </a:p>
          <a:p>
            <a:r>
              <a:t>- {{r}} counts repositories whose failure traced to the recipe. Say what the fix was in the notes, and that the fixed recipe was run again over the whole organization.</a:t>
            </a:r>
          </a:p>
          <a:p>
            <a:r>
              <a:t>- The screenshot is the per-repository table from your own report: repository, before, after.</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the recipes this session wrote or fixed, which are the proof of value's lasting byproduct.</a:t>
            </a:r>
          </a:p>
          <a:p/>
          <a:p>
            <a:r>
              <a:t>How to measure it:</a:t>
            </a:r>
          </a:p>
          <a:p>
            <a:r>
              <a:t>- List every recipe you wrote under .moderne/recipes/ or fixed in an existing recipe repository, in Java or TypeScript, with one sentence on what it does.</a:t>
            </a:r>
          </a:p>
          <a:p>
            <a:r>
              <a:t>- "Repositories it reached" is how many repositories the recipe changed when run over the whole organization.</a:t>
            </a:r>
          </a:p>
          <a:p>
            <a:r>
              <a:t>- Count a hand edit you did not generalize as a hand edit, not as a recipe, and say how many of those there were in the notes.</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the organization's exposure to known vulnerable dependencies and how much one recipe run fixed.</a:t>
            </a:r>
          </a:p>
          <a:p/>
          <a:p>
            <a:r>
              <a:t>How to measure it:</a:t>
            </a:r>
          </a:p>
          <a:p>
            <a:r>
              <a:t>- `mod run moderne://&lt;organization&gt; --recipe org.openrewrite.java.dependencies.DependencyVulnerabilityCheck -Pscope=runtime -PoverrideTransitive=true -PmaximumUpgradeDelta=patch`.</a:t>
            </a:r>
          </a:p>
          <a:p>
            <a:r>
              <a:t>- Counts come from the VulnerabilityReport data table: `mod study moderne://changeset/&lt;id&gt; --data-table VulnerabilityReport --sql "..."`. {{t}}% is the share with a depth greater than zero. {{f}} is the number the run upgraded, from SourcesFileResults.</a:t>
            </a:r>
          </a:p>
          <a:p>
            <a:r>
              <a:t>- The screenshot is the data table, sorted by severity.</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what the proof of value cost and what the recipes report saving.</a:t>
            </a:r>
          </a:p>
          <a:p/>
          <a:p>
            <a:r>
              <a:t>How to measure it:</a:t>
            </a:r>
          </a:p>
          <a:p>
            <a:r>
              <a:t>- Agent usage is what your harness reports for this session (tokens and cost). Say which model you ran with in the notes.</a:t>
            </a:r>
          </a:p>
          <a:p>
            <a:r>
              <a:t>- Wall-clock time runs from the session's start to the filled deck. A person's time is what they spent steering and reviewing, which you ask them for.</a:t>
            </a:r>
          </a:p>
          <a:p>
            <a:r>
              <a:t>- Every `mod run` prints a line "saved by using recipes"; add them up across the runs this proof of value made.</a:t>
            </a:r>
          </a:p>
          <a:p>
            <a:r>
              <a:t>- Leave a row out when you cannot measure it.</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the objective the customer named, in their words, in place of {{objective}}. For a proof of value that upgraded Spring Boot, that is "Keep every repository on the latest Spring Boot".</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the standing objectives the customer keeps running after the proof of value, each with an owner and the machine it runs on.</a:t>
            </a:r>
          </a:p>
          <a:p/>
          <a:p>
            <a:r>
              <a:t>Take them from the proof of value guide's scenarios and from what the customer asked for during the proof of value. Replace the third line with their own objective, or delete it.</a:t>
            </a:r>
          </a:p>
          <a:p/>
          <a:p>
            <a:r>
              <a:t>Source:</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 Slide">
    <p:bg>
      <p:bgPr>
        <a:solidFill>
          <a:schemeClr val="lt1"/>
        </a:solidFill>
        <a:effectLst/>
      </p:bgPr>
    </p:bg>
    <p:spTree>
      <p:nvGrpSpPr>
        <p:cNvPr id="1" name="Shape 15"/>
        <p:cNvGrpSpPr/>
        <p:nvPr/>
      </p:nvGrpSpPr>
      <p:grpSpPr>
        <a:xfrm>
          <a:off x="0" y="0"/>
          <a:ext cx="0" cy="0"/>
          <a:chOff x="0" y="0"/>
          <a:chExt cx="0" cy="0"/>
        </a:xfrm>
      </p:grpSpPr>
      <p:sp>
        <p:nvSpPr>
          <p:cNvPr id="16" name="Google Shape;16;p53"/>
          <p:cNvSpPr/>
          <p:nvPr/>
        </p:nvSpPr>
        <p:spPr>
          <a:xfrm>
            <a:off x="0" y="0"/>
            <a:ext cx="12192000" cy="6858000"/>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17" name="Google Shape;17;p53"/>
          <p:cNvSpPr txBox="1">
            <a:spLocks noGrp="1"/>
          </p:cNvSpPr>
          <p:nvPr>
            <p:ph type="body" idx="1"/>
          </p:nvPr>
        </p:nvSpPr>
        <p:spPr>
          <a:xfrm>
            <a:off x="523876" y="3075921"/>
            <a:ext cx="4388700" cy="7062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1000"/>
              </a:spcBef>
              <a:spcAft>
                <a:spcPts val="0"/>
              </a:spcAft>
              <a:buClr>
                <a:schemeClr val="lt1"/>
              </a:buClr>
              <a:buSzPts val="3000"/>
              <a:buNone/>
              <a:defRPr sz="3000">
                <a:solidFill>
                  <a:schemeClr val="lt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8" name="Google Shape;18;p53"/>
          <p:cNvSpPr txBox="1">
            <a:spLocks noGrp="1"/>
          </p:cNvSpPr>
          <p:nvPr>
            <p:ph type="body" idx="2"/>
          </p:nvPr>
        </p:nvSpPr>
        <p:spPr>
          <a:xfrm>
            <a:off x="523876" y="2552555"/>
            <a:ext cx="4388700" cy="180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1000"/>
              </a:spcBef>
              <a:spcAft>
                <a:spcPts val="0"/>
              </a:spcAft>
              <a:buClr>
                <a:schemeClr val="lt1"/>
              </a:buClr>
              <a:buSzPts val="1200"/>
              <a:buNone/>
              <a:defRPr sz="1200">
                <a:solidFill>
                  <a:schemeClr val="lt1"/>
                </a:solidFill>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9" name="Google Shape;19;p53"/>
          <p:cNvSpPr txBox="1">
            <a:spLocks noGrp="1"/>
          </p:cNvSpPr>
          <p:nvPr>
            <p:ph type="body" idx="3"/>
          </p:nvPr>
        </p:nvSpPr>
        <p:spPr>
          <a:xfrm>
            <a:off x="523876" y="6360476"/>
            <a:ext cx="4388700" cy="180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1000"/>
              </a:spcBef>
              <a:spcAft>
                <a:spcPts val="0"/>
              </a:spcAft>
              <a:buClr>
                <a:schemeClr val="lt1"/>
              </a:buClr>
              <a:buSzPts val="1200"/>
              <a:buNone/>
              <a:defRPr sz="1200">
                <a:solidFill>
                  <a:schemeClr val="lt1"/>
                </a:solidFill>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pic>
        <p:nvPicPr>
          <p:cNvPr id="20" name="Google Shape;20;p53" descr="A white letter on a black background&#10;&#10;Description automatically generated"/>
          <p:cNvPicPr preferRelativeResize="0"/>
          <p:nvPr/>
        </p:nvPicPr>
        <p:blipFill rotWithShape="1">
          <a:blip r:embed="rId2">
            <a:alphaModFix/>
          </a:blip>
          <a:srcRect/>
          <a:stretch/>
        </p:blipFill>
        <p:spPr>
          <a:xfrm>
            <a:off x="523876" y="497536"/>
            <a:ext cx="2893101" cy="510547"/>
          </a:xfrm>
          <a:prstGeom prst="rect">
            <a:avLst/>
          </a:prstGeom>
          <a:noFill/>
          <a:ln>
            <a:noFill/>
          </a:ln>
        </p:spPr>
      </p:pic>
      <p:pic>
        <p:nvPicPr>
          <p:cNvPr id="21" name="Google Shape;21;p53"/>
          <p:cNvPicPr preferRelativeResize="0"/>
          <p:nvPr/>
        </p:nvPicPr>
        <p:blipFill rotWithShape="1">
          <a:blip r:embed="rId3">
            <a:alphaModFix/>
          </a:blip>
          <a:srcRect l="1237" t="6952" r="1" b="12572"/>
          <a:stretch/>
        </p:blipFill>
        <p:spPr>
          <a:xfrm>
            <a:off x="5087007" y="-1"/>
            <a:ext cx="6711203" cy="6858001"/>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3_Title Only">
  <p:cSld name="13_Title Only">
    <p:bg>
      <p:bgPr>
        <a:solidFill>
          <a:schemeClr val="lt1"/>
        </a:solidFill>
        <a:effectLst/>
      </p:bgPr>
    </p:bg>
    <p:spTree>
      <p:nvGrpSpPr>
        <p:cNvPr id="1" name="Shape 22"/>
        <p:cNvGrpSpPr/>
        <p:nvPr/>
      </p:nvGrpSpPr>
      <p:grpSpPr>
        <a:xfrm>
          <a:off x="0" y="0"/>
          <a:ext cx="0" cy="0"/>
          <a:chOff x="0" y="0"/>
          <a:chExt cx="0" cy="0"/>
        </a:xfrm>
      </p:grpSpPr>
      <p:sp>
        <p:nvSpPr>
          <p:cNvPr id="23" name="Google Shape;23;p55"/>
          <p:cNvSpPr/>
          <p:nvPr/>
        </p:nvSpPr>
        <p:spPr>
          <a:xfrm>
            <a:off x="0" y="6421271"/>
            <a:ext cx="12192000" cy="4368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Poppins"/>
              <a:ea typeface="Poppins"/>
              <a:cs typeface="Poppins"/>
              <a:sym typeface="Poppins"/>
            </a:endParaRPr>
          </a:p>
        </p:txBody>
      </p:sp>
      <p:sp>
        <p:nvSpPr>
          <p:cNvPr id="24" name="Google Shape;24;p55"/>
          <p:cNvSpPr txBox="1">
            <a:spLocks noGrp="1"/>
          </p:cNvSpPr>
          <p:nvPr>
            <p:ph type="sldNum" idx="12"/>
          </p:nvPr>
        </p:nvSpPr>
        <p:spPr>
          <a:xfrm>
            <a:off x="11073652" y="6459668"/>
            <a:ext cx="7305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25" name="Google Shape;25;p55"/>
          <p:cNvCxnSpPr/>
          <p:nvPr/>
        </p:nvCxnSpPr>
        <p:spPr>
          <a:xfrm rot="10800000">
            <a:off x="-72300" y="6421271"/>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sp>
        <p:nvSpPr>
          <p:cNvPr id="26" name="Google Shape;26;p55"/>
          <p:cNvSpPr txBox="1"/>
          <p:nvPr/>
        </p:nvSpPr>
        <p:spPr>
          <a:xfrm>
            <a:off x="5141259" y="6526835"/>
            <a:ext cx="1909500" cy="2307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a:ea typeface="Poppins"/>
                <a:cs typeface="Poppins"/>
                <a:sym typeface="Poppins"/>
              </a:rPr>
              <a:t>©2026 Moderne, Inc.</a:t>
            </a:r>
            <a:endParaRPr sz="900" b="0" i="0" u="none" strike="noStrike" cap="none">
              <a:solidFill>
                <a:srgbClr val="EFEEFE"/>
              </a:solidFill>
              <a:latin typeface="Poppins"/>
              <a:ea typeface="Poppins"/>
              <a:cs typeface="Poppins"/>
              <a:sym typeface="Poppins"/>
            </a:endParaRPr>
          </a:p>
        </p:txBody>
      </p:sp>
      <p:pic>
        <p:nvPicPr>
          <p:cNvPr id="27" name="Google Shape;27;p55" descr="Shape&#10;&#10;Description automatically generated with medium confidence"/>
          <p:cNvPicPr preferRelativeResize="0"/>
          <p:nvPr/>
        </p:nvPicPr>
        <p:blipFill rotWithShape="1">
          <a:blip r:embed="rId2">
            <a:alphaModFix/>
          </a:blip>
          <a:srcRect r="81307" b="-14127"/>
          <a:stretch/>
        </p:blipFill>
        <p:spPr>
          <a:xfrm>
            <a:off x="11592089" y="272005"/>
            <a:ext cx="431021" cy="393513"/>
          </a:xfrm>
          <a:prstGeom prst="rect">
            <a:avLst/>
          </a:prstGeom>
          <a:noFill/>
          <a:ln>
            <a:noFill/>
          </a:ln>
        </p:spPr>
      </p:pic>
      <p:sp>
        <p:nvSpPr>
          <p:cNvPr id="28" name="Google Shape;28;p55"/>
          <p:cNvSpPr txBox="1">
            <a:spLocks noGrp="1"/>
          </p:cNvSpPr>
          <p:nvPr>
            <p:ph type="body" idx="1"/>
          </p:nvPr>
        </p:nvSpPr>
        <p:spPr>
          <a:xfrm>
            <a:off x="523876" y="457384"/>
            <a:ext cx="7495800" cy="706200"/>
          </a:xfrm>
          <a:prstGeom prst="rect">
            <a:avLst/>
          </a:prstGeom>
          <a:noFill/>
          <a:ln>
            <a:noFill/>
          </a:ln>
        </p:spPr>
        <p:txBody>
          <a:bodyPr spcFirstLastPara="1" wrap="square" lIns="0" tIns="0" rIns="0" bIns="0" anchor="ctr" anchorCtr="0">
            <a:normAutofit/>
          </a:bodyPr>
          <a:lstStyle>
            <a:lvl1pPr marL="457200" lvl="0" indent="-228600" algn="l">
              <a:lnSpc>
                <a:spcPct val="100000"/>
              </a:lnSpc>
              <a:spcBef>
                <a:spcPts val="1000"/>
              </a:spcBef>
              <a:spcAft>
                <a:spcPts val="0"/>
              </a:spcAft>
              <a:buClr>
                <a:schemeClr val="dk1"/>
              </a:buClr>
              <a:buSzPts val="3000"/>
              <a:buNone/>
              <a:defRPr sz="3000">
                <a:solidFill>
                  <a:schemeClr val="dk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pic>
        <p:nvPicPr>
          <p:cNvPr id="29" name="Google Shape;29;p55" descr="A white letter on a black background&#10;&#10;AI-generated content may be incorrect."/>
          <p:cNvPicPr preferRelativeResize="0"/>
          <p:nvPr/>
        </p:nvPicPr>
        <p:blipFill rotWithShape="1">
          <a:blip r:embed="rId3">
            <a:alphaModFix/>
          </a:blip>
          <a:srcRect/>
          <a:stretch/>
        </p:blipFill>
        <p:spPr>
          <a:xfrm>
            <a:off x="387849" y="6522297"/>
            <a:ext cx="1300872" cy="229566"/>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3_Title Slide">
  <p:cSld name="3_Title Slide">
    <p:bg>
      <p:bgPr>
        <a:solidFill>
          <a:schemeClr val="lt1"/>
        </a:solidFill>
        <a:effectLst/>
      </p:bgPr>
    </p:bg>
    <p:spTree>
      <p:nvGrpSpPr>
        <p:cNvPr id="1" name="Shape 38"/>
        <p:cNvGrpSpPr/>
        <p:nvPr/>
      </p:nvGrpSpPr>
      <p:grpSpPr>
        <a:xfrm>
          <a:off x="0" y="0"/>
          <a:ext cx="0" cy="0"/>
          <a:chOff x="0" y="0"/>
          <a:chExt cx="0" cy="0"/>
        </a:xfrm>
      </p:grpSpPr>
      <p:pic>
        <p:nvPicPr>
          <p:cNvPr id="39" name="Google Shape;39;p37" descr="Background pattern&#10;&#10;Description automatically generated with medium confidence"/>
          <p:cNvPicPr preferRelativeResize="0"/>
          <p:nvPr/>
        </p:nvPicPr>
        <p:blipFill rotWithShape="1">
          <a:blip r:embed="rId2">
            <a:alphaModFix/>
          </a:blip>
          <a:srcRect/>
          <a:stretch/>
        </p:blipFill>
        <p:spPr>
          <a:xfrm>
            <a:off x="0" y="0"/>
            <a:ext cx="12192000" cy="6858001"/>
          </a:xfrm>
          <a:prstGeom prst="rect">
            <a:avLst/>
          </a:prstGeom>
          <a:noFill/>
          <a:ln>
            <a:noFill/>
          </a:ln>
        </p:spPr>
      </p:pic>
      <p:sp>
        <p:nvSpPr>
          <p:cNvPr id="40" name="Google Shape;40;p37"/>
          <p:cNvSpPr txBox="1">
            <a:spLocks noGrp="1"/>
          </p:cNvSpPr>
          <p:nvPr>
            <p:ph type="sldNum" idx="12"/>
          </p:nvPr>
        </p:nvSpPr>
        <p:spPr>
          <a:xfrm>
            <a:off x="11073652" y="6459668"/>
            <a:ext cx="7305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41" name="Google Shape;41;p37"/>
          <p:cNvCxnSpPr/>
          <p:nvPr/>
        </p:nvCxnSpPr>
        <p:spPr>
          <a:xfrm rot="10800000">
            <a:off x="-72300" y="6421271"/>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sp>
        <p:nvSpPr>
          <p:cNvPr id="42" name="Google Shape;42;p37"/>
          <p:cNvSpPr txBox="1"/>
          <p:nvPr/>
        </p:nvSpPr>
        <p:spPr>
          <a:xfrm>
            <a:off x="5141259" y="6526835"/>
            <a:ext cx="1909500" cy="2307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Light"/>
                <a:ea typeface="Poppins Light"/>
                <a:cs typeface="Poppins Light"/>
                <a:sym typeface="Poppins Light"/>
              </a:rPr>
              <a:t>©2026 Moderne, Inc.</a:t>
            </a:r>
            <a:endParaRPr sz="900" b="0" i="0" u="none" strike="noStrike" cap="none">
              <a:solidFill>
                <a:srgbClr val="EFEEFE"/>
              </a:solidFill>
              <a:latin typeface="Arial"/>
              <a:ea typeface="Arial"/>
              <a:cs typeface="Arial"/>
              <a:sym typeface="Arial"/>
            </a:endParaRPr>
          </a:p>
        </p:txBody>
      </p:sp>
      <p:pic>
        <p:nvPicPr>
          <p:cNvPr id="43" name="Google Shape;43;p37" descr="A picture containing text, clipart&#10;&#10;Description automatically generated"/>
          <p:cNvPicPr preferRelativeResize="0"/>
          <p:nvPr/>
        </p:nvPicPr>
        <p:blipFill rotWithShape="1">
          <a:blip r:embed="rId3">
            <a:alphaModFix/>
          </a:blip>
          <a:srcRect l="3701" r="78215" b="-2615"/>
          <a:stretch/>
        </p:blipFill>
        <p:spPr>
          <a:xfrm>
            <a:off x="5806880" y="2197592"/>
            <a:ext cx="505797" cy="471650"/>
          </a:xfrm>
          <a:prstGeom prst="rect">
            <a:avLst/>
          </a:prstGeom>
          <a:noFill/>
          <a:ln>
            <a:noFill/>
          </a:ln>
        </p:spPr>
      </p:pic>
      <p:sp>
        <p:nvSpPr>
          <p:cNvPr id="44" name="Google Shape;44;p37"/>
          <p:cNvSpPr txBox="1">
            <a:spLocks noGrp="1"/>
          </p:cNvSpPr>
          <p:nvPr>
            <p:ph type="body" idx="1"/>
          </p:nvPr>
        </p:nvSpPr>
        <p:spPr>
          <a:xfrm>
            <a:off x="3088353" y="2964424"/>
            <a:ext cx="5943000" cy="1916100"/>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Clr>
                <a:schemeClr val="lt1"/>
              </a:buClr>
              <a:buSzPts val="1400"/>
              <a:buNone/>
              <a:defRPr sz="1400">
                <a:solidFill>
                  <a:schemeClr val="lt1"/>
                </a:solidFill>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pic>
        <p:nvPicPr>
          <p:cNvPr id="45" name="Google Shape;45;p37" descr="A white letter on a black background&#10;&#10;AI-generated content may be incorrect."/>
          <p:cNvPicPr preferRelativeResize="0"/>
          <p:nvPr/>
        </p:nvPicPr>
        <p:blipFill rotWithShape="1">
          <a:blip r:embed="rId4">
            <a:alphaModFix/>
          </a:blip>
          <a:srcRect/>
          <a:stretch/>
        </p:blipFill>
        <p:spPr>
          <a:xfrm>
            <a:off x="387849" y="6522297"/>
            <a:ext cx="1300872" cy="229566"/>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1_TOC">
  <p:cSld name="1_TOC">
    <p:bg>
      <p:bgPr>
        <a:solidFill>
          <a:schemeClr val="dk1"/>
        </a:solidFill>
        <a:effectLst/>
      </p:bgPr>
    </p:bg>
    <p:spTree>
      <p:nvGrpSpPr>
        <p:cNvPr id="1" name="Shape 46"/>
        <p:cNvGrpSpPr/>
        <p:nvPr/>
      </p:nvGrpSpPr>
      <p:grpSpPr>
        <a:xfrm>
          <a:off x="0" y="0"/>
          <a:ext cx="0" cy="0"/>
          <a:chOff x="0" y="0"/>
          <a:chExt cx="0" cy="0"/>
        </a:xfrm>
      </p:grpSpPr>
      <p:sp>
        <p:nvSpPr>
          <p:cNvPr id="47" name="Google Shape;47;p54"/>
          <p:cNvSpPr txBox="1">
            <a:spLocks noGrp="1"/>
          </p:cNvSpPr>
          <p:nvPr>
            <p:ph type="sldNum" idx="12"/>
          </p:nvPr>
        </p:nvSpPr>
        <p:spPr>
          <a:xfrm>
            <a:off x="11073652" y="6459668"/>
            <a:ext cx="7305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48" name="Google Shape;48;p54"/>
          <p:cNvCxnSpPr/>
          <p:nvPr/>
        </p:nvCxnSpPr>
        <p:spPr>
          <a:xfrm rot="10800000">
            <a:off x="-72300" y="6421271"/>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sp>
        <p:nvSpPr>
          <p:cNvPr id="49" name="Google Shape;49;p54"/>
          <p:cNvSpPr txBox="1"/>
          <p:nvPr/>
        </p:nvSpPr>
        <p:spPr>
          <a:xfrm>
            <a:off x="5141259" y="6526835"/>
            <a:ext cx="1909500" cy="2307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Light"/>
                <a:ea typeface="Poppins Light"/>
                <a:cs typeface="Poppins Light"/>
                <a:sym typeface="Poppins Light"/>
              </a:rPr>
              <a:t>©2026 Moderne, Inc.</a:t>
            </a:r>
            <a:endParaRPr sz="900" b="0" i="0" u="none" strike="noStrike" cap="none">
              <a:solidFill>
                <a:srgbClr val="EFEEFE"/>
              </a:solidFill>
              <a:latin typeface="Arial"/>
              <a:ea typeface="Arial"/>
              <a:cs typeface="Arial"/>
              <a:sym typeface="Arial"/>
            </a:endParaRPr>
          </a:p>
        </p:txBody>
      </p:sp>
      <p:pic>
        <p:nvPicPr>
          <p:cNvPr id="50" name="Google Shape;50;p54" descr="A picture containing text, clipart&#10;&#10;Description automatically generated"/>
          <p:cNvPicPr preferRelativeResize="0"/>
          <p:nvPr/>
        </p:nvPicPr>
        <p:blipFill rotWithShape="1">
          <a:blip r:embed="rId2">
            <a:alphaModFix/>
          </a:blip>
          <a:srcRect r="78216" b="-14320"/>
          <a:stretch/>
        </p:blipFill>
        <p:spPr>
          <a:xfrm>
            <a:off x="11185262" y="388962"/>
            <a:ext cx="609342" cy="525438"/>
          </a:xfrm>
          <a:prstGeom prst="rect">
            <a:avLst/>
          </a:prstGeom>
          <a:noFill/>
          <a:ln>
            <a:noFill/>
          </a:ln>
        </p:spPr>
      </p:pic>
      <p:sp>
        <p:nvSpPr>
          <p:cNvPr id="51" name="Google Shape;51;p54"/>
          <p:cNvSpPr txBox="1">
            <a:spLocks noGrp="1"/>
          </p:cNvSpPr>
          <p:nvPr>
            <p:ph type="body" idx="1"/>
          </p:nvPr>
        </p:nvSpPr>
        <p:spPr>
          <a:xfrm>
            <a:off x="6339727" y="1180044"/>
            <a:ext cx="612300" cy="773400"/>
          </a:xfrm>
          <a:prstGeom prst="rect">
            <a:avLst/>
          </a:prstGeom>
          <a:noFill/>
          <a:ln>
            <a:noFill/>
          </a:ln>
        </p:spPr>
        <p:txBody>
          <a:bodyPr spcFirstLastPara="1" wrap="square" lIns="0" tIns="0" rIns="0" bIns="0" anchor="ctr" anchorCtr="0">
            <a:noAutofit/>
          </a:bodyPr>
          <a:lstStyle>
            <a:lvl1pPr marL="457200" lvl="0" indent="-228600" algn="l">
              <a:lnSpc>
                <a:spcPct val="125000"/>
              </a:lnSpc>
              <a:spcBef>
                <a:spcPts val="1000"/>
              </a:spcBef>
              <a:spcAft>
                <a:spcPts val="0"/>
              </a:spcAft>
              <a:buClr>
                <a:srgbClr val="2E42FF"/>
              </a:buClr>
              <a:buSzPts val="2400"/>
              <a:buNone/>
              <a:defRPr sz="2400">
                <a:solidFill>
                  <a:srgbClr val="2E42FF"/>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2" name="Google Shape;52;p54"/>
          <p:cNvSpPr txBox="1">
            <a:spLocks noGrp="1"/>
          </p:cNvSpPr>
          <p:nvPr>
            <p:ph type="body" idx="2"/>
          </p:nvPr>
        </p:nvSpPr>
        <p:spPr>
          <a:xfrm>
            <a:off x="6958291" y="1180044"/>
            <a:ext cx="3792600" cy="773400"/>
          </a:xfrm>
          <a:prstGeom prst="rect">
            <a:avLst/>
          </a:prstGeom>
          <a:noFill/>
          <a:ln>
            <a:noFill/>
          </a:ln>
        </p:spPr>
        <p:txBody>
          <a:bodyPr spcFirstLastPara="1" wrap="square" lIns="0" tIns="0" rIns="0" bIns="0" anchor="ctr" anchorCtr="0">
            <a:noAutofit/>
          </a:bodyPr>
          <a:lstStyle>
            <a:lvl1pPr marL="457200" lvl="0" indent="-228600" algn="l">
              <a:lnSpc>
                <a:spcPct val="150000"/>
              </a:lnSpc>
              <a:spcBef>
                <a:spcPts val="1000"/>
              </a:spcBef>
              <a:spcAft>
                <a:spcPts val="0"/>
              </a:spcAft>
              <a:buClr>
                <a:schemeClr val="lt1"/>
              </a:buClr>
              <a:buSzPts val="2000"/>
              <a:buNone/>
              <a:defRPr sz="2000">
                <a:solidFill>
                  <a:schemeClr val="lt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3" name="Google Shape;53;p54"/>
          <p:cNvSpPr txBox="1">
            <a:spLocks noGrp="1"/>
          </p:cNvSpPr>
          <p:nvPr>
            <p:ph type="body" idx="3"/>
          </p:nvPr>
        </p:nvSpPr>
        <p:spPr>
          <a:xfrm>
            <a:off x="6339727" y="2101167"/>
            <a:ext cx="612300" cy="773400"/>
          </a:xfrm>
          <a:prstGeom prst="rect">
            <a:avLst/>
          </a:prstGeom>
          <a:noFill/>
          <a:ln>
            <a:noFill/>
          </a:ln>
        </p:spPr>
        <p:txBody>
          <a:bodyPr spcFirstLastPara="1" wrap="square" lIns="0" tIns="0" rIns="0" bIns="0" anchor="ctr" anchorCtr="0">
            <a:noAutofit/>
          </a:bodyPr>
          <a:lstStyle>
            <a:lvl1pPr marL="457200" lvl="0" indent="-228600" algn="l">
              <a:lnSpc>
                <a:spcPct val="125000"/>
              </a:lnSpc>
              <a:spcBef>
                <a:spcPts val="1000"/>
              </a:spcBef>
              <a:spcAft>
                <a:spcPts val="0"/>
              </a:spcAft>
              <a:buClr>
                <a:srgbClr val="2E42FF"/>
              </a:buClr>
              <a:buSzPts val="2400"/>
              <a:buNone/>
              <a:defRPr sz="2400">
                <a:solidFill>
                  <a:srgbClr val="2E42FF"/>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4" name="Google Shape;54;p54"/>
          <p:cNvSpPr txBox="1">
            <a:spLocks noGrp="1"/>
          </p:cNvSpPr>
          <p:nvPr>
            <p:ph type="body" idx="4"/>
          </p:nvPr>
        </p:nvSpPr>
        <p:spPr>
          <a:xfrm>
            <a:off x="6958291" y="2101167"/>
            <a:ext cx="3792600" cy="773400"/>
          </a:xfrm>
          <a:prstGeom prst="rect">
            <a:avLst/>
          </a:prstGeom>
          <a:noFill/>
          <a:ln>
            <a:noFill/>
          </a:ln>
        </p:spPr>
        <p:txBody>
          <a:bodyPr spcFirstLastPara="1" wrap="square" lIns="0" tIns="0" rIns="0" bIns="0" anchor="ctr" anchorCtr="0">
            <a:noAutofit/>
          </a:bodyPr>
          <a:lstStyle>
            <a:lvl1pPr marL="457200" lvl="0" indent="-228600" algn="l">
              <a:lnSpc>
                <a:spcPct val="150000"/>
              </a:lnSpc>
              <a:spcBef>
                <a:spcPts val="1000"/>
              </a:spcBef>
              <a:spcAft>
                <a:spcPts val="0"/>
              </a:spcAft>
              <a:buClr>
                <a:schemeClr val="lt1"/>
              </a:buClr>
              <a:buSzPts val="2000"/>
              <a:buNone/>
              <a:defRPr sz="2000">
                <a:solidFill>
                  <a:schemeClr val="lt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5" name="Google Shape;55;p54"/>
          <p:cNvSpPr txBox="1">
            <a:spLocks noGrp="1"/>
          </p:cNvSpPr>
          <p:nvPr>
            <p:ph type="body" idx="5"/>
          </p:nvPr>
        </p:nvSpPr>
        <p:spPr>
          <a:xfrm>
            <a:off x="6333564" y="3032587"/>
            <a:ext cx="612300" cy="773400"/>
          </a:xfrm>
          <a:prstGeom prst="rect">
            <a:avLst/>
          </a:prstGeom>
          <a:noFill/>
          <a:ln>
            <a:noFill/>
          </a:ln>
        </p:spPr>
        <p:txBody>
          <a:bodyPr spcFirstLastPara="1" wrap="square" lIns="0" tIns="0" rIns="0" bIns="0" anchor="ctr" anchorCtr="0">
            <a:noAutofit/>
          </a:bodyPr>
          <a:lstStyle>
            <a:lvl1pPr marL="457200" lvl="0" indent="-228600" algn="l">
              <a:lnSpc>
                <a:spcPct val="125000"/>
              </a:lnSpc>
              <a:spcBef>
                <a:spcPts val="1000"/>
              </a:spcBef>
              <a:spcAft>
                <a:spcPts val="0"/>
              </a:spcAft>
              <a:buClr>
                <a:srgbClr val="2E42FF"/>
              </a:buClr>
              <a:buSzPts val="2400"/>
              <a:buNone/>
              <a:defRPr sz="2400">
                <a:solidFill>
                  <a:srgbClr val="2E42FF"/>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6" name="Google Shape;56;p54"/>
          <p:cNvSpPr txBox="1">
            <a:spLocks noGrp="1"/>
          </p:cNvSpPr>
          <p:nvPr>
            <p:ph type="body" idx="6"/>
          </p:nvPr>
        </p:nvSpPr>
        <p:spPr>
          <a:xfrm>
            <a:off x="6952128" y="3032587"/>
            <a:ext cx="3792600" cy="773400"/>
          </a:xfrm>
          <a:prstGeom prst="rect">
            <a:avLst/>
          </a:prstGeom>
          <a:noFill/>
          <a:ln>
            <a:noFill/>
          </a:ln>
        </p:spPr>
        <p:txBody>
          <a:bodyPr spcFirstLastPara="1" wrap="square" lIns="0" tIns="0" rIns="0" bIns="0" anchor="ctr" anchorCtr="0">
            <a:noAutofit/>
          </a:bodyPr>
          <a:lstStyle>
            <a:lvl1pPr marL="457200" lvl="0" indent="-228600" algn="l">
              <a:lnSpc>
                <a:spcPct val="150000"/>
              </a:lnSpc>
              <a:spcBef>
                <a:spcPts val="1000"/>
              </a:spcBef>
              <a:spcAft>
                <a:spcPts val="0"/>
              </a:spcAft>
              <a:buClr>
                <a:schemeClr val="lt1"/>
              </a:buClr>
              <a:buSzPts val="2000"/>
              <a:buNone/>
              <a:defRPr sz="2000">
                <a:solidFill>
                  <a:schemeClr val="lt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7" name="Google Shape;57;p54"/>
          <p:cNvSpPr txBox="1">
            <a:spLocks noGrp="1"/>
          </p:cNvSpPr>
          <p:nvPr>
            <p:ph type="body" idx="7"/>
          </p:nvPr>
        </p:nvSpPr>
        <p:spPr>
          <a:xfrm>
            <a:off x="6327401" y="3964007"/>
            <a:ext cx="612300" cy="773400"/>
          </a:xfrm>
          <a:prstGeom prst="rect">
            <a:avLst/>
          </a:prstGeom>
          <a:noFill/>
          <a:ln>
            <a:noFill/>
          </a:ln>
        </p:spPr>
        <p:txBody>
          <a:bodyPr spcFirstLastPara="1" wrap="square" lIns="0" tIns="0" rIns="0" bIns="0" anchor="ctr" anchorCtr="0">
            <a:noAutofit/>
          </a:bodyPr>
          <a:lstStyle>
            <a:lvl1pPr marL="457200" lvl="0" indent="-228600" algn="l">
              <a:lnSpc>
                <a:spcPct val="125000"/>
              </a:lnSpc>
              <a:spcBef>
                <a:spcPts val="1000"/>
              </a:spcBef>
              <a:spcAft>
                <a:spcPts val="0"/>
              </a:spcAft>
              <a:buClr>
                <a:srgbClr val="2E42FF"/>
              </a:buClr>
              <a:buSzPts val="2400"/>
              <a:buNone/>
              <a:defRPr sz="2400">
                <a:solidFill>
                  <a:srgbClr val="2E42FF"/>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8" name="Google Shape;58;p54"/>
          <p:cNvSpPr txBox="1">
            <a:spLocks noGrp="1"/>
          </p:cNvSpPr>
          <p:nvPr>
            <p:ph type="body" idx="8"/>
          </p:nvPr>
        </p:nvSpPr>
        <p:spPr>
          <a:xfrm>
            <a:off x="6945965" y="3964007"/>
            <a:ext cx="3792600" cy="773400"/>
          </a:xfrm>
          <a:prstGeom prst="rect">
            <a:avLst/>
          </a:prstGeom>
          <a:noFill/>
          <a:ln>
            <a:noFill/>
          </a:ln>
        </p:spPr>
        <p:txBody>
          <a:bodyPr spcFirstLastPara="1" wrap="square" lIns="0" tIns="0" rIns="0" bIns="0" anchor="ctr" anchorCtr="0">
            <a:noAutofit/>
          </a:bodyPr>
          <a:lstStyle>
            <a:lvl1pPr marL="457200" lvl="0" indent="-228600" algn="l">
              <a:lnSpc>
                <a:spcPct val="150000"/>
              </a:lnSpc>
              <a:spcBef>
                <a:spcPts val="1000"/>
              </a:spcBef>
              <a:spcAft>
                <a:spcPts val="0"/>
              </a:spcAft>
              <a:buClr>
                <a:schemeClr val="lt1"/>
              </a:buClr>
              <a:buSzPts val="2000"/>
              <a:buNone/>
              <a:defRPr sz="2000">
                <a:solidFill>
                  <a:schemeClr val="lt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9" name="Google Shape;59;p54"/>
          <p:cNvSpPr txBox="1">
            <a:spLocks noGrp="1"/>
          </p:cNvSpPr>
          <p:nvPr>
            <p:ph type="body" idx="9"/>
          </p:nvPr>
        </p:nvSpPr>
        <p:spPr>
          <a:xfrm>
            <a:off x="6321238" y="4895427"/>
            <a:ext cx="612300" cy="773400"/>
          </a:xfrm>
          <a:prstGeom prst="rect">
            <a:avLst/>
          </a:prstGeom>
          <a:noFill/>
          <a:ln>
            <a:noFill/>
          </a:ln>
        </p:spPr>
        <p:txBody>
          <a:bodyPr spcFirstLastPara="1" wrap="square" lIns="0" tIns="0" rIns="0" bIns="0" anchor="ctr" anchorCtr="0">
            <a:noAutofit/>
          </a:bodyPr>
          <a:lstStyle>
            <a:lvl1pPr marL="457200" lvl="0" indent="-228600" algn="l">
              <a:lnSpc>
                <a:spcPct val="125000"/>
              </a:lnSpc>
              <a:spcBef>
                <a:spcPts val="1000"/>
              </a:spcBef>
              <a:spcAft>
                <a:spcPts val="0"/>
              </a:spcAft>
              <a:buClr>
                <a:srgbClr val="2E42FF"/>
              </a:buClr>
              <a:buSzPts val="2400"/>
              <a:buNone/>
              <a:defRPr sz="2400">
                <a:solidFill>
                  <a:srgbClr val="2E42FF"/>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grpSp>
        <p:nvGrpSpPr>
          <p:cNvPr id="60" name="Google Shape;60;p54"/>
          <p:cNvGrpSpPr/>
          <p:nvPr/>
        </p:nvGrpSpPr>
        <p:grpSpPr>
          <a:xfrm>
            <a:off x="6036505" y="1180045"/>
            <a:ext cx="4720135" cy="4488783"/>
            <a:chOff x="6036720" y="1302458"/>
            <a:chExt cx="5148489" cy="4488783"/>
          </a:xfrm>
        </p:grpSpPr>
        <p:sp>
          <p:nvSpPr>
            <p:cNvPr id="61" name="Google Shape;61;p54"/>
            <p:cNvSpPr/>
            <p:nvPr/>
          </p:nvSpPr>
          <p:spPr>
            <a:xfrm>
              <a:off x="6055209" y="1302458"/>
              <a:ext cx="5130000" cy="773400"/>
            </a:xfrm>
            <a:prstGeom prst="roundRect">
              <a:avLst>
                <a:gd name="adj" fmla="val 50000"/>
              </a:avLst>
            </a:prstGeom>
            <a:noFill/>
            <a:ln w="12700" cap="flat" cmpd="sng">
              <a:solidFill>
                <a:srgbClr val="2E42F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62" name="Google Shape;62;p54"/>
            <p:cNvSpPr/>
            <p:nvPr/>
          </p:nvSpPr>
          <p:spPr>
            <a:xfrm>
              <a:off x="6055209" y="2223581"/>
              <a:ext cx="5130000" cy="773400"/>
            </a:xfrm>
            <a:prstGeom prst="roundRect">
              <a:avLst>
                <a:gd name="adj" fmla="val 50000"/>
              </a:avLst>
            </a:prstGeom>
            <a:noFill/>
            <a:ln w="12700" cap="flat" cmpd="sng">
              <a:solidFill>
                <a:srgbClr val="2E42F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63" name="Google Shape;63;p54"/>
            <p:cNvSpPr/>
            <p:nvPr/>
          </p:nvSpPr>
          <p:spPr>
            <a:xfrm>
              <a:off x="6049046" y="3155001"/>
              <a:ext cx="5130000" cy="773400"/>
            </a:xfrm>
            <a:prstGeom prst="roundRect">
              <a:avLst>
                <a:gd name="adj" fmla="val 50000"/>
              </a:avLst>
            </a:prstGeom>
            <a:noFill/>
            <a:ln w="12700" cap="flat" cmpd="sng">
              <a:solidFill>
                <a:srgbClr val="2E42F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64" name="Google Shape;64;p54"/>
            <p:cNvSpPr/>
            <p:nvPr/>
          </p:nvSpPr>
          <p:spPr>
            <a:xfrm>
              <a:off x="6042883" y="4086421"/>
              <a:ext cx="5130000" cy="773400"/>
            </a:xfrm>
            <a:prstGeom prst="roundRect">
              <a:avLst>
                <a:gd name="adj" fmla="val 50000"/>
              </a:avLst>
            </a:prstGeom>
            <a:noFill/>
            <a:ln w="12700" cap="flat" cmpd="sng">
              <a:solidFill>
                <a:srgbClr val="2E42F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65" name="Google Shape;65;p54"/>
            <p:cNvSpPr/>
            <p:nvPr/>
          </p:nvSpPr>
          <p:spPr>
            <a:xfrm>
              <a:off x="6036720" y="5017841"/>
              <a:ext cx="5130000" cy="773400"/>
            </a:xfrm>
            <a:prstGeom prst="roundRect">
              <a:avLst>
                <a:gd name="adj" fmla="val 50000"/>
              </a:avLst>
            </a:prstGeom>
            <a:noFill/>
            <a:ln w="12700" cap="flat" cmpd="sng">
              <a:solidFill>
                <a:srgbClr val="2E42F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66" name="Google Shape;66;p54"/>
          <p:cNvSpPr txBox="1">
            <a:spLocks noGrp="1"/>
          </p:cNvSpPr>
          <p:nvPr>
            <p:ph type="body" idx="13"/>
          </p:nvPr>
        </p:nvSpPr>
        <p:spPr>
          <a:xfrm>
            <a:off x="6939802" y="4895427"/>
            <a:ext cx="3792600" cy="773400"/>
          </a:xfrm>
          <a:prstGeom prst="rect">
            <a:avLst/>
          </a:prstGeom>
          <a:noFill/>
          <a:ln>
            <a:noFill/>
          </a:ln>
        </p:spPr>
        <p:txBody>
          <a:bodyPr spcFirstLastPara="1" wrap="square" lIns="0" tIns="0" rIns="0" bIns="0" anchor="ctr" anchorCtr="0">
            <a:noAutofit/>
          </a:bodyPr>
          <a:lstStyle>
            <a:lvl1pPr marL="457200" lvl="0" indent="-228600" algn="l">
              <a:lnSpc>
                <a:spcPct val="150000"/>
              </a:lnSpc>
              <a:spcBef>
                <a:spcPts val="1000"/>
              </a:spcBef>
              <a:spcAft>
                <a:spcPts val="0"/>
              </a:spcAft>
              <a:buClr>
                <a:schemeClr val="lt1"/>
              </a:buClr>
              <a:buSzPts val="2000"/>
              <a:buNone/>
              <a:defRPr sz="2000">
                <a:solidFill>
                  <a:schemeClr val="lt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7" name="Google Shape;67;p54"/>
          <p:cNvSpPr txBox="1"/>
          <p:nvPr/>
        </p:nvSpPr>
        <p:spPr>
          <a:xfrm>
            <a:off x="417646" y="1180044"/>
            <a:ext cx="2115600" cy="5541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000"/>
              <a:buFont typeface="Arial"/>
              <a:buNone/>
            </a:pPr>
            <a:r>
              <a:rPr lang="en-US" sz="3000" b="0" i="0" u="none" strike="noStrike" cap="none">
                <a:solidFill>
                  <a:schemeClr val="lt1"/>
                </a:solidFill>
                <a:latin typeface="Poppins"/>
                <a:ea typeface="Poppins"/>
                <a:cs typeface="Poppins"/>
                <a:sym typeface="Poppins"/>
              </a:rPr>
              <a:t>Contents</a:t>
            </a:r>
            <a:endParaRPr sz="1400" b="0" i="0" u="none" strike="noStrike" cap="none">
              <a:solidFill>
                <a:srgbClr val="000000"/>
              </a:solidFill>
              <a:latin typeface="Arial"/>
              <a:ea typeface="Arial"/>
              <a:cs typeface="Arial"/>
              <a:sym typeface="Arial"/>
            </a:endParaRPr>
          </a:p>
        </p:txBody>
      </p:sp>
      <p:pic>
        <p:nvPicPr>
          <p:cNvPr id="68" name="Google Shape;68;p54" descr="A white letter on a black background&#10;&#10;AI-generated content may be incorrect."/>
          <p:cNvPicPr preferRelativeResize="0"/>
          <p:nvPr/>
        </p:nvPicPr>
        <p:blipFill rotWithShape="1">
          <a:blip r:embed="rId3">
            <a:alphaModFix/>
          </a:blip>
          <a:srcRect/>
          <a:stretch/>
        </p:blipFill>
        <p:spPr>
          <a:xfrm>
            <a:off x="387849" y="6522297"/>
            <a:ext cx="1300872" cy="229566"/>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5_Title Only">
  <p:cSld name="15_Title Only">
    <p:bg>
      <p:bgPr>
        <a:solidFill>
          <a:schemeClr val="lt1"/>
        </a:solidFill>
        <a:effectLst/>
      </p:bgPr>
    </p:bg>
    <p:spTree>
      <p:nvGrpSpPr>
        <p:cNvPr id="1" name="Shape 69"/>
        <p:cNvGrpSpPr/>
        <p:nvPr/>
      </p:nvGrpSpPr>
      <p:grpSpPr>
        <a:xfrm>
          <a:off x="0" y="0"/>
          <a:ext cx="0" cy="0"/>
          <a:chOff x="0" y="0"/>
          <a:chExt cx="0" cy="0"/>
        </a:xfrm>
      </p:grpSpPr>
      <p:sp>
        <p:nvSpPr>
          <p:cNvPr id="70" name="Google Shape;70;p72"/>
          <p:cNvSpPr/>
          <p:nvPr/>
        </p:nvSpPr>
        <p:spPr>
          <a:xfrm>
            <a:off x="0" y="6421271"/>
            <a:ext cx="12192000" cy="436729"/>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Poppins"/>
              <a:ea typeface="Poppins"/>
              <a:cs typeface="Poppins"/>
              <a:sym typeface="Poppins"/>
            </a:endParaRPr>
          </a:p>
        </p:txBody>
      </p:sp>
      <p:sp>
        <p:nvSpPr>
          <p:cNvPr id="71" name="Google Shape;71;p72"/>
          <p:cNvSpPr txBox="1">
            <a:spLocks noGrp="1"/>
          </p:cNvSpPr>
          <p:nvPr>
            <p:ph type="sldNum" idx="12"/>
          </p:nvPr>
        </p:nvSpPr>
        <p:spPr>
          <a:xfrm>
            <a:off x="11073652" y="6459668"/>
            <a:ext cx="730623"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72" name="Google Shape;72;p72"/>
          <p:cNvCxnSpPr/>
          <p:nvPr/>
        </p:nvCxnSpPr>
        <p:spPr>
          <a:xfrm rot="10800000">
            <a:off x="-72439" y="6421271"/>
            <a:ext cx="12264439" cy="0"/>
          </a:xfrm>
          <a:prstGeom prst="straightConnector1">
            <a:avLst/>
          </a:prstGeom>
          <a:noFill/>
          <a:ln w="9525" cap="flat" cmpd="sng">
            <a:solidFill>
              <a:srgbClr val="A5A5A5">
                <a:alpha val="40000"/>
              </a:srgbClr>
            </a:solidFill>
            <a:prstDash val="solid"/>
            <a:round/>
            <a:headEnd type="none" w="sm" len="sm"/>
            <a:tailEnd type="none" w="sm" len="sm"/>
          </a:ln>
        </p:spPr>
      </p:cxnSp>
      <p:sp>
        <p:nvSpPr>
          <p:cNvPr id="73" name="Google Shape;73;p72"/>
          <p:cNvSpPr txBox="1"/>
          <p:nvPr/>
        </p:nvSpPr>
        <p:spPr>
          <a:xfrm>
            <a:off x="5141259" y="6526835"/>
            <a:ext cx="1909482" cy="23079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a:ea typeface="Poppins"/>
                <a:cs typeface="Poppins"/>
                <a:sym typeface="Poppins"/>
              </a:rPr>
              <a:t>©2026 Moderne, Inc.</a:t>
            </a:r>
            <a:endParaRPr sz="900" b="0" i="0" u="none" strike="noStrike" cap="none">
              <a:solidFill>
                <a:srgbClr val="EFEEFE"/>
              </a:solidFill>
              <a:latin typeface="Poppins"/>
              <a:ea typeface="Poppins"/>
              <a:cs typeface="Poppins"/>
              <a:sym typeface="Poppins"/>
            </a:endParaRPr>
          </a:p>
        </p:txBody>
      </p:sp>
      <p:pic>
        <p:nvPicPr>
          <p:cNvPr id="74" name="Google Shape;74;p72" descr="Shape&#10;&#10;Description automatically generated with medium confidence"/>
          <p:cNvPicPr preferRelativeResize="0"/>
          <p:nvPr/>
        </p:nvPicPr>
        <p:blipFill rotWithShape="1">
          <a:blip r:embed="rId2">
            <a:alphaModFix/>
          </a:blip>
          <a:srcRect t="1" r="81307" b="-14127"/>
          <a:stretch/>
        </p:blipFill>
        <p:spPr>
          <a:xfrm>
            <a:off x="11592089" y="272005"/>
            <a:ext cx="431022" cy="393513"/>
          </a:xfrm>
          <a:prstGeom prst="rect">
            <a:avLst/>
          </a:prstGeom>
          <a:noFill/>
          <a:ln>
            <a:noFill/>
          </a:ln>
        </p:spPr>
      </p:pic>
      <p:sp>
        <p:nvSpPr>
          <p:cNvPr id="75" name="Google Shape;75;p72"/>
          <p:cNvSpPr txBox="1">
            <a:spLocks noGrp="1"/>
          </p:cNvSpPr>
          <p:nvPr>
            <p:ph type="body" idx="1"/>
          </p:nvPr>
        </p:nvSpPr>
        <p:spPr>
          <a:xfrm>
            <a:off x="523876" y="457384"/>
            <a:ext cx="7495862" cy="706158"/>
          </a:xfrm>
          <a:prstGeom prst="rect">
            <a:avLst/>
          </a:prstGeom>
          <a:noFill/>
          <a:ln>
            <a:noFill/>
          </a:ln>
        </p:spPr>
        <p:txBody>
          <a:bodyPr spcFirstLastPara="1" wrap="square" lIns="0" tIns="0" rIns="0" bIns="0" anchor="ctr" anchorCtr="0">
            <a:normAutofit/>
          </a:bodyPr>
          <a:lstStyle>
            <a:lvl1pPr marL="457200" lvl="0" indent="-228600" algn="l">
              <a:lnSpc>
                <a:spcPct val="100000"/>
              </a:lnSpc>
              <a:spcBef>
                <a:spcPts val="1000"/>
              </a:spcBef>
              <a:spcAft>
                <a:spcPts val="0"/>
              </a:spcAft>
              <a:buSzPts val="2800"/>
              <a:buNone/>
              <a:defRPr sz="3000">
                <a:solidFill>
                  <a:schemeClr val="dk1"/>
                </a:solidFill>
                <a:latin typeface="Poppins"/>
                <a:ea typeface="Poppins"/>
                <a:cs typeface="Poppins"/>
                <a:sym typeface="Poppins"/>
              </a:defRPr>
            </a:lvl1pPr>
            <a:lvl2pPr marL="914400" lvl="1" indent="-381000" algn="l">
              <a:lnSpc>
                <a:spcPct val="100000"/>
              </a:lnSpc>
              <a:spcBef>
                <a:spcPts val="500"/>
              </a:spcBef>
              <a:spcAft>
                <a:spcPts val="0"/>
              </a:spcAft>
              <a:buSzPts val="2400"/>
              <a:buChar char="•"/>
              <a:defRPr/>
            </a:lvl2pPr>
            <a:lvl3pPr marL="1371600" lvl="2" indent="-355600" algn="l">
              <a:lnSpc>
                <a:spcPct val="100000"/>
              </a:lnSpc>
              <a:spcBef>
                <a:spcPts val="500"/>
              </a:spcBef>
              <a:spcAft>
                <a:spcPts val="0"/>
              </a:spcAft>
              <a:buSzPts val="2000"/>
              <a:buChar char="•"/>
              <a:defRPr/>
            </a:lvl3pPr>
            <a:lvl4pPr marL="1828800" lvl="3" indent="-342900" algn="l">
              <a:lnSpc>
                <a:spcPct val="100000"/>
              </a:lnSpc>
              <a:spcBef>
                <a:spcPts val="500"/>
              </a:spcBef>
              <a:spcAft>
                <a:spcPts val="0"/>
              </a:spcAft>
              <a:buSzPts val="1800"/>
              <a:buChar char="•"/>
              <a:defRPr/>
            </a:lvl4pPr>
            <a:lvl5pPr marL="2286000" lvl="4" indent="-342900" algn="l">
              <a:lnSpc>
                <a:spcPct val="100000"/>
              </a:lnSpc>
              <a:spcBef>
                <a:spcPts val="500"/>
              </a:spcBef>
              <a:spcAft>
                <a:spcPts val="0"/>
              </a:spcAft>
              <a:buSzPts val="1800"/>
              <a:buChar char="•"/>
              <a:defRPr/>
            </a:lvl5pPr>
            <a:lvl6pPr marL="2743200" lvl="5" indent="-342900" algn="l">
              <a:lnSpc>
                <a:spcPct val="90000"/>
              </a:lnSpc>
              <a:spcBef>
                <a:spcPts val="500"/>
              </a:spcBef>
              <a:spcAft>
                <a:spcPts val="0"/>
              </a:spcAft>
              <a:buSzPts val="1800"/>
              <a:buChar char="•"/>
              <a:defRPr/>
            </a:lvl6pPr>
            <a:lvl7pPr marL="3200400" lvl="6" indent="-342900" algn="l">
              <a:lnSpc>
                <a:spcPct val="90000"/>
              </a:lnSpc>
              <a:spcBef>
                <a:spcPts val="500"/>
              </a:spcBef>
              <a:spcAft>
                <a:spcPts val="0"/>
              </a:spcAft>
              <a:buSzPts val="1800"/>
              <a:buChar char="•"/>
              <a:defRPr/>
            </a:lvl7pPr>
            <a:lvl8pPr marL="3657600" lvl="7" indent="-342900" algn="l">
              <a:lnSpc>
                <a:spcPct val="90000"/>
              </a:lnSpc>
              <a:spcBef>
                <a:spcPts val="500"/>
              </a:spcBef>
              <a:spcAft>
                <a:spcPts val="0"/>
              </a:spcAft>
              <a:buSzPts val="1800"/>
              <a:buChar char="•"/>
              <a:defRPr/>
            </a:lvl8pPr>
            <a:lvl9pPr marL="4114800" lvl="8" indent="-342900" algn="l">
              <a:lnSpc>
                <a:spcPct val="90000"/>
              </a:lnSpc>
              <a:spcBef>
                <a:spcPts val="500"/>
              </a:spcBef>
              <a:spcAft>
                <a:spcPts val="0"/>
              </a:spcAft>
              <a:buSzPts val="1800"/>
              <a:buChar char="•"/>
              <a:defRPr/>
            </a:lvl9pPr>
          </a:lstStyle>
          <a:p>
            <a:endParaRPr/>
          </a:p>
        </p:txBody>
      </p:sp>
      <p:pic>
        <p:nvPicPr>
          <p:cNvPr id="76" name="Google Shape;76;p72" descr="A white letter on a black background&#10;&#10;AI-generated content may be incorrect."/>
          <p:cNvPicPr preferRelativeResize="0"/>
          <p:nvPr/>
        </p:nvPicPr>
        <p:blipFill rotWithShape="1">
          <a:blip r:embed="rId3">
            <a:alphaModFix/>
          </a:blip>
          <a:srcRect/>
          <a:stretch/>
        </p:blipFill>
        <p:spPr>
          <a:xfrm>
            <a:off x="387849" y="6522297"/>
            <a:ext cx="1300872" cy="229566"/>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16_Title Only">
  <p:cSld name="16_Title Only">
    <p:bg>
      <p:bgPr>
        <a:solidFill>
          <a:schemeClr val="lt1"/>
        </a:solidFill>
        <a:effectLst/>
      </p:bgPr>
    </p:bg>
    <p:spTree>
      <p:nvGrpSpPr>
        <p:cNvPr id="1" name="Shape 77"/>
        <p:cNvGrpSpPr/>
        <p:nvPr/>
      </p:nvGrpSpPr>
      <p:grpSpPr>
        <a:xfrm>
          <a:off x="0" y="0"/>
          <a:ext cx="0" cy="0"/>
          <a:chOff x="0" y="0"/>
          <a:chExt cx="0" cy="0"/>
        </a:xfrm>
      </p:grpSpPr>
      <p:sp>
        <p:nvSpPr>
          <p:cNvPr id="78" name="Google Shape;78;p38"/>
          <p:cNvSpPr/>
          <p:nvPr/>
        </p:nvSpPr>
        <p:spPr>
          <a:xfrm>
            <a:off x="0" y="6421271"/>
            <a:ext cx="12192000" cy="436729"/>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Poppins"/>
              <a:ea typeface="Poppins"/>
              <a:cs typeface="Poppins"/>
              <a:sym typeface="Poppins"/>
            </a:endParaRPr>
          </a:p>
        </p:txBody>
      </p:sp>
      <p:pic>
        <p:nvPicPr>
          <p:cNvPr id="79" name="Google Shape;79;p38" descr="A white letter on a black background&#10;&#10;Description automatically generated with low confidence"/>
          <p:cNvPicPr preferRelativeResize="0"/>
          <p:nvPr/>
        </p:nvPicPr>
        <p:blipFill rotWithShape="1">
          <a:blip r:embed="rId2">
            <a:alphaModFix/>
          </a:blip>
          <a:srcRect/>
          <a:stretch/>
        </p:blipFill>
        <p:spPr>
          <a:xfrm>
            <a:off x="439904" y="6538639"/>
            <a:ext cx="1031736" cy="182070"/>
          </a:xfrm>
          <a:prstGeom prst="rect">
            <a:avLst/>
          </a:prstGeom>
          <a:noFill/>
          <a:ln>
            <a:noFill/>
          </a:ln>
        </p:spPr>
      </p:pic>
      <p:sp>
        <p:nvSpPr>
          <p:cNvPr id="80" name="Google Shape;80;p38"/>
          <p:cNvSpPr txBox="1">
            <a:spLocks noGrp="1"/>
          </p:cNvSpPr>
          <p:nvPr>
            <p:ph type="sldNum" idx="12"/>
          </p:nvPr>
        </p:nvSpPr>
        <p:spPr>
          <a:xfrm>
            <a:off x="11073652" y="6459668"/>
            <a:ext cx="730623"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81" name="Google Shape;81;p38"/>
          <p:cNvCxnSpPr/>
          <p:nvPr/>
        </p:nvCxnSpPr>
        <p:spPr>
          <a:xfrm rot="10800000">
            <a:off x="-72439" y="6421271"/>
            <a:ext cx="12264439" cy="0"/>
          </a:xfrm>
          <a:prstGeom prst="straightConnector1">
            <a:avLst/>
          </a:prstGeom>
          <a:noFill/>
          <a:ln w="9525" cap="flat" cmpd="sng">
            <a:solidFill>
              <a:srgbClr val="A5A5A5">
                <a:alpha val="40000"/>
              </a:srgbClr>
            </a:solidFill>
            <a:prstDash val="solid"/>
            <a:round/>
            <a:headEnd type="none" w="sm" len="sm"/>
            <a:tailEnd type="none" w="sm" len="sm"/>
          </a:ln>
        </p:spPr>
      </p:cxnSp>
      <p:sp>
        <p:nvSpPr>
          <p:cNvPr id="82" name="Google Shape;82;p38"/>
          <p:cNvSpPr txBox="1"/>
          <p:nvPr/>
        </p:nvSpPr>
        <p:spPr>
          <a:xfrm>
            <a:off x="5141259" y="6526835"/>
            <a:ext cx="1909482" cy="23079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a:ea typeface="Poppins"/>
                <a:cs typeface="Poppins"/>
                <a:sym typeface="Poppins"/>
              </a:rPr>
              <a:t>©2026 Moderne, Inc.</a:t>
            </a:r>
            <a:endParaRPr sz="900" b="0" i="0" u="none" strike="noStrike" cap="none">
              <a:solidFill>
                <a:srgbClr val="EFEEFE"/>
              </a:solidFill>
              <a:latin typeface="Poppins"/>
              <a:ea typeface="Poppins"/>
              <a:cs typeface="Poppins"/>
              <a:sym typeface="Poppins"/>
            </a:endParaRPr>
          </a:p>
        </p:txBody>
      </p:sp>
      <p:pic>
        <p:nvPicPr>
          <p:cNvPr id="83" name="Google Shape;83;p38" descr="Shape&#10;&#10;Description automatically generated with medium confidence"/>
          <p:cNvPicPr preferRelativeResize="0"/>
          <p:nvPr/>
        </p:nvPicPr>
        <p:blipFill rotWithShape="1">
          <a:blip r:embed="rId3">
            <a:alphaModFix/>
          </a:blip>
          <a:srcRect t="1" r="81307" b="-14127"/>
          <a:stretch/>
        </p:blipFill>
        <p:spPr>
          <a:xfrm>
            <a:off x="11592089" y="272005"/>
            <a:ext cx="431022" cy="393513"/>
          </a:xfrm>
          <a:prstGeom prst="rect">
            <a:avLst/>
          </a:prstGeom>
          <a:noFill/>
          <a:ln>
            <a:noFill/>
          </a:ln>
        </p:spPr>
      </p:pic>
      <p:sp>
        <p:nvSpPr>
          <p:cNvPr id="84" name="Google Shape;84;p38"/>
          <p:cNvSpPr txBox="1">
            <a:spLocks noGrp="1"/>
          </p:cNvSpPr>
          <p:nvPr>
            <p:ph type="body" idx="1"/>
          </p:nvPr>
        </p:nvSpPr>
        <p:spPr>
          <a:xfrm>
            <a:off x="523876" y="457384"/>
            <a:ext cx="7495862" cy="706158"/>
          </a:xfrm>
          <a:prstGeom prst="rect">
            <a:avLst/>
          </a:prstGeom>
          <a:noFill/>
          <a:ln>
            <a:noFill/>
          </a:ln>
        </p:spPr>
        <p:txBody>
          <a:bodyPr spcFirstLastPara="1" wrap="square" lIns="0" tIns="0" rIns="0" bIns="0" anchor="ctr" anchorCtr="0">
            <a:normAutofit/>
          </a:bodyPr>
          <a:lstStyle>
            <a:lvl1pPr marL="457200" lvl="0" indent="-228600" algn="l">
              <a:lnSpc>
                <a:spcPct val="100000"/>
              </a:lnSpc>
              <a:spcBef>
                <a:spcPts val="1000"/>
              </a:spcBef>
              <a:spcAft>
                <a:spcPts val="0"/>
              </a:spcAft>
              <a:buSzPts val="2800"/>
              <a:buNone/>
              <a:defRPr sz="3000">
                <a:solidFill>
                  <a:schemeClr val="dk1"/>
                </a:solidFill>
                <a:latin typeface="Poppins"/>
                <a:ea typeface="Poppins"/>
                <a:cs typeface="Poppins"/>
                <a:sym typeface="Poppins"/>
              </a:defRPr>
            </a:lvl1pPr>
            <a:lvl2pPr marL="914400" lvl="1" indent="-381000" algn="l">
              <a:lnSpc>
                <a:spcPct val="100000"/>
              </a:lnSpc>
              <a:spcBef>
                <a:spcPts val="500"/>
              </a:spcBef>
              <a:spcAft>
                <a:spcPts val="0"/>
              </a:spcAft>
              <a:buSzPts val="2400"/>
              <a:buChar char="•"/>
              <a:defRPr/>
            </a:lvl2pPr>
            <a:lvl3pPr marL="1371600" lvl="2" indent="-355600" algn="l">
              <a:lnSpc>
                <a:spcPct val="100000"/>
              </a:lnSpc>
              <a:spcBef>
                <a:spcPts val="500"/>
              </a:spcBef>
              <a:spcAft>
                <a:spcPts val="0"/>
              </a:spcAft>
              <a:buSzPts val="2000"/>
              <a:buChar char="•"/>
              <a:defRPr/>
            </a:lvl3pPr>
            <a:lvl4pPr marL="1828800" lvl="3" indent="-342900" algn="l">
              <a:lnSpc>
                <a:spcPct val="100000"/>
              </a:lnSpc>
              <a:spcBef>
                <a:spcPts val="500"/>
              </a:spcBef>
              <a:spcAft>
                <a:spcPts val="0"/>
              </a:spcAft>
              <a:buSzPts val="1800"/>
              <a:buChar char="•"/>
              <a:defRPr/>
            </a:lvl4pPr>
            <a:lvl5pPr marL="2286000" lvl="4" indent="-342900" algn="l">
              <a:lnSpc>
                <a:spcPct val="100000"/>
              </a:lnSpc>
              <a:spcBef>
                <a:spcPts val="500"/>
              </a:spcBef>
              <a:spcAft>
                <a:spcPts val="0"/>
              </a:spcAft>
              <a:buSzPts val="1800"/>
              <a:buChar char="•"/>
              <a:defRPr/>
            </a:lvl5pPr>
            <a:lvl6pPr marL="2743200" lvl="5" indent="-342900" algn="l">
              <a:lnSpc>
                <a:spcPct val="90000"/>
              </a:lnSpc>
              <a:spcBef>
                <a:spcPts val="500"/>
              </a:spcBef>
              <a:spcAft>
                <a:spcPts val="0"/>
              </a:spcAft>
              <a:buSzPts val="1800"/>
              <a:buChar char="•"/>
              <a:defRPr/>
            </a:lvl6pPr>
            <a:lvl7pPr marL="3200400" lvl="6" indent="-342900" algn="l">
              <a:lnSpc>
                <a:spcPct val="90000"/>
              </a:lnSpc>
              <a:spcBef>
                <a:spcPts val="500"/>
              </a:spcBef>
              <a:spcAft>
                <a:spcPts val="0"/>
              </a:spcAft>
              <a:buSzPts val="1800"/>
              <a:buChar char="•"/>
              <a:defRPr/>
            </a:lvl7pPr>
            <a:lvl8pPr marL="3657600" lvl="7" indent="-342900" algn="l">
              <a:lnSpc>
                <a:spcPct val="90000"/>
              </a:lnSpc>
              <a:spcBef>
                <a:spcPts val="500"/>
              </a:spcBef>
              <a:spcAft>
                <a:spcPts val="0"/>
              </a:spcAft>
              <a:buSzPts val="1800"/>
              <a:buChar char="•"/>
              <a:defRPr/>
            </a:lvl8pPr>
            <a:lvl9pPr marL="4114800" lvl="8" indent="-342900" algn="l">
              <a:lnSpc>
                <a:spcPct val="90000"/>
              </a:lnSpc>
              <a:spcBef>
                <a:spcPts val="500"/>
              </a:spcBef>
              <a:spcAft>
                <a:spcPts val="0"/>
              </a:spcAft>
              <a:buSzPts val="1800"/>
              <a:buChar char="•"/>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5_Three Column">
  <p:cSld name="5_Three Column">
    <p:bg>
      <p:bgPr>
        <a:solidFill>
          <a:schemeClr val="lt1"/>
        </a:solidFill>
        <a:effectLst/>
      </p:bgPr>
    </p:bg>
    <p:spTree>
      <p:nvGrpSpPr>
        <p:cNvPr id="1" name="Shape 85"/>
        <p:cNvGrpSpPr/>
        <p:nvPr/>
      </p:nvGrpSpPr>
      <p:grpSpPr>
        <a:xfrm>
          <a:off x="0" y="0"/>
          <a:ext cx="0" cy="0"/>
          <a:chOff x="0" y="0"/>
          <a:chExt cx="0" cy="0"/>
        </a:xfrm>
      </p:grpSpPr>
      <p:sp>
        <p:nvSpPr>
          <p:cNvPr id="86" name="Google Shape;86;p59"/>
          <p:cNvSpPr/>
          <p:nvPr/>
        </p:nvSpPr>
        <p:spPr>
          <a:xfrm>
            <a:off x="0" y="6421271"/>
            <a:ext cx="12192000" cy="4368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Poppins"/>
              <a:ea typeface="Poppins"/>
              <a:cs typeface="Poppins"/>
              <a:sym typeface="Poppins"/>
            </a:endParaRPr>
          </a:p>
        </p:txBody>
      </p:sp>
      <p:grpSp>
        <p:nvGrpSpPr>
          <p:cNvPr id="87" name="Google Shape;87;p59"/>
          <p:cNvGrpSpPr/>
          <p:nvPr/>
        </p:nvGrpSpPr>
        <p:grpSpPr>
          <a:xfrm>
            <a:off x="4064087" y="1445960"/>
            <a:ext cx="4085857" cy="4975357"/>
            <a:chOff x="4064087" y="1445943"/>
            <a:chExt cx="4085857" cy="5435173"/>
          </a:xfrm>
        </p:grpSpPr>
        <p:cxnSp>
          <p:nvCxnSpPr>
            <p:cNvPr id="88" name="Google Shape;88;p59"/>
            <p:cNvCxnSpPr/>
            <p:nvPr/>
          </p:nvCxnSpPr>
          <p:spPr>
            <a:xfrm>
              <a:off x="4064087" y="1447216"/>
              <a:ext cx="0" cy="5433900"/>
            </a:xfrm>
            <a:prstGeom prst="straightConnector1">
              <a:avLst/>
            </a:prstGeom>
            <a:noFill/>
            <a:ln w="9525" cap="flat" cmpd="sng">
              <a:solidFill>
                <a:srgbClr val="A5A5A5">
                  <a:alpha val="40000"/>
                </a:srgbClr>
              </a:solidFill>
              <a:prstDash val="solid"/>
              <a:miter lim="800000"/>
              <a:headEnd type="none" w="sm" len="sm"/>
              <a:tailEnd type="none" w="sm" len="sm"/>
            </a:ln>
          </p:spPr>
        </p:cxnSp>
        <p:cxnSp>
          <p:nvCxnSpPr>
            <p:cNvPr id="89" name="Google Shape;89;p59"/>
            <p:cNvCxnSpPr/>
            <p:nvPr/>
          </p:nvCxnSpPr>
          <p:spPr>
            <a:xfrm>
              <a:off x="8149944" y="1445943"/>
              <a:ext cx="0" cy="5433900"/>
            </a:xfrm>
            <a:prstGeom prst="straightConnector1">
              <a:avLst/>
            </a:prstGeom>
            <a:noFill/>
            <a:ln w="9525" cap="flat" cmpd="sng">
              <a:solidFill>
                <a:srgbClr val="A5A5A5">
                  <a:alpha val="40000"/>
                </a:srgbClr>
              </a:solidFill>
              <a:prstDash val="solid"/>
              <a:miter lim="800000"/>
              <a:headEnd type="none" w="sm" len="sm"/>
              <a:tailEnd type="none" w="sm" len="sm"/>
            </a:ln>
          </p:spPr>
        </p:cxnSp>
      </p:grpSp>
      <p:sp>
        <p:nvSpPr>
          <p:cNvPr id="90" name="Google Shape;90;p59"/>
          <p:cNvSpPr txBox="1">
            <a:spLocks noGrp="1"/>
          </p:cNvSpPr>
          <p:nvPr>
            <p:ph type="sldNum" idx="12"/>
          </p:nvPr>
        </p:nvSpPr>
        <p:spPr>
          <a:xfrm>
            <a:off x="11073652" y="6459668"/>
            <a:ext cx="7305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91" name="Google Shape;91;p59"/>
          <p:cNvCxnSpPr/>
          <p:nvPr/>
        </p:nvCxnSpPr>
        <p:spPr>
          <a:xfrm rot="10800000">
            <a:off x="-72300" y="6421271"/>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sp>
        <p:nvSpPr>
          <p:cNvPr id="92" name="Google Shape;92;p59"/>
          <p:cNvSpPr txBox="1"/>
          <p:nvPr/>
        </p:nvSpPr>
        <p:spPr>
          <a:xfrm>
            <a:off x="5141259" y="6526835"/>
            <a:ext cx="1909500" cy="2307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a:ea typeface="Poppins"/>
                <a:cs typeface="Poppins"/>
                <a:sym typeface="Poppins"/>
              </a:rPr>
              <a:t>©2026 Moderne, Inc.</a:t>
            </a:r>
            <a:endParaRPr sz="900" b="0" i="0" u="none" strike="noStrike" cap="none">
              <a:solidFill>
                <a:srgbClr val="EFEEFE"/>
              </a:solidFill>
              <a:latin typeface="Poppins"/>
              <a:ea typeface="Poppins"/>
              <a:cs typeface="Poppins"/>
              <a:sym typeface="Poppins"/>
            </a:endParaRPr>
          </a:p>
        </p:txBody>
      </p:sp>
      <p:cxnSp>
        <p:nvCxnSpPr>
          <p:cNvPr id="93" name="Google Shape;93;p59"/>
          <p:cNvCxnSpPr/>
          <p:nvPr/>
        </p:nvCxnSpPr>
        <p:spPr>
          <a:xfrm rot="10800000">
            <a:off x="-72300" y="2963640"/>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cxnSp>
        <p:nvCxnSpPr>
          <p:cNvPr id="94" name="Google Shape;94;p59"/>
          <p:cNvCxnSpPr/>
          <p:nvPr/>
        </p:nvCxnSpPr>
        <p:spPr>
          <a:xfrm rot="10800000">
            <a:off x="-72300" y="1445824"/>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pic>
        <p:nvPicPr>
          <p:cNvPr id="95" name="Google Shape;95;p59" descr="Shape&#10;&#10;Description automatically generated with medium confidence"/>
          <p:cNvPicPr preferRelativeResize="0"/>
          <p:nvPr/>
        </p:nvPicPr>
        <p:blipFill rotWithShape="1">
          <a:blip r:embed="rId2">
            <a:alphaModFix/>
          </a:blip>
          <a:srcRect r="81307" b="-14127"/>
          <a:stretch/>
        </p:blipFill>
        <p:spPr>
          <a:xfrm>
            <a:off x="11592089" y="272005"/>
            <a:ext cx="431021" cy="393513"/>
          </a:xfrm>
          <a:prstGeom prst="rect">
            <a:avLst/>
          </a:prstGeom>
          <a:noFill/>
          <a:ln>
            <a:noFill/>
          </a:ln>
        </p:spPr>
      </p:pic>
      <p:sp>
        <p:nvSpPr>
          <p:cNvPr id="96" name="Google Shape;96;p59"/>
          <p:cNvSpPr txBox="1">
            <a:spLocks noGrp="1"/>
          </p:cNvSpPr>
          <p:nvPr>
            <p:ph type="body" idx="1"/>
          </p:nvPr>
        </p:nvSpPr>
        <p:spPr>
          <a:xfrm>
            <a:off x="419944" y="2150921"/>
            <a:ext cx="2855100" cy="3408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chemeClr val="dk1"/>
              </a:buClr>
              <a:buSzPts val="2000"/>
              <a:buNone/>
              <a:defRPr sz="2000">
                <a:solidFill>
                  <a:schemeClr val="dk1"/>
                </a:solidFill>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7" name="Google Shape;97;p59"/>
          <p:cNvSpPr txBox="1">
            <a:spLocks noGrp="1"/>
          </p:cNvSpPr>
          <p:nvPr>
            <p:ph type="body" idx="2"/>
          </p:nvPr>
        </p:nvSpPr>
        <p:spPr>
          <a:xfrm>
            <a:off x="419944" y="1917637"/>
            <a:ext cx="2855100" cy="1830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chemeClr val="dk1"/>
              </a:buClr>
              <a:buSzPts val="1000"/>
              <a:buNone/>
              <a:defRPr sz="1000">
                <a:solidFill>
                  <a:schemeClr val="dk1"/>
                </a:solidFill>
                <a:latin typeface="Poppins"/>
                <a:ea typeface="Poppins"/>
                <a:cs typeface="Poppins"/>
                <a:sym typeface="Poppins"/>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8" name="Google Shape;98;p59"/>
          <p:cNvSpPr txBox="1">
            <a:spLocks noGrp="1"/>
          </p:cNvSpPr>
          <p:nvPr>
            <p:ph type="body" idx="3"/>
          </p:nvPr>
        </p:nvSpPr>
        <p:spPr>
          <a:xfrm>
            <a:off x="4657492" y="2150921"/>
            <a:ext cx="2855100" cy="3408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chemeClr val="dk1"/>
              </a:buClr>
              <a:buSzPts val="2000"/>
              <a:buNone/>
              <a:defRPr sz="2000">
                <a:solidFill>
                  <a:schemeClr val="dk1"/>
                </a:solidFill>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9" name="Google Shape;99;p59"/>
          <p:cNvSpPr txBox="1">
            <a:spLocks noGrp="1"/>
          </p:cNvSpPr>
          <p:nvPr>
            <p:ph type="body" idx="4"/>
          </p:nvPr>
        </p:nvSpPr>
        <p:spPr>
          <a:xfrm>
            <a:off x="4657492" y="1917637"/>
            <a:ext cx="2855100" cy="1830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chemeClr val="dk1"/>
              </a:buClr>
              <a:buSzPts val="1000"/>
              <a:buNone/>
              <a:defRPr sz="1000">
                <a:solidFill>
                  <a:schemeClr val="dk1"/>
                </a:solidFill>
                <a:latin typeface="Poppins"/>
                <a:ea typeface="Poppins"/>
                <a:cs typeface="Poppins"/>
                <a:sym typeface="Poppins"/>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0" name="Google Shape;100;p59"/>
          <p:cNvSpPr txBox="1">
            <a:spLocks noGrp="1"/>
          </p:cNvSpPr>
          <p:nvPr>
            <p:ph type="body" idx="5"/>
          </p:nvPr>
        </p:nvSpPr>
        <p:spPr>
          <a:xfrm>
            <a:off x="8736843" y="2148774"/>
            <a:ext cx="2855100" cy="3408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chemeClr val="dk1"/>
              </a:buClr>
              <a:buSzPts val="2000"/>
              <a:buNone/>
              <a:defRPr sz="2000">
                <a:solidFill>
                  <a:schemeClr val="dk1"/>
                </a:solidFill>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1" name="Google Shape;101;p59"/>
          <p:cNvSpPr txBox="1">
            <a:spLocks noGrp="1"/>
          </p:cNvSpPr>
          <p:nvPr>
            <p:ph type="body" idx="6"/>
          </p:nvPr>
        </p:nvSpPr>
        <p:spPr>
          <a:xfrm>
            <a:off x="8736843" y="1915490"/>
            <a:ext cx="2855100" cy="1830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chemeClr val="dk1"/>
              </a:buClr>
              <a:buSzPts val="1000"/>
              <a:buNone/>
              <a:defRPr sz="1000">
                <a:solidFill>
                  <a:schemeClr val="dk1"/>
                </a:solidFill>
                <a:latin typeface="Poppins"/>
                <a:ea typeface="Poppins"/>
                <a:cs typeface="Poppins"/>
                <a:sym typeface="Poppins"/>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2" name="Google Shape;102;p59"/>
          <p:cNvSpPr txBox="1">
            <a:spLocks noGrp="1"/>
          </p:cNvSpPr>
          <p:nvPr>
            <p:ph type="body" idx="7"/>
          </p:nvPr>
        </p:nvSpPr>
        <p:spPr>
          <a:xfrm>
            <a:off x="523876" y="457384"/>
            <a:ext cx="7495800" cy="706200"/>
          </a:xfrm>
          <a:prstGeom prst="rect">
            <a:avLst/>
          </a:prstGeom>
          <a:noFill/>
          <a:ln>
            <a:noFill/>
          </a:ln>
        </p:spPr>
        <p:txBody>
          <a:bodyPr spcFirstLastPara="1" wrap="square" lIns="0" tIns="0" rIns="0" bIns="0" anchor="ctr" anchorCtr="0">
            <a:normAutofit/>
          </a:bodyPr>
          <a:lstStyle>
            <a:lvl1pPr marL="457200" lvl="0" indent="-228600" algn="l">
              <a:lnSpc>
                <a:spcPct val="100000"/>
              </a:lnSpc>
              <a:spcBef>
                <a:spcPts val="1000"/>
              </a:spcBef>
              <a:spcAft>
                <a:spcPts val="0"/>
              </a:spcAft>
              <a:buClr>
                <a:schemeClr val="dk1"/>
              </a:buClr>
              <a:buSzPts val="3000"/>
              <a:buNone/>
              <a:defRPr sz="3000">
                <a:solidFill>
                  <a:schemeClr val="dk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pic>
        <p:nvPicPr>
          <p:cNvPr id="103" name="Google Shape;103;p59" descr="A white letter on a black background&#10;&#10;AI-generated content may be incorrect."/>
          <p:cNvPicPr preferRelativeResize="0"/>
          <p:nvPr/>
        </p:nvPicPr>
        <p:blipFill rotWithShape="1">
          <a:blip r:embed="rId3">
            <a:alphaModFix/>
          </a:blip>
          <a:srcRect/>
          <a:stretch/>
        </p:blipFill>
        <p:spPr>
          <a:xfrm>
            <a:off x="387849" y="6522297"/>
            <a:ext cx="1300872" cy="229566"/>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12_Blank-Lavender">
  <p:cSld name="12_Blank-Lavender">
    <p:bg>
      <p:bgPr>
        <a:solidFill>
          <a:srgbClr val="F1EEFF"/>
        </a:solidFill>
        <a:effectLst/>
      </p:bgPr>
    </p:bg>
    <p:spTree>
      <p:nvGrpSpPr>
        <p:cNvPr id="1" name="Shape 104"/>
        <p:cNvGrpSpPr/>
        <p:nvPr/>
      </p:nvGrpSpPr>
      <p:grpSpPr>
        <a:xfrm>
          <a:off x="0" y="0"/>
          <a:ext cx="0" cy="0"/>
          <a:chOff x="0" y="0"/>
          <a:chExt cx="0" cy="0"/>
        </a:xfrm>
      </p:grpSpPr>
      <p:sp>
        <p:nvSpPr>
          <p:cNvPr id="105" name="Google Shape;105;p56"/>
          <p:cNvSpPr/>
          <p:nvPr/>
        </p:nvSpPr>
        <p:spPr>
          <a:xfrm>
            <a:off x="0" y="6421271"/>
            <a:ext cx="12192000" cy="4368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Poppins"/>
              <a:ea typeface="Poppins"/>
              <a:cs typeface="Poppins"/>
              <a:sym typeface="Poppins"/>
            </a:endParaRPr>
          </a:p>
        </p:txBody>
      </p:sp>
      <p:sp>
        <p:nvSpPr>
          <p:cNvPr id="106" name="Google Shape;106;p56"/>
          <p:cNvSpPr txBox="1">
            <a:spLocks noGrp="1"/>
          </p:cNvSpPr>
          <p:nvPr>
            <p:ph type="sldNum" idx="12"/>
          </p:nvPr>
        </p:nvSpPr>
        <p:spPr>
          <a:xfrm>
            <a:off x="11073652" y="6459668"/>
            <a:ext cx="7305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107" name="Google Shape;107;p56"/>
          <p:cNvCxnSpPr/>
          <p:nvPr/>
        </p:nvCxnSpPr>
        <p:spPr>
          <a:xfrm rot="10800000">
            <a:off x="-72300" y="6421271"/>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sp>
        <p:nvSpPr>
          <p:cNvPr id="108" name="Google Shape;108;p56"/>
          <p:cNvSpPr txBox="1"/>
          <p:nvPr/>
        </p:nvSpPr>
        <p:spPr>
          <a:xfrm>
            <a:off x="5141259" y="6526835"/>
            <a:ext cx="1909500" cy="2307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a:ea typeface="Poppins"/>
                <a:cs typeface="Poppins"/>
                <a:sym typeface="Poppins"/>
              </a:rPr>
              <a:t>©2026 Moderne, Inc.</a:t>
            </a:r>
            <a:endParaRPr sz="900" b="0" i="0" u="none" strike="noStrike" cap="none">
              <a:solidFill>
                <a:srgbClr val="EFEEFE"/>
              </a:solidFill>
              <a:latin typeface="Poppins"/>
              <a:ea typeface="Poppins"/>
              <a:cs typeface="Poppins"/>
              <a:sym typeface="Poppins"/>
            </a:endParaRPr>
          </a:p>
        </p:txBody>
      </p:sp>
      <p:pic>
        <p:nvPicPr>
          <p:cNvPr id="109" name="Google Shape;109;p56" descr="Shape&#10;&#10;Description automatically generated with medium confidence"/>
          <p:cNvPicPr preferRelativeResize="0"/>
          <p:nvPr/>
        </p:nvPicPr>
        <p:blipFill rotWithShape="1">
          <a:blip r:embed="rId2">
            <a:alphaModFix/>
          </a:blip>
          <a:srcRect r="81307" b="-14127"/>
          <a:stretch/>
        </p:blipFill>
        <p:spPr>
          <a:xfrm>
            <a:off x="11592089" y="272005"/>
            <a:ext cx="431021" cy="393513"/>
          </a:xfrm>
          <a:prstGeom prst="rect">
            <a:avLst/>
          </a:prstGeom>
          <a:noFill/>
          <a:ln>
            <a:noFill/>
          </a:ln>
        </p:spPr>
      </p:pic>
      <p:sp>
        <p:nvSpPr>
          <p:cNvPr id="110" name="Google Shape;110;p56"/>
          <p:cNvSpPr txBox="1">
            <a:spLocks noGrp="1"/>
          </p:cNvSpPr>
          <p:nvPr>
            <p:ph type="body" idx="1"/>
          </p:nvPr>
        </p:nvSpPr>
        <p:spPr>
          <a:xfrm>
            <a:off x="523876" y="456114"/>
            <a:ext cx="7495800" cy="706200"/>
          </a:xfrm>
          <a:prstGeom prst="rect">
            <a:avLst/>
          </a:prstGeom>
          <a:noFill/>
          <a:ln>
            <a:noFill/>
          </a:ln>
        </p:spPr>
        <p:txBody>
          <a:bodyPr spcFirstLastPara="1" wrap="square" lIns="0" tIns="0" rIns="0" bIns="0" anchor="ctr" anchorCtr="0">
            <a:normAutofit/>
          </a:bodyPr>
          <a:lstStyle>
            <a:lvl1pPr marL="457200" lvl="0" indent="-228600" algn="l">
              <a:lnSpc>
                <a:spcPct val="100000"/>
              </a:lnSpc>
              <a:spcBef>
                <a:spcPts val="1000"/>
              </a:spcBef>
              <a:spcAft>
                <a:spcPts val="0"/>
              </a:spcAft>
              <a:buClr>
                <a:schemeClr val="dk1"/>
              </a:buClr>
              <a:buSzPts val="3000"/>
              <a:buNone/>
              <a:defRPr sz="3000">
                <a:solidFill>
                  <a:schemeClr val="dk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pic>
        <p:nvPicPr>
          <p:cNvPr id="111" name="Google Shape;111;p56" descr="A white letter on a black background&#10;&#10;AI-generated content may be incorrect."/>
          <p:cNvPicPr preferRelativeResize="0"/>
          <p:nvPr/>
        </p:nvPicPr>
        <p:blipFill rotWithShape="1">
          <a:blip r:embed="rId3">
            <a:alphaModFix/>
          </a:blip>
          <a:srcRect/>
          <a:stretch/>
        </p:blipFill>
        <p:spPr>
          <a:xfrm>
            <a:off x="387849" y="6522297"/>
            <a:ext cx="1300872" cy="229566"/>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6_Text-Bullets">
  <p:cSld name="6_Text-Bullets">
    <p:bg>
      <p:bgPr>
        <a:solidFill>
          <a:schemeClr val="lt1"/>
        </a:solidFill>
        <a:effectLst/>
      </p:bgPr>
    </p:bg>
    <p:spTree>
      <p:nvGrpSpPr>
        <p:cNvPr id="1" name="Shape 112"/>
        <p:cNvGrpSpPr/>
        <p:nvPr/>
      </p:nvGrpSpPr>
      <p:grpSpPr>
        <a:xfrm>
          <a:off x="0" y="0"/>
          <a:ext cx="0" cy="0"/>
          <a:chOff x="0" y="0"/>
          <a:chExt cx="0" cy="0"/>
        </a:xfrm>
      </p:grpSpPr>
      <p:sp>
        <p:nvSpPr>
          <p:cNvPr id="113" name="Google Shape;113;p57"/>
          <p:cNvSpPr/>
          <p:nvPr/>
        </p:nvSpPr>
        <p:spPr>
          <a:xfrm>
            <a:off x="0" y="6421271"/>
            <a:ext cx="12192000" cy="4368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Poppins"/>
              <a:ea typeface="Poppins"/>
              <a:cs typeface="Poppins"/>
              <a:sym typeface="Poppins"/>
            </a:endParaRPr>
          </a:p>
        </p:txBody>
      </p:sp>
      <p:cxnSp>
        <p:nvCxnSpPr>
          <p:cNvPr id="114" name="Google Shape;114;p57"/>
          <p:cNvCxnSpPr>
            <a:endCxn id="113" idx="0"/>
          </p:cNvCxnSpPr>
          <p:nvPr/>
        </p:nvCxnSpPr>
        <p:spPr>
          <a:xfrm>
            <a:off x="6096000" y="1447271"/>
            <a:ext cx="0" cy="4974000"/>
          </a:xfrm>
          <a:prstGeom prst="straightConnector1">
            <a:avLst/>
          </a:prstGeom>
          <a:noFill/>
          <a:ln w="9525" cap="flat" cmpd="sng">
            <a:solidFill>
              <a:srgbClr val="A5A5A5">
                <a:alpha val="40000"/>
              </a:srgbClr>
            </a:solidFill>
            <a:prstDash val="solid"/>
            <a:miter lim="800000"/>
            <a:headEnd type="none" w="sm" len="sm"/>
            <a:tailEnd type="none" w="sm" len="sm"/>
          </a:ln>
        </p:spPr>
      </p:cxnSp>
      <p:sp>
        <p:nvSpPr>
          <p:cNvPr id="115" name="Google Shape;115;p57"/>
          <p:cNvSpPr txBox="1">
            <a:spLocks noGrp="1"/>
          </p:cNvSpPr>
          <p:nvPr>
            <p:ph type="sldNum" idx="12"/>
          </p:nvPr>
        </p:nvSpPr>
        <p:spPr>
          <a:xfrm>
            <a:off x="11073652" y="6459668"/>
            <a:ext cx="7305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116" name="Google Shape;116;p57"/>
          <p:cNvCxnSpPr/>
          <p:nvPr/>
        </p:nvCxnSpPr>
        <p:spPr>
          <a:xfrm rot="10800000">
            <a:off x="-72300" y="6421271"/>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sp>
        <p:nvSpPr>
          <p:cNvPr id="117" name="Google Shape;117;p57"/>
          <p:cNvSpPr txBox="1"/>
          <p:nvPr/>
        </p:nvSpPr>
        <p:spPr>
          <a:xfrm>
            <a:off x="5141259" y="6526835"/>
            <a:ext cx="1909500" cy="2307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a:ea typeface="Poppins"/>
                <a:cs typeface="Poppins"/>
                <a:sym typeface="Poppins"/>
              </a:rPr>
              <a:t>©2026 Moderne, Inc.</a:t>
            </a:r>
            <a:endParaRPr sz="900" b="0" i="0" u="none" strike="noStrike" cap="none">
              <a:solidFill>
                <a:srgbClr val="EFEEFE"/>
              </a:solidFill>
              <a:latin typeface="Poppins"/>
              <a:ea typeface="Poppins"/>
              <a:cs typeface="Poppins"/>
              <a:sym typeface="Poppins"/>
            </a:endParaRPr>
          </a:p>
        </p:txBody>
      </p:sp>
      <p:cxnSp>
        <p:nvCxnSpPr>
          <p:cNvPr id="118" name="Google Shape;118;p57"/>
          <p:cNvCxnSpPr/>
          <p:nvPr/>
        </p:nvCxnSpPr>
        <p:spPr>
          <a:xfrm rot="10800000">
            <a:off x="-72300" y="1445824"/>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pic>
        <p:nvPicPr>
          <p:cNvPr id="119" name="Google Shape;119;p57" descr="Shape&#10;&#10;Description automatically generated with medium confidence"/>
          <p:cNvPicPr preferRelativeResize="0"/>
          <p:nvPr/>
        </p:nvPicPr>
        <p:blipFill rotWithShape="1">
          <a:blip r:embed="rId2">
            <a:alphaModFix/>
          </a:blip>
          <a:srcRect r="81307" b="-14127"/>
          <a:stretch/>
        </p:blipFill>
        <p:spPr>
          <a:xfrm>
            <a:off x="11592089" y="272005"/>
            <a:ext cx="431021" cy="393513"/>
          </a:xfrm>
          <a:prstGeom prst="rect">
            <a:avLst/>
          </a:prstGeom>
          <a:noFill/>
          <a:ln>
            <a:noFill/>
          </a:ln>
        </p:spPr>
      </p:pic>
      <p:sp>
        <p:nvSpPr>
          <p:cNvPr id="120" name="Google Shape;120;p57"/>
          <p:cNvSpPr txBox="1">
            <a:spLocks noGrp="1"/>
          </p:cNvSpPr>
          <p:nvPr>
            <p:ph type="body" idx="1"/>
          </p:nvPr>
        </p:nvSpPr>
        <p:spPr>
          <a:xfrm>
            <a:off x="419944" y="2242490"/>
            <a:ext cx="4983900" cy="36153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chemeClr val="dk1"/>
              </a:buClr>
              <a:buSzPts val="1800"/>
              <a:buNone/>
              <a:defRPr sz="1800">
                <a:solidFill>
                  <a:schemeClr val="dk1"/>
                </a:solidFill>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1" name="Google Shape;121;p57"/>
          <p:cNvSpPr txBox="1">
            <a:spLocks noGrp="1"/>
          </p:cNvSpPr>
          <p:nvPr>
            <p:ph type="body" idx="2"/>
          </p:nvPr>
        </p:nvSpPr>
        <p:spPr>
          <a:xfrm>
            <a:off x="419944" y="2009207"/>
            <a:ext cx="2855100" cy="1830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rgbClr val="2E42FF"/>
              </a:buClr>
              <a:buSzPts val="1000"/>
              <a:buNone/>
              <a:defRPr sz="1000">
                <a:solidFill>
                  <a:srgbClr val="2E42FF"/>
                </a:solidFill>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2" name="Google Shape;122;p57"/>
          <p:cNvSpPr txBox="1">
            <a:spLocks noGrp="1"/>
          </p:cNvSpPr>
          <p:nvPr>
            <p:ph type="body" idx="3"/>
          </p:nvPr>
        </p:nvSpPr>
        <p:spPr>
          <a:xfrm>
            <a:off x="6760782" y="2242490"/>
            <a:ext cx="5011200" cy="3615300"/>
          </a:xfrm>
          <a:prstGeom prst="rect">
            <a:avLst/>
          </a:prstGeom>
          <a:noFill/>
          <a:ln>
            <a:noFill/>
          </a:ln>
        </p:spPr>
        <p:txBody>
          <a:bodyPr spcFirstLastPara="1" wrap="square" lIns="91425" tIns="45700" rIns="91425" bIns="45700" anchor="t" anchorCtr="0">
            <a:normAutofit/>
          </a:bodyPr>
          <a:lstStyle>
            <a:lvl1pPr marL="457200" lvl="0" indent="-317500" algn="l">
              <a:lnSpc>
                <a:spcPct val="100000"/>
              </a:lnSpc>
              <a:spcBef>
                <a:spcPts val="1000"/>
              </a:spcBef>
              <a:spcAft>
                <a:spcPts val="0"/>
              </a:spcAft>
              <a:buClr>
                <a:srgbClr val="2E42FF"/>
              </a:buClr>
              <a:buSzPts val="1400"/>
              <a:buFont typeface="Arial"/>
              <a:buChar char="•"/>
              <a:defRPr sz="1400">
                <a:solidFill>
                  <a:schemeClr val="dk1"/>
                </a:solidFill>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3" name="Google Shape;123;p57"/>
          <p:cNvSpPr txBox="1">
            <a:spLocks noGrp="1"/>
          </p:cNvSpPr>
          <p:nvPr>
            <p:ph type="body" idx="4"/>
          </p:nvPr>
        </p:nvSpPr>
        <p:spPr>
          <a:xfrm>
            <a:off x="523876" y="457384"/>
            <a:ext cx="7495800" cy="706200"/>
          </a:xfrm>
          <a:prstGeom prst="rect">
            <a:avLst/>
          </a:prstGeom>
          <a:noFill/>
          <a:ln>
            <a:noFill/>
          </a:ln>
        </p:spPr>
        <p:txBody>
          <a:bodyPr spcFirstLastPara="1" wrap="square" lIns="0" tIns="0" rIns="0" bIns="0" anchor="ctr" anchorCtr="0">
            <a:normAutofit/>
          </a:bodyPr>
          <a:lstStyle>
            <a:lvl1pPr marL="457200" lvl="0" indent="-228600" algn="l">
              <a:lnSpc>
                <a:spcPct val="100000"/>
              </a:lnSpc>
              <a:spcBef>
                <a:spcPts val="1000"/>
              </a:spcBef>
              <a:spcAft>
                <a:spcPts val="0"/>
              </a:spcAft>
              <a:buClr>
                <a:schemeClr val="dk1"/>
              </a:buClr>
              <a:buSzPts val="3000"/>
              <a:buNone/>
              <a:defRPr sz="3000">
                <a:solidFill>
                  <a:schemeClr val="dk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pic>
        <p:nvPicPr>
          <p:cNvPr id="124" name="Google Shape;124;p57" descr="A white letter on a black background&#10;&#10;AI-generated content may be incorrect."/>
          <p:cNvPicPr preferRelativeResize="0"/>
          <p:nvPr/>
        </p:nvPicPr>
        <p:blipFill rotWithShape="1">
          <a:blip r:embed="rId3">
            <a:alphaModFix/>
          </a:blip>
          <a:srcRect/>
          <a:stretch/>
        </p:blipFill>
        <p:spPr>
          <a:xfrm>
            <a:off x="387849" y="6522297"/>
            <a:ext cx="1300872" cy="229566"/>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36"/>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marR="0" lvl="0" algn="l" rtl="0">
              <a:lnSpc>
                <a:spcPct val="100000"/>
              </a:lnSpc>
              <a:spcBef>
                <a:spcPts val="0"/>
              </a:spcBef>
              <a:spcAft>
                <a:spcPts val="0"/>
              </a:spcAft>
              <a:buClr>
                <a:schemeClr val="dk1"/>
              </a:buClr>
              <a:buSzPts val="4400"/>
              <a:buFont typeface="Poppins"/>
              <a:buNone/>
              <a:defRPr sz="4400" b="0" i="0" u="none" strike="noStrike" cap="none">
                <a:solidFill>
                  <a:schemeClr val="dk1"/>
                </a:solidFill>
                <a:latin typeface="Poppins"/>
                <a:ea typeface="Poppins"/>
                <a:cs typeface="Poppins"/>
                <a:sym typeface="Poppi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36"/>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chemeClr val="dk1"/>
                </a:solidFill>
                <a:latin typeface="Poppins"/>
                <a:ea typeface="Poppins"/>
                <a:cs typeface="Poppins"/>
                <a:sym typeface="Poppins"/>
              </a:defRPr>
            </a:lvl1pPr>
            <a:lvl2pPr marL="914400" marR="0" lvl="1" indent="-381000" algn="l" rtl="0">
              <a:lnSpc>
                <a:spcPct val="100000"/>
              </a:lnSpc>
              <a:spcBef>
                <a:spcPts val="500"/>
              </a:spcBef>
              <a:spcAft>
                <a:spcPts val="0"/>
              </a:spcAft>
              <a:buClr>
                <a:schemeClr val="dk1"/>
              </a:buClr>
              <a:buSzPts val="2400"/>
              <a:buFont typeface="Arial"/>
              <a:buChar char="•"/>
              <a:defRPr sz="2400" b="0" i="0" u="none" strike="noStrike" cap="none">
                <a:solidFill>
                  <a:schemeClr val="dk1"/>
                </a:solidFill>
                <a:latin typeface="Poppins"/>
                <a:ea typeface="Poppins"/>
                <a:cs typeface="Poppins"/>
                <a:sym typeface="Poppins"/>
              </a:defRPr>
            </a:lvl2pPr>
            <a:lvl3pPr marL="1371600" marR="0" lvl="2" indent="-355600" algn="l" rtl="0">
              <a:lnSpc>
                <a:spcPct val="100000"/>
              </a:lnSpc>
              <a:spcBef>
                <a:spcPts val="500"/>
              </a:spcBef>
              <a:spcAft>
                <a:spcPts val="0"/>
              </a:spcAft>
              <a:buClr>
                <a:schemeClr val="dk1"/>
              </a:buClr>
              <a:buSzPts val="2000"/>
              <a:buFont typeface="Arial"/>
              <a:buChar char="•"/>
              <a:defRPr sz="2000" b="0" i="0" u="none" strike="noStrike" cap="none">
                <a:solidFill>
                  <a:schemeClr val="dk1"/>
                </a:solidFill>
                <a:latin typeface="Poppins"/>
                <a:ea typeface="Poppins"/>
                <a:cs typeface="Poppins"/>
                <a:sym typeface="Poppins"/>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Poppins"/>
                <a:ea typeface="Poppins"/>
                <a:cs typeface="Poppins"/>
                <a:sym typeface="Poppins"/>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Poppins"/>
                <a:ea typeface="Poppins"/>
                <a:cs typeface="Poppins"/>
                <a:sym typeface="Poppins"/>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36"/>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98F"/>
                </a:solidFill>
                <a:latin typeface="Poppins"/>
                <a:ea typeface="Poppins"/>
                <a:cs typeface="Poppins"/>
                <a:sym typeface="Poppi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36"/>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98F"/>
                </a:solidFill>
                <a:latin typeface="Poppins"/>
                <a:ea typeface="Poppins"/>
                <a:cs typeface="Poppins"/>
                <a:sym typeface="Poppi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36"/>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2" r:id="rId3"/>
    <p:sldLayoutId id="2147483653" r:id="rId4"/>
    <p:sldLayoutId id="2147483654" r:id="rId5"/>
    <p:sldLayoutId id="2147483655" r:id="rId6"/>
    <p:sldLayoutId id="2147483656" r:id="rId7"/>
    <p:sldLayoutId id="2147483657" r:id="rId8"/>
    <p:sldLayoutId id="2147483658"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 Id="rId3"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sp>
        <p:nvSpPr>
          <p:cNvPr id="129" name="Google Shape;129;p1"/>
          <p:cNvSpPr txBox="1">
            <a:spLocks noGrp="1"/>
          </p:cNvSpPr>
          <p:nvPr>
            <p:ph type="body" idx="1"/>
          </p:nvPr>
        </p:nvSpPr>
        <p:spPr>
          <a:xfrm>
            <a:off x="523875" y="2907370"/>
            <a:ext cx="4084702" cy="1946700"/>
          </a:xfrm>
          <a:prstGeom prst="rect">
            <a:avLst/>
          </a:prstGeom>
          <a:noFill/>
          <a:ln>
            <a:noFill/>
          </a:ln>
        </p:spPr>
        <p:txBody>
          <a:bodyPr spcFirstLastPara="1" wrap="square" lIns="0" tIns="0" rIns="0" bIns="0" anchor="t" anchorCtr="0">
            <a:noAutofit/>
          </a:bodyPr>
          <a:lstStyle/>
          <a:p>
            <a:pPr marL="0" lvl="0" indent="0" algn="l" rtl="0">
              <a:lnSpc>
                <a:spcPct val="100000"/>
              </a:lnSpc>
              <a:spcBef>
                <a:spcPts val="0"/>
              </a:spcBef>
              <a:spcAft>
                <a:spcPts val="0"/>
              </a:spcAft>
              <a:buSzPts val="3000"/>
              <a:buNone/>
            </a:pPr>
            <a:r>
              <a:rPr lang="en-US" sz="3600" dirty="0"/>
              <a:t>{{Customer}} and Moderne: estate-wide transformation and analysis</a:t>
            </a:r>
            <a:endParaRPr sz="3600" dirty="0"/>
          </a:p>
        </p:txBody>
      </p:sp>
      <p:sp>
        <p:nvSpPr>
          <p:cNvPr id="131" name="Google Shape;131;p1"/>
          <p:cNvSpPr txBox="1">
            <a:spLocks noGrp="1"/>
          </p:cNvSpPr>
          <p:nvPr>
            <p:ph type="body" idx="3"/>
          </p:nvPr>
        </p:nvSpPr>
        <p:spPr>
          <a:xfrm>
            <a:off x="523876" y="6012180"/>
            <a:ext cx="4388660" cy="528207"/>
          </a:xfrm>
          <a:prstGeom prst="rect">
            <a:avLst/>
          </a:prstGeom>
          <a:noFill/>
          <a:ln>
            <a:noFill/>
          </a:ln>
        </p:spPr>
        <p:txBody>
          <a:bodyPr spcFirstLastPara="1" wrap="square" lIns="0" tIns="0" rIns="0" bIns="0" anchor="t" anchorCtr="0">
            <a:normAutofit/>
          </a:bodyPr>
          <a:lstStyle/>
          <a:p>
            <a:pPr marL="0" lvl="0" indent="0" algn="l" rtl="0">
              <a:lnSpc>
                <a:spcPct val="100000"/>
              </a:lnSpc>
              <a:spcBef>
                <a:spcPts val="0"/>
              </a:spcBef>
              <a:spcAft>
                <a:spcPts val="0"/>
              </a:spcAft>
              <a:buClr>
                <a:schemeClr val="lt1"/>
              </a:buClr>
              <a:buSzPts val="1200"/>
              <a:buNone/>
            </a:pPr>
            <a:r>
              <a:rPr lang="en-US" dirty="0"/>
              <a:t>{{Month Year}}</a:t>
            </a:r>
            <a:endParaRPr dirty="0"/>
          </a:p>
        </p:txBody>
      </p:sp>
      <p:grpSp>
        <p:nvGrpSpPr>
          <p:cNvPr id="132" name="Google Shape;132;p1"/>
          <p:cNvGrpSpPr/>
          <p:nvPr/>
        </p:nvGrpSpPr>
        <p:grpSpPr>
          <a:xfrm>
            <a:off x="10042748" y="306453"/>
            <a:ext cx="2034531" cy="424628"/>
            <a:chOff x="5453618" y="-754380"/>
            <a:chExt cx="2034531" cy="424628"/>
          </a:xfrm>
        </p:grpSpPr>
        <p:sp>
          <p:nvSpPr>
            <p:cNvPr id="133" name="Google Shape;133;p1"/>
            <p:cNvSpPr/>
            <p:nvPr/>
          </p:nvSpPr>
          <p:spPr>
            <a:xfrm>
              <a:off x="5649428" y="-754380"/>
              <a:ext cx="1642912" cy="424628"/>
            </a:xfrm>
            <a:prstGeom prst="roundRect">
              <a:avLst>
                <a:gd name="adj" fmla="val 50000"/>
              </a:avLst>
            </a:prstGeom>
            <a:solidFill>
              <a:schemeClr val="dk1"/>
            </a:solidFill>
            <a:ln w="254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134" name="Google Shape;134;p1"/>
            <p:cNvSpPr txBox="1"/>
            <p:nvPr/>
          </p:nvSpPr>
          <p:spPr>
            <a:xfrm>
              <a:off x="5453618" y="-711323"/>
              <a:ext cx="2034531" cy="338514"/>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600" b="1" i="0" u="none" strike="noStrike" cap="none">
                  <a:solidFill>
                    <a:schemeClr val="lt1"/>
                  </a:solidFill>
                  <a:latin typeface="Poppins SemiBold"/>
                  <a:ea typeface="Poppins SemiBold"/>
                  <a:cs typeface="Poppins SemiBold"/>
                  <a:sym typeface="Poppins SemiBold"/>
                </a:rPr>
                <a:t>moderne.ai</a:t>
              </a:r>
              <a:endParaRPr sz="1200" b="1" i="0" u="none" strike="noStrike" cap="none">
                <a:solidFill>
                  <a:schemeClr val="lt1"/>
                </a:solidFill>
                <a:latin typeface="Poppins SemiBold"/>
                <a:ea typeface="Poppins SemiBold"/>
                <a:cs typeface="Poppins SemiBold"/>
                <a:sym typeface="Poppins SemiBold"/>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{{Customer}}'s estate in Moderne is {{N}} repositories and {{LOC}} lines of code, {{P}}% of it {{language}}.</a:t>
            </a:r>
            <a:endParaRPr sz="3200" dirty="0"/>
          </a:p>
        </p:txBody>
      </p:sp>
      <p:graphicFrame>
        <p:nvGraphicFramePr>
          <p:cNvPr id="8" name="Results table"/>
          <p:cNvGraphicFramePr>
            <a:graphicFrameLocks noGrp="1"/>
          </p:cNvGraphicFramePr>
          <p:nvPr/>
        </p:nvGraphicFramePr>
        <p:xfrm>
          <a:off x="1069848" y="2377440"/>
          <a:ext cx="10058400" cy="2286000"/>
        </p:xfrm>
        <a:graphic>
          <a:graphicData uri="http://schemas.openxmlformats.org/drawingml/2006/table">
            <a:tbl>
              <a:tblPr firstRow="1" bandRow="1">
                <a:tableStyleId>{5C22544A-7EE6-4342-B048-85BDC9FD1C3A}</a:tableStyleId>
              </a:tblPr>
              <a:tblGrid>
                <a:gridCol w="3657600"/>
                <a:gridCol w="2011680"/>
                <a:gridCol w="2194560"/>
                <a:gridCol w="2194560"/>
              </a:tblGrid>
              <a:tr h="457200">
                <a:tc>
                  <a:txBody>
                    <a:bodyPr/>
                    <a:lstStyle/>
                    <a:p>
                      <a:r>
                        <a:rPr sz="1400" b="1"/>
                        <a:t>Language</a:t>
                      </a:r>
                    </a:p>
                  </a:txBody>
                  <a:tcPr/>
                </a:tc>
                <a:tc>
                  <a:txBody>
                    <a:bodyPr/>
                    <a:lstStyle/>
                    <a:p>
                      <a:r>
                        <a:rPr sz="1400" b="1"/>
                        <a:t>Repositories</a:t>
                      </a:r>
                    </a:p>
                  </a:txBody>
                  <a:tcPr/>
                </a:tc>
                <a:tc>
                  <a:txBody>
                    <a:bodyPr/>
                    <a:lstStyle/>
                    <a:p>
                      <a:r>
                        <a:rPr sz="1400" b="1"/>
                        <a:t>Lines of code</a:t>
                      </a:r>
                    </a:p>
                  </a:txBody>
                  <a:tcPr/>
                </a:tc>
                <a:tc>
                  <a:txBody>
                    <a:bodyPr/>
                    <a:lstStyle/>
                    <a:p>
                      <a:r>
                        <a:rPr sz="1400" b="1"/>
                        <a:t>Share of the estate</a:t>
                      </a:r>
                    </a:p>
                  </a:txBody>
                  <a:tcPr/>
                </a:tc>
              </a:tr>
              <a:tr h="457200">
                <a:tc>
                  <a:txBody>
                    <a:bodyPr/>
                    <a:lstStyle/>
                    <a:p>
                      <a:r>
                        <a:rPr sz="1400"/>
                        <a:t>{{Java}}</a:t>
                      </a:r>
                    </a:p>
                  </a:txBody>
                  <a:tcPr/>
                </a:tc>
                <a:tc>
                  <a:txBody>
                    <a:bodyPr/>
                    <a:lstStyle/>
                    <a:p>
                      <a:r>
                        <a:rPr sz="1400"/>
                        <a:t>{{n}}</a:t>
                      </a:r>
                    </a:p>
                  </a:txBody>
                  <a:tcPr/>
                </a:tc>
                <a:tc>
                  <a:txBody>
                    <a:bodyPr/>
                    <a:lstStyle/>
                    <a:p>
                      <a:r>
                        <a:rPr sz="1400"/>
                        <a:t>{{lines}}</a:t>
                      </a:r>
                    </a:p>
                  </a:txBody>
                  <a:tcPr/>
                </a:tc>
                <a:tc>
                  <a:txBody>
                    <a:bodyPr/>
                    <a:lstStyle/>
                    <a:p>
                      <a:r>
                        <a:rPr sz="1400"/>
                        <a:t>{{p}}%</a:t>
                      </a:r>
                    </a:p>
                  </a:txBody>
                  <a:tcPr/>
                </a:tc>
              </a:tr>
              <a:tr h="457200">
                <a:tc>
                  <a:txBody>
                    <a:bodyPr/>
                    <a:lstStyle/>
                    <a:p>
                      <a:r>
                        <a:rPr sz="1400"/>
                        <a:t>{{Kotlin}}</a:t>
                      </a:r>
                    </a:p>
                  </a:txBody>
                  <a:tcPr/>
                </a:tc>
                <a:tc>
                  <a:txBody>
                    <a:bodyPr/>
                    <a:lstStyle/>
                    <a:p>
                      <a:r>
                        <a:rPr sz="1400"/>
                        <a:t>{{n}}</a:t>
                      </a:r>
                    </a:p>
                  </a:txBody>
                  <a:tcPr/>
                </a:tc>
                <a:tc>
                  <a:txBody>
                    <a:bodyPr/>
                    <a:lstStyle/>
                    <a:p>
                      <a:r>
                        <a:rPr sz="1400"/>
                        <a:t>{{lines}}</a:t>
                      </a:r>
                    </a:p>
                  </a:txBody>
                  <a:tcPr/>
                </a:tc>
                <a:tc>
                  <a:txBody>
                    <a:bodyPr/>
                    <a:lstStyle/>
                    <a:p>
                      <a:r>
                        <a:rPr sz="1400"/>
                        <a:t>{{p}}%</a:t>
                      </a:r>
                    </a:p>
                  </a:txBody>
                  <a:tcPr/>
                </a:tc>
              </a:tr>
              <a:tr h="457200">
                <a:tc>
                  <a:txBody>
                    <a:bodyPr/>
                    <a:lstStyle/>
                    <a:p>
                      <a:r>
                        <a:rPr sz="1400"/>
                        <a:t>{{YAML and other data formats}}</a:t>
                      </a:r>
                    </a:p>
                  </a:txBody>
                  <a:tcPr/>
                </a:tc>
                <a:tc>
                  <a:txBody>
                    <a:bodyPr/>
                    <a:lstStyle/>
                    <a:p>
                      <a:r>
                        <a:rPr sz="1400"/>
                        <a:t>{{n}}</a:t>
                      </a:r>
                    </a:p>
                  </a:txBody>
                  <a:tcPr/>
                </a:tc>
                <a:tc>
                  <a:txBody>
                    <a:bodyPr/>
                    <a:lstStyle/>
                    <a:p>
                      <a:r>
                        <a:rPr sz="1400"/>
                        <a:t>{{lines}}</a:t>
                      </a:r>
                    </a:p>
                  </a:txBody>
                  <a:tcPr/>
                </a:tc>
                <a:tc>
                  <a:txBody>
                    <a:bodyPr/>
                    <a:lstStyle/>
                    <a:p>
                      <a:r>
                        <a:rPr sz="1400"/>
                        <a:t>{{p}}%</a:t>
                      </a:r>
                    </a:p>
                  </a:txBody>
                  <a:tcPr/>
                </a:tc>
              </a:tr>
              <a:tr h="457200">
                <a:tc>
                  <a:txBody>
                    <a:bodyPr/>
                    <a:lstStyle/>
                    <a:p>
                      <a:r>
                        <a:rPr sz="1400"/>
                        <a:t>All</a:t>
                      </a:r>
                    </a:p>
                  </a:txBody>
                  <a:tcPr/>
                </a:tc>
                <a:tc>
                  <a:txBody>
                    <a:bodyPr/>
                    <a:lstStyle/>
                    <a:p>
                      <a:r>
                        <a:rPr sz="1400"/>
                        <a:t>{{N}}</a:t>
                      </a:r>
                    </a:p>
                  </a:txBody>
                  <a:tcPr/>
                </a:tc>
                <a:tc>
                  <a:txBody>
                    <a:bodyPr/>
                    <a:lstStyle/>
                    <a:p>
                      <a:r>
                        <a:rPr sz="1400"/>
                        <a:t>{{LOC}}</a:t>
                      </a:r>
                    </a:p>
                  </a:txBody>
                  <a:tcPr/>
                </a:tc>
                <a:tc>
                  <a:txBody>
                    <a:bodyPr/>
                    <a:lstStyle/>
                    <a:p>
                      <a:r>
                        <a:rPr sz="1400"/>
                        <a:t>100%</a:t>
                      </a:r>
                    </a:p>
                  </a:txBody>
                  <a:tcPr/>
                </a:tc>
              </a:tr>
            </a:tbl>
          </a:graphicData>
        </a:graphic>
      </p:graphicFrame>
    </p:spTree>
    <p:extLst>
      <p:ext uri="{BB962C8B-B14F-4D97-AF65-F5344CB8AC3E}">
        <p14:creationId xmlns:p14="http://schemas.microsoft.com/office/powerpoint/2010/main" val="25590627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2800" dirty="0"/>
              <a:t>A change landed in 80% of {{N}} repositories moves 80% of the estate; one repository finished end to end moves {{100/N}}%.</a:t>
            </a:r>
            <a:endParaRPr sz="3200" dirty="0"/>
          </a:p>
        </p:txBody>
      </p:sp>
      <p:pic>
        <p:nvPicPr>
          <p:cNvPr id="8" name="Picture 7" descr="horizontal-moderne-way.png"/>
          <p:cNvPicPr>
            <a:picLocks noChangeAspect="1"/>
          </p:cNvPicPr>
          <p:nvPr/>
        </p:nvPicPr>
        <p:blipFill>
          <a:blip r:embed="rId3"/>
          <a:stretch>
            <a:fillRect/>
          </a:stretch>
        </p:blipFill>
        <p:spPr>
          <a:xfrm>
            <a:off x="1066800" y="2377440"/>
            <a:ext cx="10058400" cy="2490421"/>
          </a:xfrm>
          <a:prstGeom prst="rect">
            <a:avLst/>
          </a:prstGeom>
        </p:spPr>
      </p:pic>
    </p:spTree>
    <p:extLst>
      <p:ext uri="{BB962C8B-B14F-4D97-AF65-F5344CB8AC3E}">
        <p14:creationId xmlns:p14="http://schemas.microsoft.com/office/powerpoint/2010/main" val="25590627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2B820-B400-87CA-F4F1-8DBB9BBB9DD8}"/>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55114D4-AE22-C71C-C6EE-58AC1CCF491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10</a:t>
            </a:fld>
            <a:endParaRPr lang="en-US"/>
          </a:p>
        </p:txBody>
      </p:sp>
      <p:sp>
        <p:nvSpPr>
          <p:cNvPr id="7" name="Google Shape;141;g3cab610c926_0_105">
            <a:extLst>
              <a:ext uri="{FF2B5EF4-FFF2-40B4-BE49-F238E27FC236}">
                <a16:creationId xmlns:a16="http://schemas.microsoft.com/office/drawing/2014/main" id="{D3D41628-A170-85F9-11B7-F4F8A430E253}"/>
              </a:ext>
            </a:extLst>
          </p:cNvPr>
          <p:cNvSpPr txBox="1">
            <a:spLocks noGrp="1"/>
          </p:cNvSpPr>
          <p:nvPr>
            <p:ph type="body" idx="1"/>
          </p:nvPr>
        </p:nvSpPr>
        <p:spPr>
          <a:xfrm>
            <a:off x="583475" y="710869"/>
            <a:ext cx="9424361" cy="1391397"/>
          </a:xfrm>
          <a:prstGeom prst="rect">
            <a:avLst/>
          </a:prstGeom>
          <a:noFill/>
          <a:ln>
            <a:noFill/>
          </a:ln>
        </p:spPr>
        <p:txBody>
          <a:bodyPr spcFirstLastPara="1" wrap="square" lIns="0" tIns="0" rIns="0" bIns="0" anchor="ctr" anchorCtr="0">
            <a:noAutofit/>
          </a:bodyPr>
          <a:lstStyle/>
          <a:p>
            <a:r>
              <a:rPr lang="en-US" sz="2800" dirty="0">
                <a:latin typeface="Poppins" pitchFamily="2" charset="77"/>
                <a:cs typeface="Poppins" pitchFamily="2" charset="77"/>
              </a:rPr>
              <a:t>Determinism sits between the agent and the code it modifies: the agent chooses or writes a recipe, and the recipe makes the change.</a:t>
            </a:r>
          </a:p>
        </p:txBody>
      </p:sp>
      <p:pic>
        <p:nvPicPr>
          <p:cNvPr id="3" name="Picture 2">
            <a:extLst>
              <a:ext uri="{FF2B5EF4-FFF2-40B4-BE49-F238E27FC236}">
                <a16:creationId xmlns:a16="http://schemas.microsoft.com/office/drawing/2014/main" id="{3738FEE9-3AE6-DDCA-97E7-0C714B083B07}"/>
              </a:ext>
            </a:extLst>
          </p:cNvPr>
          <p:cNvPicPr>
            <a:picLocks noChangeAspect="1"/>
          </p:cNvPicPr>
          <p:nvPr/>
        </p:nvPicPr>
        <p:blipFill>
          <a:blip r:embed="rId2"/>
          <a:stretch>
            <a:fillRect/>
          </a:stretch>
        </p:blipFill>
        <p:spPr>
          <a:xfrm>
            <a:off x="1440403" y="2343663"/>
            <a:ext cx="9311194" cy="1868200"/>
          </a:xfrm>
          <a:prstGeom prst="rect">
            <a:avLst/>
          </a:prstGeom>
        </p:spPr>
      </p:pic>
    </p:spTree>
    <p:extLst>
      <p:ext uri="{BB962C8B-B14F-4D97-AF65-F5344CB8AC3E}">
        <p14:creationId xmlns:p14="http://schemas.microsoft.com/office/powerpoint/2010/main" val="9861066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F445D6-7C15-950B-ADFD-2EDE52A5BE9A}"/>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BF0E7D0-ECE9-7537-30E0-180C5CDAF67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15</a:t>
            </a:fld>
            <a:endParaRPr lang="en-US"/>
          </a:p>
        </p:txBody>
      </p:sp>
      <p:sp>
        <p:nvSpPr>
          <p:cNvPr id="3" name="Text Placeholder 2">
            <a:extLst>
              <a:ext uri="{FF2B5EF4-FFF2-40B4-BE49-F238E27FC236}">
                <a16:creationId xmlns:a16="http://schemas.microsoft.com/office/drawing/2014/main" id="{9E4A611C-AD06-D800-3EF5-5084D72BBDB8}"/>
              </a:ext>
            </a:extLst>
          </p:cNvPr>
          <p:cNvSpPr>
            <a:spLocks noGrp="1"/>
          </p:cNvSpPr>
          <p:nvPr>
            <p:ph type="body" idx="1"/>
          </p:nvPr>
        </p:nvSpPr>
        <p:spPr>
          <a:xfrm>
            <a:off x="523876" y="457383"/>
            <a:ext cx="10013088" cy="1311595"/>
          </a:xfrm>
        </p:spPr>
        <p:txBody>
          <a:bodyPr>
            <a:normAutofit/>
          </a:bodyPr>
          <a:lstStyle/>
          <a:p>
            <a:r>
              <a:rPr lang="en-US" dirty="0"/>
              <a:t>One command starts an agent on the whole organization, with nothing cloned.</a:t>
            </a:r>
          </a:p>
        </p:txBody>
      </p:sp>
      <p:sp>
        <p:nvSpPr>
          <p:cNvPr id="4" name="TextBox 3">
            <a:extLst>
              <a:ext uri="{FF2B5EF4-FFF2-40B4-BE49-F238E27FC236}">
                <a16:creationId xmlns:a16="http://schemas.microsoft.com/office/drawing/2014/main" id="{B6170CDB-BADF-A95E-A87F-4A4AE53D899D}"/>
              </a:ext>
            </a:extLst>
          </p:cNvPr>
          <p:cNvSpPr txBox="1"/>
          <p:nvPr/>
        </p:nvSpPr>
        <p:spPr>
          <a:xfrm>
            <a:off x="293140" y="2834640"/>
            <a:ext cx="5760720" cy="1280160"/>
          </a:xfrm>
          <a:prstGeom prst="rect">
            <a:avLst/>
          </a:prstGeom>
          <a:noFill/>
        </p:spPr>
        <p:txBody>
          <a:bodyPr wrap="none" rtlCol="0">
            <a:spAutoFit/>
          </a:bodyPr>
          <a:lstStyle/>
          <a:p>
            <a:r>
              <a:rPr lang="en-US" sz="1800" dirty="0">
                <a:latin typeface="Courier New" panose="02000009000000000000" pitchFamily="49" charset="77"/>
                <a:ea typeface="GeistMono NF" panose="02000009000000000000" pitchFamily="49" charset="77"/>
                <a:cs typeface="GeistMono NF" panose="02000009000000000000" pitchFamily="49" charset="77"/>
              </a:rPr>
              <a:t>mod copilot chat ./pov \</a:t>
            </a:r>
          </a:p>
          <a:p>
            <a:r>
              <a:rPr sz="1800">
                <a:latin typeface="Courier New"/>
              </a:rPr>
              <a:t>  --org "{{Organization}}" \</a:t>
            </a:r>
          </a:p>
          <a:p>
            <a:r>
              <a:rPr sz="1800">
                <a:latin typeface="Courier New"/>
              </a:rPr>
              <a:t>  --prompt "Run the proof of value..."</a:t>
            </a:r>
          </a:p>
        </p:txBody>
      </p:sp>
      <p:sp>
        <p:nvSpPr>
          <p:cNvPr id="6" name="Right Arrow 5">
            <a:extLst>
              <a:ext uri="{FF2B5EF4-FFF2-40B4-BE49-F238E27FC236}">
                <a16:creationId xmlns:a16="http://schemas.microsoft.com/office/drawing/2014/main" id="{830DB012-12C0-FA76-A127-44DE6B66BBC1}"/>
              </a:ext>
            </a:extLst>
          </p:cNvPr>
          <p:cNvSpPr/>
          <p:nvPr/>
        </p:nvSpPr>
        <p:spPr>
          <a:xfrm>
            <a:off x="4395342" y="4332403"/>
            <a:ext cx="1135078" cy="592021"/>
          </a:xfrm>
          <a:prstGeom prst="rightArrow">
            <a:avLst/>
          </a:prstGeom>
          <a:solidFill>
            <a:schemeClr val="accent2"/>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Screenshot placeholder"/>
          <p:cNvSpPr/>
          <p:nvPr/>
        </p:nvSpPr>
        <p:spPr>
          <a:xfrm>
            <a:off x="5443670" y="1925649"/>
            <a:ext cx="6679963" cy="4168357"/>
          </a:xfrm>
          <a:prstGeom prst="roundRect">
            <a:avLst>
              <a:gd name="adj" fmla="val 3000"/>
            </a:avLst>
          </a:prstGeom>
          <a:solidFill>
            <a:srgbClr val="F2F4F8"/>
          </a:solidFill>
          <a:ln w="19050">
            <a:solidFill>
              <a:srgbClr val="9AA3B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5B6375"/>
                </a:solidFill>
              </a:rPr>
              <a:t>{{screenshot: the agent's first turn, where it reaches for mod instead of the files}}</a:t>
            </a:r>
          </a:p>
        </p:txBody>
      </p:sp>
    </p:spTree>
    <p:extLst>
      <p:ext uri="{BB962C8B-B14F-4D97-AF65-F5344CB8AC3E}">
        <p14:creationId xmlns:p14="http://schemas.microsoft.com/office/powerpoint/2010/main" val="27417358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2800" dirty="0"/>
              <a:t>{{A question about the code}}, answered across {{N}} repositories in {{seconds}} seconds: {{count}} matches in {{n}} repositories.</a:t>
            </a:r>
            <a:endParaRPr sz="3200" dirty="0"/>
          </a:p>
        </p:txBody>
      </p:sp>
      <p:sp>
        <p:nvSpPr>
          <p:cNvPr id="8" name="Screenshot placeholder"/>
          <p:cNvSpPr/>
          <p:nvPr/>
        </p:nvSpPr>
        <p:spPr>
          <a:xfrm>
            <a:off x="1069848" y="2377440"/>
            <a:ext cx="10058400" cy="3749039"/>
          </a:xfrm>
          <a:prstGeom prst="roundRect">
            <a:avLst>
              <a:gd name="adj" fmla="val 3000"/>
            </a:avLst>
          </a:prstGeom>
          <a:solidFill>
            <a:srgbClr val="F2F4F8"/>
          </a:solidFill>
          <a:ln w="19050">
            <a:solidFill>
              <a:srgbClr val="9AA3B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5B6375"/>
                </a:solidFill>
              </a:rPr>
              <a:t>{{screenshot: the search and its summary, from the terminal or from Moderne's code search page}}</a:t>
            </a:r>
          </a:p>
        </p:txBody>
      </p:sp>
    </p:spTree>
    <p:extLst>
      <p:ext uri="{BB962C8B-B14F-4D97-AF65-F5344CB8AC3E}">
        <p14:creationId xmlns:p14="http://schemas.microsoft.com/office/powerpoint/2010/main" val="25590627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2800" dirty="0"/>
              <a:t>One recipe run changed {{files}} files in {{n}} of {{N}} repositories in {{duration}}, and left the {{N-n}} that were already right alone.</a:t>
            </a:r>
            <a:endParaRPr sz="3200" dirty="0"/>
          </a:p>
        </p:txBody>
      </p:sp>
      <p:sp>
        <p:nvSpPr>
          <p:cNvPr id="8" name="Screenshot placeholder"/>
          <p:cNvSpPr/>
          <p:nvPr/>
        </p:nvSpPr>
        <p:spPr>
          <a:xfrm>
            <a:off x="1069848" y="2377440"/>
            <a:ext cx="10058400" cy="3749039"/>
          </a:xfrm>
          <a:prstGeom prst="roundRect">
            <a:avLst>
              <a:gd name="adj" fmla="val 3000"/>
            </a:avLst>
          </a:prstGeom>
          <a:solidFill>
            <a:srgbClr val="F2F4F8"/>
          </a:solidFill>
          <a:ln w="19050">
            <a:solidFill>
              <a:srgbClr val="9AA3B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5B6375"/>
                </a:solidFill>
              </a:rPr>
              <a:t>{{screenshot: the run's result in Moderne, or the terminal summary of mod run}}</a:t>
            </a:r>
          </a:p>
        </p:txBody>
      </p:sp>
    </p:spTree>
    <p:extLst>
      <p:ext uri="{BB962C8B-B14F-4D97-AF65-F5344CB8AC3E}">
        <p14:creationId xmlns:p14="http://schemas.microsoft.com/office/powerpoint/2010/main" val="25590627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2800" dirty="0"/>
              <a:t>{{k}} of {{n}} changed repositories built and passed their own tests; the agent fixed the recipe for the {{r}} that did not, and ran it again everywhere.</a:t>
            </a:r>
            <a:endParaRPr sz="3200" dirty="0"/>
          </a:p>
        </p:txBody>
      </p:sp>
      <p:sp>
        <p:nvSpPr>
          <p:cNvPr id="8" name="Screenshot placeholder"/>
          <p:cNvSpPr/>
          <p:nvPr/>
        </p:nvSpPr>
        <p:spPr>
          <a:xfrm>
            <a:off x="1069848" y="2377440"/>
            <a:ext cx="10058400" cy="3749039"/>
          </a:xfrm>
          <a:prstGeom prst="roundRect">
            <a:avLst>
              <a:gd name="adj" fmla="val 3000"/>
            </a:avLst>
          </a:prstGeom>
          <a:solidFill>
            <a:srgbClr val="F2F4F8"/>
          </a:solidFill>
          <a:ln w="19050">
            <a:solidFill>
              <a:srgbClr val="9AA3B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5B6375"/>
                </a:solidFill>
              </a:rPr>
              <a:t>{{screenshot: the per-repository verification table from the session, before and after the change}}</a:t>
            </a:r>
          </a:p>
        </p:txBody>
      </p:sp>
    </p:spTree>
    <p:extLst>
      <p:ext uri="{BB962C8B-B14F-4D97-AF65-F5344CB8AC3E}">
        <p14:creationId xmlns:p14="http://schemas.microsoft.com/office/powerpoint/2010/main" val="25590627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What no recipe covered became {{w}} new recipes rather than hand edits, so the next run covers it everywhere.</a:t>
            </a:r>
            <a:endParaRPr sz="3200" dirty="0"/>
          </a:p>
        </p:txBody>
      </p:sp>
      <p:graphicFrame>
        <p:nvGraphicFramePr>
          <p:cNvPr id="8" name="Results table"/>
          <p:cNvGraphicFramePr>
            <a:graphicFrameLocks noGrp="1"/>
          </p:cNvGraphicFramePr>
          <p:nvPr/>
        </p:nvGraphicFramePr>
        <p:xfrm>
          <a:off x="1069848" y="2377440"/>
          <a:ext cx="10058400" cy="1828800"/>
        </p:xfrm>
        <a:graphic>
          <a:graphicData uri="http://schemas.openxmlformats.org/drawingml/2006/table">
            <a:tbl>
              <a:tblPr firstRow="1" bandRow="1">
                <a:tableStyleId>{5C22544A-7EE6-4342-B048-85BDC9FD1C3A}</a:tableStyleId>
              </a:tblPr>
              <a:tblGrid>
                <a:gridCol w="3291840"/>
                <a:gridCol w="4572000"/>
                <a:gridCol w="2194560"/>
              </a:tblGrid>
              <a:tr h="457200">
                <a:tc>
                  <a:txBody>
                    <a:bodyPr/>
                    <a:lstStyle/>
                    <a:p>
                      <a:r>
                        <a:rPr sz="1400" b="1"/>
                        <a:t>Recipe</a:t>
                      </a:r>
                    </a:p>
                  </a:txBody>
                  <a:tcPr/>
                </a:tc>
                <a:tc>
                  <a:txBody>
                    <a:bodyPr/>
                    <a:lstStyle/>
                    <a:p>
                      <a:r>
                        <a:rPr sz="1400" b="1"/>
                        <a:t>What it does</a:t>
                      </a:r>
                    </a:p>
                  </a:txBody>
                  <a:tcPr/>
                </a:tc>
                <a:tc>
                  <a:txBody>
                    <a:bodyPr/>
                    <a:lstStyle/>
                    <a:p>
                      <a:r>
                        <a:rPr sz="1400" b="1"/>
                        <a:t>Repositories it reached</a:t>
                      </a:r>
                    </a:p>
                  </a:txBody>
                  <a:tcPr/>
                </a:tc>
              </a:tr>
              <a:tr h="457200">
                <a:tc>
                  <a:txBody>
                    <a:bodyPr/>
                    <a:lstStyle/>
                    <a:p>
                      <a:r>
                        <a:rPr sz="1400"/>
                        <a:t>{{org.example.FixOne}}</a:t>
                      </a:r>
                    </a:p>
                  </a:txBody>
                  <a:tcPr/>
                </a:tc>
                <a:tc>
                  <a:txBody>
                    <a:bodyPr/>
                    <a:lstStyle/>
                    <a:p>
                      <a:r>
                        <a:rPr sz="1400"/>
                        <a:t>{{one sentence}}</a:t>
                      </a:r>
                    </a:p>
                  </a:txBody>
                  <a:tcPr/>
                </a:tc>
                <a:tc>
                  <a:txBody>
                    <a:bodyPr/>
                    <a:lstStyle/>
                    <a:p>
                      <a:r>
                        <a:rPr sz="1400"/>
                        <a:t>{{n}} of {{N}}</a:t>
                      </a:r>
                    </a:p>
                  </a:txBody>
                  <a:tcPr/>
                </a:tc>
              </a:tr>
              <a:tr h="457200">
                <a:tc>
                  <a:txBody>
                    <a:bodyPr/>
                    <a:lstStyle/>
                    <a:p>
                      <a:r>
                        <a:rPr sz="1400"/>
                        <a:t>{{org.example.FixTwo}}</a:t>
                      </a:r>
                    </a:p>
                  </a:txBody>
                  <a:tcPr/>
                </a:tc>
                <a:tc>
                  <a:txBody>
                    <a:bodyPr/>
                    <a:lstStyle/>
                    <a:p>
                      <a:r>
                        <a:rPr sz="1400"/>
                        <a:t>{{one sentence}}</a:t>
                      </a:r>
                    </a:p>
                  </a:txBody>
                  <a:tcPr/>
                </a:tc>
                <a:tc>
                  <a:txBody>
                    <a:bodyPr/>
                    <a:lstStyle/>
                    <a:p>
                      <a:r>
                        <a:rPr sz="1400"/>
                        <a:t>{{n}} of {{N}}</a:t>
                      </a:r>
                    </a:p>
                  </a:txBody>
                  <a:tcPr/>
                </a:tc>
              </a:tr>
              <a:tr h="457200">
                <a:tc>
                  <a:txBody>
                    <a:bodyPr/>
                    <a:lstStyle/>
                    <a:p>
                      <a:r>
                        <a:rPr sz="1400"/>
                        <a:t>{{org.example.FixThree}}</a:t>
                      </a:r>
                    </a:p>
                  </a:txBody>
                  <a:tcPr/>
                </a:tc>
                <a:tc>
                  <a:txBody>
                    <a:bodyPr/>
                    <a:lstStyle/>
                    <a:p>
                      <a:r>
                        <a:rPr sz="1400"/>
                        <a:t>{{one sentence}}</a:t>
                      </a:r>
                    </a:p>
                  </a:txBody>
                  <a:tcPr/>
                </a:tc>
                <a:tc>
                  <a:txBody>
                    <a:bodyPr/>
                    <a:lstStyle/>
                    <a:p>
                      <a:r>
                        <a:rPr sz="1400"/>
                        <a:t>{{n}} of {{N}}</a:t>
                      </a:r>
                    </a:p>
                  </a:txBody>
                  <a:tcPr/>
                </a:tc>
              </a:tr>
            </a:tbl>
          </a:graphicData>
        </a:graphic>
      </p:graphicFrame>
    </p:spTree>
    <p:extLst>
      <p:ext uri="{BB962C8B-B14F-4D97-AF65-F5344CB8AC3E}">
        <p14:creationId xmlns:p14="http://schemas.microsoft.com/office/powerpoint/2010/main" val="25590627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{{v}} vulnerable dependencies across {{m}} repositories, {{t}}% of them transitive; {{f}} fixed in one run.</a:t>
            </a:r>
            <a:endParaRPr sz="3200" dirty="0"/>
          </a:p>
        </p:txBody>
      </p:sp>
      <p:sp>
        <p:nvSpPr>
          <p:cNvPr id="8" name="Screenshot placeholder"/>
          <p:cNvSpPr/>
          <p:nvPr/>
        </p:nvSpPr>
        <p:spPr>
          <a:xfrm>
            <a:off x="1069848" y="2377440"/>
            <a:ext cx="10058400" cy="3749039"/>
          </a:xfrm>
          <a:prstGeom prst="roundRect">
            <a:avLst>
              <a:gd name="adj" fmla="val 3000"/>
            </a:avLst>
          </a:prstGeom>
          <a:solidFill>
            <a:srgbClr val="F2F4F8"/>
          </a:solidFill>
          <a:ln w="19050">
            <a:solidFill>
              <a:srgbClr val="9AA3B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a:solidFill>
                  <a:srgbClr val="5B6375"/>
                </a:solidFill>
              </a:rPr>
              <a:t>{{screenshot: the VulnerabilityReport data table, with CVE, artifact, fixed version, severity and depth}}</a:t>
            </a:r>
          </a:p>
        </p:txBody>
      </p:sp>
    </p:spTree>
    <p:extLst>
      <p:ext uri="{BB962C8B-B14F-4D97-AF65-F5344CB8AC3E}">
        <p14:creationId xmlns:p14="http://schemas.microsoft.com/office/powerpoint/2010/main" val="25590627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2800" dirty="0"/>
              <a:t>The proof of value cost {{dollars}} of agent usage and {{hours}} hours of a person's time; the recipes report {{saved}} hours of developer time saved.</a:t>
            </a:r>
            <a:endParaRPr sz="3200" dirty="0"/>
          </a:p>
        </p:txBody>
      </p:sp>
      <p:graphicFrame>
        <p:nvGraphicFramePr>
          <p:cNvPr id="8" name="Results table"/>
          <p:cNvGraphicFramePr>
            <a:graphicFrameLocks noGrp="1"/>
          </p:cNvGraphicFramePr>
          <p:nvPr/>
        </p:nvGraphicFramePr>
        <p:xfrm>
          <a:off x="1069848" y="2377440"/>
          <a:ext cx="10058400" cy="2743200"/>
        </p:xfrm>
        <a:graphic>
          <a:graphicData uri="http://schemas.openxmlformats.org/drawingml/2006/table">
            <a:tbl>
              <a:tblPr firstRow="1" bandRow="1">
                <a:tableStyleId>{5C22544A-7EE6-4342-B048-85BDC9FD1C3A}</a:tableStyleId>
              </a:tblPr>
              <a:tblGrid>
                <a:gridCol w="3291840"/>
                <a:gridCol w="2194560"/>
                <a:gridCol w="4572000"/>
              </a:tblGrid>
              <a:tr h="457200">
                <a:tc>
                  <a:txBody>
                    <a:bodyPr/>
                    <a:lstStyle/>
                    <a:p>
                      <a:r>
                        <a:rPr sz="1400" b="1"/>
                        <a:t>Measure</a:t>
                      </a:r>
                    </a:p>
                  </a:txBody>
                  <a:tcPr/>
                </a:tc>
                <a:tc>
                  <a:txBody>
                    <a:bodyPr/>
                    <a:lstStyle/>
                    <a:p>
                      <a:r>
                        <a:rPr sz="1400" b="1"/>
                        <a:t>Value</a:t>
                      </a:r>
                    </a:p>
                  </a:txBody>
                  <a:tcPr/>
                </a:tc>
                <a:tc>
                  <a:txBody>
                    <a:bodyPr/>
                    <a:lstStyle/>
                    <a:p>
                      <a:r>
                        <a:rPr sz="1400" b="1"/>
                        <a:t>Where it comes from</a:t>
                      </a:r>
                    </a:p>
                  </a:txBody>
                  <a:tcPr/>
                </a:tc>
              </a:tr>
              <a:tr h="457200">
                <a:tc>
                  <a:txBody>
                    <a:bodyPr/>
                    <a:lstStyle/>
                    <a:p>
                      <a:r>
                        <a:rPr sz="1400"/>
                        <a:t>Agent usage</a:t>
                      </a:r>
                    </a:p>
                  </a:txBody>
                  <a:tcPr/>
                </a:tc>
                <a:tc>
                  <a:txBody>
                    <a:bodyPr/>
                    <a:lstStyle/>
                    <a:p>
                      <a:r>
                        <a:rPr sz="1400"/>
                        <a:t>{{dollars}}</a:t>
                      </a:r>
                    </a:p>
                  </a:txBody>
                  <a:tcPr/>
                </a:tc>
                <a:tc>
                  <a:txBody>
                    <a:bodyPr/>
                    <a:lstStyle/>
                    <a:p>
                      <a:r>
                        <a:rPr sz="1400"/>
                        <a:t>The agent's own usage report for this session</a:t>
                      </a:r>
                    </a:p>
                  </a:txBody>
                  <a:tcPr/>
                </a:tc>
              </a:tr>
              <a:tr h="457200">
                <a:tc>
                  <a:txBody>
                    <a:bodyPr/>
                    <a:lstStyle/>
                    <a:p>
                      <a:r>
                        <a:rPr sz="1400"/>
                        <a:t>Wall-clock time</a:t>
                      </a:r>
                    </a:p>
                  </a:txBody>
                  <a:tcPr/>
                </a:tc>
                <a:tc>
                  <a:txBody>
                    <a:bodyPr/>
                    <a:lstStyle/>
                    <a:p>
                      <a:r>
                        <a:rPr sz="1400"/>
                        <a:t>{{hours:minutes}}</a:t>
                      </a:r>
                    </a:p>
                  </a:txBody>
                  <a:tcPr/>
                </a:tc>
                <a:tc>
                  <a:txBody>
                    <a:bodyPr/>
                    <a:lstStyle/>
                    <a:p>
                      <a:r>
                        <a:rPr sz="1400"/>
                        <a:t>Session start to the filled deck</a:t>
                      </a:r>
                    </a:p>
                  </a:txBody>
                  <a:tcPr/>
                </a:tc>
              </a:tr>
              <a:tr h="457200">
                <a:tc>
                  <a:txBody>
                    <a:bodyPr/>
                    <a:lstStyle/>
                    <a:p>
                      <a:r>
                        <a:rPr sz="1400"/>
                        <a:t>A person's time</a:t>
                      </a:r>
                    </a:p>
                  </a:txBody>
                  <a:tcPr/>
                </a:tc>
                <a:tc>
                  <a:txBody>
                    <a:bodyPr/>
                    <a:lstStyle/>
                    <a:p>
                      <a:r>
                        <a:rPr sz="1400"/>
                        <a:t>{{hours}}</a:t>
                      </a:r>
                    </a:p>
                  </a:txBody>
                  <a:tcPr/>
                </a:tc>
                <a:tc>
                  <a:txBody>
                    <a:bodyPr/>
                    <a:lstStyle/>
                    <a:p>
                      <a:r>
                        <a:rPr sz="1400"/>
                        <a:t>Time spent steering and reviewing</a:t>
                      </a:r>
                    </a:p>
                  </a:txBody>
                  <a:tcPr/>
                </a:tc>
              </a:tr>
              <a:tr h="457200">
                <a:tc>
                  <a:txBody>
                    <a:bodyPr/>
                    <a:lstStyle/>
                    <a:p>
                      <a:r>
                        <a:rPr sz="1400"/>
                        <a:t>Repositories changed</a:t>
                      </a:r>
                    </a:p>
                  </a:txBody>
                  <a:tcPr/>
                </a:tc>
                <a:tc>
                  <a:txBody>
                    <a:bodyPr/>
                    <a:lstStyle/>
                    <a:p>
                      <a:r>
                        <a:rPr sz="1400"/>
                        <a:t>{{n}} of {{N}}</a:t>
                      </a:r>
                    </a:p>
                  </a:txBody>
                  <a:tcPr/>
                </a:tc>
                <a:tc>
                  <a:txBody>
                    <a:bodyPr/>
                    <a:lstStyle/>
                    <a:p>
                      <a:r>
                        <a:rPr sz="1400"/>
                        <a:t>The run slide</a:t>
                      </a:r>
                    </a:p>
                  </a:txBody>
                  <a:tcPr/>
                </a:tc>
              </a:tr>
              <a:tr h="457200">
                <a:tc>
                  <a:txBody>
                    <a:bodyPr/>
                    <a:lstStyle/>
                    <a:p>
                      <a:r>
                        <a:rPr sz="1400"/>
                        <a:t>Developer time the recipes report saving</a:t>
                      </a:r>
                    </a:p>
                  </a:txBody>
                  <a:tcPr/>
                </a:tc>
                <a:tc>
                  <a:txBody>
                    <a:bodyPr/>
                    <a:lstStyle/>
                    <a:p>
                      <a:r>
                        <a:rPr sz="1400"/>
                        <a:t>{{saved}} hours</a:t>
                      </a:r>
                    </a:p>
                  </a:txBody>
                  <a:tcPr/>
                </a:tc>
                <a:tc>
                  <a:txBody>
                    <a:bodyPr/>
                    <a:lstStyle/>
                    <a:p>
                      <a:r>
                        <a:rPr sz="1400"/>
                        <a:t>The 'saved by using recipes' line of each mod run</a:t>
                      </a:r>
                    </a:p>
                  </a:txBody>
                  <a:tcPr/>
                </a:tc>
              </a:tr>
            </a:tbl>
          </a:graphicData>
        </a:graphic>
      </p:graphicFrame>
    </p:spTree>
    <p:extLst>
      <p:ext uri="{BB962C8B-B14F-4D97-AF65-F5344CB8AC3E}">
        <p14:creationId xmlns:p14="http://schemas.microsoft.com/office/powerpoint/2010/main" val="25590627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54F069-9651-77E1-D064-3F09FE163669}"/>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271FA9C-B7B0-04BA-CF74-5D92FB15288D}"/>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24</a:t>
            </a:fld>
            <a:endParaRPr lang="en-US"/>
          </a:p>
        </p:txBody>
      </p:sp>
      <p:sp>
        <p:nvSpPr>
          <p:cNvPr id="4" name="Google Shape;141;g3cab610c926_0_105">
            <a:extLst>
              <a:ext uri="{FF2B5EF4-FFF2-40B4-BE49-F238E27FC236}">
                <a16:creationId xmlns:a16="http://schemas.microsoft.com/office/drawing/2014/main" id="{9A6A1392-0BC1-E7E8-31C6-7A195138FF52}"/>
              </a:ext>
            </a:extLst>
          </p:cNvPr>
          <p:cNvSpPr txBox="1">
            <a:spLocks noGrp="1"/>
          </p:cNvSpPr>
          <p:nvPr>
            <p:ph type="body" idx="1"/>
          </p:nvPr>
        </p:nvSpPr>
        <p:spPr>
          <a:xfrm>
            <a:off x="899157" y="2175947"/>
            <a:ext cx="10393685" cy="2506105"/>
          </a:xfrm>
          <a:prstGeom prst="rect">
            <a:avLst/>
          </a:prstGeom>
          <a:noFill/>
          <a:ln>
            <a:noFill/>
          </a:ln>
        </p:spPr>
        <p:txBody>
          <a:bodyPr spcFirstLastPara="1" wrap="square" lIns="0" tIns="0" rIns="0" bIns="0" anchor="ctr" anchorCtr="0">
            <a:noAutofit/>
          </a:bodyPr>
          <a:lstStyle/>
          <a:p>
            <a:pPr lvl="0"/>
            <a:r>
              <a:rPr lang="en-US" sz="3200" dirty="0">
                <a:latin typeface="Poppins" pitchFamily="2" charset="77"/>
                <a:cs typeface="Poppins" pitchFamily="2" charset="77"/>
              </a:rPr>
              <a:t>Left running, the same session is a factory for “{{objective}}” whose byproduct is recipes that make every later run safer.</a:t>
            </a:r>
          </a:p>
        </p:txBody>
      </p:sp>
    </p:spTree>
    <p:extLst>
      <p:ext uri="{BB962C8B-B14F-4D97-AF65-F5344CB8AC3E}">
        <p14:creationId xmlns:p14="http://schemas.microsoft.com/office/powerpoint/2010/main" val="19838436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What {{Customer}} keeps running after the proof of value.</a:t>
            </a:r>
            <a:endParaRPr sz="3200" dirty="0"/>
          </a:p>
        </p:txBody>
      </p:sp>
      <p:sp>
        <p:nvSpPr>
          <p:cNvPr id="8" name="Factories"/>
          <p:cNvSpPr txBox="1"/>
          <p:nvPr/>
        </p:nvSpPr>
        <p:spPr>
          <a:xfrm>
            <a:off x="1069848" y="2377440"/>
            <a:ext cx="10058400" cy="3749039"/>
          </a:xfrm>
          <a:prstGeom prst="rect">
            <a:avLst/>
          </a:prstGeom>
          <a:noFill/>
        </p:spPr>
        <p:txBody>
          <a:bodyPr wrap="square">
            <a:spAutoFit/>
          </a:bodyPr>
          <a:lstStyle/>
          <a:p>
            <a:pPr>
              <a:spcAft>
                <a:spcPts val="1800"/>
              </a:spcAft>
            </a:pPr>
            <a:r>
              <a:rPr sz="2200"/>
              <a:t>•  Keep every repository on the latest Spring Boot — {{owner}}, on {{machine}}</a:t>
            </a:r>
          </a:p>
          <a:p>
            <a:pPr>
              <a:spcAft>
                <a:spcPts val="1800"/>
              </a:spcAft>
            </a:pPr>
            <a:r>
              <a:rPr sz="2200"/>
              <a:t>•  Watch for new vulnerabilities and fix them everywhere — {{owner}}, on {{machine}}</a:t>
            </a:r>
          </a:p>
          <a:p>
            <a:pPr>
              <a:spcAft>
                <a:spcPts val="1800"/>
              </a:spcAft>
            </a:pPr>
            <a:r>
              <a:rPr sz="2200"/>
              <a:t>•  {{A third objective in the customer's words}} — {{owner}}, on {{machine}}</a:t>
            </a:r>
          </a:p>
        </p:txBody>
      </p:sp>
    </p:spTree>
    <p:extLst>
      <p:ext uri="{BB962C8B-B14F-4D97-AF65-F5344CB8AC3E}">
        <p14:creationId xmlns:p14="http://schemas.microsoft.com/office/powerpoint/2010/main" val="25590627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52"/>
        <p:cNvGrpSpPr/>
        <p:nvPr/>
      </p:nvGrpSpPr>
      <p:grpSpPr>
        <a:xfrm>
          <a:off x="0" y="0"/>
          <a:ext cx="0" cy="0"/>
          <a:chOff x="0" y="0"/>
          <a:chExt cx="0" cy="0"/>
        </a:xfrm>
      </p:grpSpPr>
      <p:sp>
        <p:nvSpPr>
          <p:cNvPr id="453" name="Google Shape;453;p3"/>
          <p:cNvSpPr txBox="1">
            <a:spLocks noGrp="1"/>
          </p:cNvSpPr>
          <p:nvPr>
            <p:ph type="sldNum" idx="12"/>
          </p:nvPr>
        </p:nvSpPr>
        <p:spPr>
          <a:xfrm>
            <a:off x="11073652" y="6459668"/>
            <a:ext cx="7305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900"/>
              <a:buNone/>
            </a:pPr>
            <a:fld id="{00000000-1234-1234-1234-123412341234}" type="slidenum">
              <a:rPr lang="en-US"/>
              <a:t>32</a:t>
            </a:fld>
            <a:endParaRPr/>
          </a:p>
        </p:txBody>
      </p:sp>
      <p:sp>
        <p:nvSpPr>
          <p:cNvPr id="454" name="Google Shape;454;p3"/>
          <p:cNvSpPr txBox="1">
            <a:spLocks noGrp="1"/>
          </p:cNvSpPr>
          <p:nvPr>
            <p:ph type="body" idx="1"/>
          </p:nvPr>
        </p:nvSpPr>
        <p:spPr>
          <a:xfrm>
            <a:off x="3088353" y="2964424"/>
            <a:ext cx="5943000" cy="1916100"/>
          </a:xfrm>
          <a:prstGeom prst="rect">
            <a:avLst/>
          </a:prstGeom>
          <a:noFill/>
          <a:ln>
            <a:noFill/>
          </a:ln>
        </p:spPr>
        <p:txBody>
          <a:bodyPr spcFirstLastPara="1" wrap="square" lIns="91425" tIns="45700" rIns="91425" bIns="45700" anchor="t" anchorCtr="0">
            <a:normAutofit/>
          </a:bodyPr>
          <a:lstStyle/>
          <a:p>
            <a:pPr marL="0" lvl="0" indent="0" algn="ctr" rtl="0">
              <a:lnSpc>
                <a:spcPct val="100000"/>
              </a:lnSpc>
              <a:spcBef>
                <a:spcPts val="1000"/>
              </a:spcBef>
              <a:spcAft>
                <a:spcPts val="0"/>
              </a:spcAft>
              <a:buClr>
                <a:schemeClr val="lt1"/>
              </a:buClr>
              <a:buSzPts val="1400"/>
              <a:buNone/>
            </a:pPr>
            <a:r>
              <a:rPr lang="en-US"/>
              <a:t>THANK YOU!</a:t>
            </a:r>
            <a:endParaRPr/>
          </a:p>
        </p:txBody>
      </p:sp>
    </p:spTree>
  </p:cSld>
  <p:clrMapOvr>
    <a:masterClrMapping/>
  </p:clrMapOvr>
</p:sld>
</file>

<file path=ppt/theme/theme1.xml><?xml version="1.0" encoding="utf-8"?>
<a:theme xmlns:a="http://schemas.openxmlformats.org/drawingml/2006/main" name="1_Office Theme">
  <a:themeElements>
    <a:clrScheme name="Moderne Brand 2025">
      <a:dk1>
        <a:srgbClr val="041834"/>
      </a:dk1>
      <a:lt1>
        <a:srgbClr val="FFFFFF"/>
      </a:lt1>
      <a:dk2>
        <a:srgbClr val="041834"/>
      </a:dk2>
      <a:lt2>
        <a:srgbClr val="FFFFFF"/>
      </a:lt2>
      <a:accent1>
        <a:srgbClr val="041834"/>
      </a:accent1>
      <a:accent2>
        <a:srgbClr val="85FE99"/>
      </a:accent2>
      <a:accent3>
        <a:srgbClr val="283AF7"/>
      </a:accent3>
      <a:accent4>
        <a:srgbClr val="F8F8FF"/>
      </a:accent4>
      <a:accent5>
        <a:srgbClr val="E7B136"/>
      </a:accent5>
      <a:accent6>
        <a:srgbClr val="D3D3E3"/>
      </a:accent6>
      <a:hlink>
        <a:srgbClr val="2E42FF"/>
      </a:hlink>
      <a:folHlink>
        <a:srgbClr val="D3D3E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8356</TotalTime>
  <Words>980</Words>
  <Application>Microsoft Macintosh PowerPoint</Application>
  <PresentationFormat>Widescreen</PresentationFormat>
  <Paragraphs>124</Paragraphs>
  <Slides>32</Slides>
  <Notes>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32</vt:i4>
      </vt:variant>
    </vt:vector>
  </HeadingPairs>
  <TitlesOfParts>
    <vt:vector size="39" baseType="lpstr">
      <vt:lpstr>Poppins SemiBold</vt:lpstr>
      <vt:lpstr>Poppins</vt:lpstr>
      <vt:lpstr>Calibri</vt:lpstr>
      <vt:lpstr>Arial</vt:lpstr>
      <vt:lpstr>GeistMono NF</vt:lpstr>
      <vt:lpstr>Poppins Light</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Jeff Hunt</dc:creator>
  <cp:lastModifiedBy>jonathan@moderne.io</cp:lastModifiedBy>
  <cp:revision>85</cp:revision>
  <dcterms:created xsi:type="dcterms:W3CDTF">2023-05-24T18:52:14Z</dcterms:created>
  <dcterms:modified xsi:type="dcterms:W3CDTF">2026-10-06T10:29:42Z</dcterms:modified>
</cp:coreProperties>
</file>